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6" d="100"/>
          <a:sy n="96" d="100"/>
        </p:scale>
        <p:origin x="4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Revenue ($Mn)</c:v>
                </c:pt>
              </c:strCache>
            </c:strRef>
          </c:tx>
          <c:spPr>
            <a:solidFill>
              <a:srgbClr val="1A237E"/>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FY19</c:v>
                </c:pt>
                <c:pt idx="1">
                  <c:v>FY20</c:v>
                </c:pt>
                <c:pt idx="2">
                  <c:v>FY21</c:v>
                </c:pt>
                <c:pt idx="3">
                  <c:v>FY22</c:v>
                </c:pt>
                <c:pt idx="4">
                  <c:v>FY23</c:v>
                </c:pt>
                <c:pt idx="5">
                  <c:v>FY24</c:v>
                </c:pt>
                <c:pt idx="6">
                  <c:v>FY25</c:v>
                </c:pt>
              </c:strCache>
            </c:strRef>
          </c:cat>
          <c:val>
            <c:numRef>
              <c:f>Sheet1!$B$2:$B$8</c:f>
              <c:numCache>
                <c:formatCode>General</c:formatCode>
                <c:ptCount val="7"/>
                <c:pt idx="0">
                  <c:v>2863.5259999999998</c:v>
                </c:pt>
                <c:pt idx="1">
                  <c:v>2009.4849999999999</c:v>
                </c:pt>
                <c:pt idx="2">
                  <c:v>1807.836</c:v>
                </c:pt>
                <c:pt idx="3">
                  <c:v>2465.0210000000002</c:v>
                </c:pt>
                <c:pt idx="4">
                  <c:v>2658.4009999999998</c:v>
                </c:pt>
                <c:pt idx="5">
                  <c:v>2367.8649999999998</c:v>
                </c:pt>
                <c:pt idx="6">
                  <c:v>2366.5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5B3-4EAC-AE3C-155FAA5E5141}"/>
            </c:ext>
          </c:extLst>
        </c:ser>
        <c:ser>
          <c:idx val="1"/>
          <c:order val="1"/>
          <c:tx>
            <c:strRef>
              <c:f>Sheet1!$C$1</c:f>
              <c:strCache>
                <c:ptCount val="1"/>
                <c:pt idx="0">
                  <c:v>EBITDA ($Mn)</c:v>
                </c:pt>
              </c:strCache>
            </c:strRef>
          </c:tx>
          <c:spPr>
            <a:solidFill>
              <a:srgbClr val="00D4FF"/>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FY19</c:v>
                </c:pt>
                <c:pt idx="1">
                  <c:v>FY20</c:v>
                </c:pt>
                <c:pt idx="2">
                  <c:v>FY21</c:v>
                </c:pt>
                <c:pt idx="3">
                  <c:v>FY22</c:v>
                </c:pt>
                <c:pt idx="4">
                  <c:v>FY23</c:v>
                </c:pt>
                <c:pt idx="5">
                  <c:v>FY24</c:v>
                </c:pt>
                <c:pt idx="6">
                  <c:v>FY25</c:v>
                </c:pt>
              </c:strCache>
            </c:strRef>
          </c:cat>
          <c:val>
            <c:numRef>
              <c:f>Sheet1!$C$2:$C$8</c:f>
              <c:numCache>
                <c:formatCode>General</c:formatCode>
                <c:ptCount val="7"/>
                <c:pt idx="0">
                  <c:v>257.88600000000002</c:v>
                </c:pt>
                <c:pt idx="1">
                  <c:v>83.933000000000007</c:v>
                </c:pt>
                <c:pt idx="2">
                  <c:v>120.712</c:v>
                </c:pt>
                <c:pt idx="3">
                  <c:v>186.74299999999999</c:v>
                </c:pt>
                <c:pt idx="4">
                  <c:v>106.70699999999999</c:v>
                </c:pt>
                <c:pt idx="5">
                  <c:v>138.56800000000001</c:v>
                </c:pt>
                <c:pt idx="6">
                  <c:v>240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5B3-4EAC-AE3C-155FAA5E5141}"/>
            </c:ext>
          </c:extLst>
        </c:ser>
        <c:ser>
          <c:idx val="2"/>
          <c:order val="2"/>
          <c:tx>
            <c:strRef>
              <c:f>Sheet1!$D$1</c:f>
              <c:strCache>
                <c:ptCount val="1"/>
                <c:pt idx="0">
                  <c:v>PAT ($Mn)</c:v>
                </c:pt>
              </c:strCache>
            </c:strRef>
          </c:tx>
          <c:spPr>
            <a:solidFill>
              <a:srgbClr val="FF4B91"/>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FY19</c:v>
                </c:pt>
                <c:pt idx="1">
                  <c:v>FY20</c:v>
                </c:pt>
                <c:pt idx="2">
                  <c:v>FY21</c:v>
                </c:pt>
                <c:pt idx="3">
                  <c:v>FY22</c:v>
                </c:pt>
                <c:pt idx="4">
                  <c:v>FY23</c:v>
                </c:pt>
                <c:pt idx="5">
                  <c:v>FY24</c:v>
                </c:pt>
                <c:pt idx="6">
                  <c:v>FY25</c:v>
                </c:pt>
              </c:strCache>
            </c:strRef>
          </c:cat>
          <c:val>
            <c:numRef>
              <c:f>Sheet1!$D$2:$D$8</c:f>
              <c:numCache>
                <c:formatCode>General</c:formatCode>
                <c:ptCount val="7"/>
                <c:pt idx="0">
                  <c:v>69.638999999999996</c:v>
                </c:pt>
                <c:pt idx="1">
                  <c:v>-69.251999999999995</c:v>
                </c:pt>
                <c:pt idx="2">
                  <c:v>-17.603000000000002</c:v>
                </c:pt>
                <c:pt idx="3">
                  <c:v>31.326000000000001</c:v>
                </c:pt>
                <c:pt idx="4">
                  <c:v>16.37</c:v>
                </c:pt>
                <c:pt idx="5">
                  <c:v>45.500999999999998</c:v>
                </c:pt>
                <c:pt idx="6">
                  <c:v>70.099999999999994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5B3-4EAC-AE3C-155FAA5E5141}"/>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800" b="0"/>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A556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EBITDA Margin %</c:v>
                </c:pt>
              </c:strCache>
            </c:strRef>
          </c:tx>
          <c:spPr>
            <a:ln w="31750">
              <a:solidFill>
                <a:srgbClr val="FF4B91"/>
              </a:solidFill>
            </a:ln>
          </c:spPr>
          <c:marker>
            <c:symbol val="none"/>
          </c:marker>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FY14</c:v>
                </c:pt>
                <c:pt idx="1">
                  <c:v>FY15</c:v>
                </c:pt>
                <c:pt idx="2">
                  <c:v>FY16</c:v>
                </c:pt>
                <c:pt idx="3">
                  <c:v>FY17</c:v>
                </c:pt>
                <c:pt idx="4">
                  <c:v>FY18</c:v>
                </c:pt>
                <c:pt idx="5">
                  <c:v>FY19</c:v>
                </c:pt>
                <c:pt idx="6">
                  <c:v>FY20</c:v>
                </c:pt>
                <c:pt idx="7">
                  <c:v>FY21</c:v>
                </c:pt>
                <c:pt idx="8">
                  <c:v>FY22</c:v>
                </c:pt>
                <c:pt idx="9">
                  <c:v>FY23</c:v>
                </c:pt>
                <c:pt idx="10">
                  <c:v>FY24</c:v>
                </c:pt>
                <c:pt idx="11">
                  <c:v>FY25</c:v>
                </c:pt>
              </c:strCache>
            </c:strRef>
          </c:cat>
          <c:val>
            <c:numRef>
              <c:f>Sheet1!$B$2:$B$13</c:f>
              <c:numCache>
                <c:formatCode>General</c:formatCode>
                <c:ptCount val="12"/>
                <c:pt idx="0">
                  <c:v>11.5</c:v>
                </c:pt>
                <c:pt idx="1">
                  <c:v>5.9</c:v>
                </c:pt>
                <c:pt idx="2">
                  <c:v>6.8</c:v>
                </c:pt>
                <c:pt idx="3">
                  <c:v>5.9</c:v>
                </c:pt>
                <c:pt idx="4">
                  <c:v>8.1</c:v>
                </c:pt>
                <c:pt idx="5">
                  <c:v>9</c:v>
                </c:pt>
                <c:pt idx="6">
                  <c:v>4.2</c:v>
                </c:pt>
                <c:pt idx="7">
                  <c:v>6.7</c:v>
                </c:pt>
                <c:pt idx="8">
                  <c:v>7.6</c:v>
                </c:pt>
                <c:pt idx="9">
                  <c:v>4</c:v>
                </c:pt>
                <c:pt idx="10">
                  <c:v>5.9</c:v>
                </c:pt>
                <c:pt idx="11">
                  <c:v>10.1</c:v>
                </c:pt>
              </c:numCache>
            </c:numRef>
          </c:val>
          <c:smooth val="1"/>
          <c:extLst>
            <c:ext xmlns:c16="http://schemas.microsoft.com/office/drawing/2014/chart" uri="{C3380CC4-5D6E-409C-BE32-E72D297353CC}">
              <c16:uniqueId val="{00000000-CF1F-4BD1-89E5-3CA7B162D2B7}"/>
            </c:ext>
          </c:extLst>
        </c:ser>
        <c:dLbls>
          <c:showLegendKey val="0"/>
          <c:showVal val="1"/>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txPr>
          <a:bodyPr/>
          <a:lstStyle/>
          <a:p>
            <a:pPr>
              <a:defRPr sz="800" b="0"/>
            </a:pPr>
            <a:endParaRPr lang="en-US"/>
          </a:p>
        </c:txPr>
        <c:crossAx val="2140495176"/>
        <c:crosses val="autoZero"/>
        <c:auto val="1"/>
        <c:lblAlgn val="ctr"/>
        <c:lblOffset val="100"/>
        <c:noMultiLvlLbl val="0"/>
      </c:catAx>
      <c:valAx>
        <c:axId val="2140495176"/>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118791784"/>
        <c:crosses val="autoZero"/>
        <c:crossBetween val="between"/>
      </c:valAx>
    </c:plotArea>
    <c:legend>
      <c:legendPos val="b"/>
      <c:overlay val="0"/>
      <c:txPr>
        <a:bodyPr/>
        <a:lstStyle/>
        <a:p>
          <a:pPr>
            <a:defRPr sz="900"/>
          </a:pPr>
          <a:endParaRPr lang="en-US"/>
        </a:p>
      </c:txPr>
    </c:legend>
    <c:plotVisOnly val="1"/>
    <c:dispBlanksAs val="gap"/>
    <c:showDLblsOverMax val="0"/>
  </c:chart>
  <c:txPr>
    <a:bodyPr/>
    <a:lstStyle/>
    <a:p>
      <a:pPr>
        <a:defRPr sz="900">
          <a:solidFill>
            <a:srgbClr val="4A5568"/>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2D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77240" cy="5148072"/>
          </a:xfrm>
          <a:prstGeom prst="rect">
            <a:avLst/>
          </a:prstGeom>
          <a:solidFill>
            <a:srgbClr val="00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0"/>
            <a:ext cx="4114800" cy="2926080"/>
          </a:xfrm>
          <a:prstGeom prst="rect">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sosceles Triangle 4"/>
          <p:cNvSpPr/>
          <p:nvPr/>
        </p:nvSpPr>
        <p:spPr>
          <a:xfrm rot="2700000">
            <a:off x="1097280" y="2560320"/>
            <a:ext cx="3200400" cy="2743200"/>
          </a:xfrm>
          <a:prstGeom prst="triangle">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elp_logo.png"/>
          <p:cNvPicPr>
            <a:picLocks noChangeAspect="1"/>
          </p:cNvPicPr>
          <p:nvPr/>
        </p:nvPicPr>
        <p:blipFill>
          <a:blip r:embed="rId2"/>
          <a:stretch>
            <a:fillRect/>
          </a:stretch>
        </p:blipFill>
        <p:spPr>
          <a:xfrm>
            <a:off x="1371600" y="320040"/>
            <a:ext cx="2171508" cy="822960"/>
          </a:xfrm>
          <a:prstGeom prst="rect">
            <a:avLst/>
          </a:prstGeom>
        </p:spPr>
      </p:pic>
      <p:sp>
        <p:nvSpPr>
          <p:cNvPr id="7" name="TextBox 6"/>
          <p:cNvSpPr txBox="1"/>
          <p:nvPr/>
        </p:nvSpPr>
        <p:spPr>
          <a:xfrm>
            <a:off x="1371600" y="1463040"/>
            <a:ext cx="6858000" cy="1371600"/>
          </a:xfrm>
          <a:prstGeom prst="rect">
            <a:avLst/>
          </a:prstGeom>
          <a:noFill/>
        </p:spPr>
        <p:txBody>
          <a:bodyPr wrap="none">
            <a:spAutoFit/>
          </a:bodyPr>
          <a:lstStyle/>
          <a:p>
            <a:pPr>
              <a:lnSpc>
                <a:spcPct val="100000"/>
              </a:lnSpc>
              <a:defRPr sz="7200" b="1">
                <a:solidFill>
                  <a:srgbClr val="FFFFFF"/>
                </a:solidFill>
                <a:latin typeface="Arial"/>
              </a:defRPr>
            </a:pPr>
            <a:r>
              <a:t>Project Vulcan</a:t>
            </a:r>
          </a:p>
        </p:txBody>
      </p:sp>
      <p:sp>
        <p:nvSpPr>
          <p:cNvPr id="8" name="TextBox 7"/>
          <p:cNvSpPr txBox="1"/>
          <p:nvPr/>
        </p:nvSpPr>
        <p:spPr>
          <a:xfrm>
            <a:off x="1371600" y="3474720"/>
            <a:ext cx="4572000" cy="548640"/>
          </a:xfrm>
          <a:prstGeom prst="rect">
            <a:avLst/>
          </a:prstGeom>
          <a:noFill/>
        </p:spPr>
        <p:txBody>
          <a:bodyPr wrap="none">
            <a:spAutoFit/>
          </a:bodyPr>
          <a:lstStyle/>
          <a:p>
            <a:pPr>
              <a:defRPr sz="2400" b="1">
                <a:solidFill>
                  <a:srgbClr val="FFFFFF"/>
                </a:solidFill>
                <a:latin typeface="Arial"/>
              </a:defRPr>
            </a:pPr>
            <a:r>
              <a:t>Investment Brief</a:t>
            </a:r>
          </a:p>
        </p:txBody>
      </p:sp>
      <p:sp>
        <p:nvSpPr>
          <p:cNvPr id="9" name="TextBox 8"/>
          <p:cNvSpPr txBox="1"/>
          <p:nvPr/>
        </p:nvSpPr>
        <p:spPr>
          <a:xfrm>
            <a:off x="1371600" y="4023360"/>
            <a:ext cx="3657600" cy="365760"/>
          </a:xfrm>
          <a:prstGeom prst="rect">
            <a:avLst/>
          </a:prstGeom>
          <a:noFill/>
        </p:spPr>
        <p:txBody>
          <a:bodyPr wrap="none">
            <a:spAutoFit/>
          </a:bodyPr>
          <a:lstStyle/>
          <a:p>
            <a:pPr>
              <a:defRPr sz="1400" i="1">
                <a:solidFill>
                  <a:srgbClr val="C8C8C8"/>
                </a:solidFill>
                <a:latin typeface="Arial"/>
              </a:defRPr>
            </a:pPr>
            <a:r>
              <a:t>kelpglobal.com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BUSINESS OVERVIEW</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ectangle 6"/>
          <p:cNvSpPr/>
          <p:nvPr/>
        </p:nvSpPr>
        <p:spPr>
          <a:xfrm>
            <a:off x="274320" y="777240"/>
            <a:ext cx="429768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804672"/>
            <a:ext cx="4114800" cy="201168"/>
          </a:xfrm>
          <a:prstGeom prst="rect">
            <a:avLst/>
          </a:prstGeom>
          <a:noFill/>
        </p:spPr>
        <p:txBody>
          <a:bodyPr wrap="none">
            <a:spAutoFit/>
          </a:bodyPr>
          <a:lstStyle/>
          <a:p>
            <a:pPr>
              <a:defRPr sz="1100" b="1">
                <a:solidFill>
                  <a:srgbClr val="FFFFFF"/>
                </a:solidFill>
                <a:latin typeface="Arial"/>
              </a:defRPr>
            </a:pPr>
            <a:r>
              <a:t>Business Overview:</a:t>
            </a:r>
          </a:p>
        </p:txBody>
      </p:sp>
      <p:sp>
        <p:nvSpPr>
          <p:cNvPr id="9" name="TextBox 8"/>
          <p:cNvSpPr txBox="1"/>
          <p:nvPr/>
        </p:nvSpPr>
        <p:spPr>
          <a:xfrm>
            <a:off x="365760" y="1078992"/>
            <a:ext cx="4023360" cy="365760"/>
          </a:xfrm>
          <a:prstGeom prst="rect">
            <a:avLst/>
          </a:prstGeom>
          <a:noFill/>
        </p:spPr>
        <p:txBody>
          <a:bodyPr wrap="square">
            <a:spAutoFit/>
          </a:bodyPr>
          <a:lstStyle/>
          <a:p>
            <a:pPr>
              <a:lnSpc>
                <a:spcPct val="100000"/>
              </a:lnSpc>
              <a:defRPr sz="850">
                <a:solidFill>
                  <a:srgbClr val="4A5568"/>
                </a:solidFill>
                <a:latin typeface="Arial"/>
              </a:defRPr>
            </a:pPr>
            <a:r>
              <a:t>■ 5 state-of-the-art manufacturing facilities equipped for hot, warm, and cold forging processes</a:t>
            </a:r>
          </a:p>
        </p:txBody>
      </p:sp>
      <p:sp>
        <p:nvSpPr>
          <p:cNvPr id="10" name="TextBox 9"/>
          <p:cNvSpPr txBox="1"/>
          <p:nvPr/>
        </p:nvSpPr>
        <p:spPr>
          <a:xfrm>
            <a:off x="365760" y="1399031"/>
            <a:ext cx="4023360" cy="365760"/>
          </a:xfrm>
          <a:prstGeom prst="rect">
            <a:avLst/>
          </a:prstGeom>
          <a:noFill/>
        </p:spPr>
        <p:txBody>
          <a:bodyPr wrap="square">
            <a:spAutoFit/>
          </a:bodyPr>
          <a:lstStyle/>
          <a:p>
            <a:pPr>
              <a:lnSpc>
                <a:spcPct val="100000"/>
              </a:lnSpc>
              <a:defRPr sz="850">
                <a:solidFill>
                  <a:srgbClr val="4A5568"/>
                </a:solidFill>
                <a:latin typeface="Arial"/>
              </a:defRPr>
            </a:pPr>
            <a:r>
              <a:t>■ 484 skilled professionals with deep domain expertise in metal fabrication and engineering</a:t>
            </a:r>
          </a:p>
        </p:txBody>
      </p:sp>
      <p:sp>
        <p:nvSpPr>
          <p:cNvPr id="11" name="TextBox 10"/>
          <p:cNvSpPr txBox="1"/>
          <p:nvPr/>
        </p:nvSpPr>
        <p:spPr>
          <a:xfrm>
            <a:off x="365760" y="1719072"/>
            <a:ext cx="4023360" cy="365760"/>
          </a:xfrm>
          <a:prstGeom prst="rect">
            <a:avLst/>
          </a:prstGeom>
          <a:noFill/>
        </p:spPr>
        <p:txBody>
          <a:bodyPr wrap="square">
            <a:spAutoFit/>
          </a:bodyPr>
          <a:lstStyle/>
          <a:p>
            <a:pPr>
              <a:lnSpc>
                <a:spcPct val="100000"/>
              </a:lnSpc>
              <a:defRPr sz="850">
                <a:solidFill>
                  <a:srgbClr val="4A5568"/>
                </a:solidFill>
                <a:latin typeface="Arial"/>
              </a:defRPr>
            </a:pPr>
            <a:r>
              <a:t>■ Global delivery model with a dedicated subsidiary in Germany and presence in the US market</a:t>
            </a:r>
          </a:p>
        </p:txBody>
      </p:sp>
      <p:sp>
        <p:nvSpPr>
          <p:cNvPr id="12" name="TextBox 11"/>
          <p:cNvSpPr txBox="1"/>
          <p:nvPr/>
        </p:nvSpPr>
        <p:spPr>
          <a:xfrm>
            <a:off x="365760" y="2039112"/>
            <a:ext cx="4023360" cy="365760"/>
          </a:xfrm>
          <a:prstGeom prst="rect">
            <a:avLst/>
          </a:prstGeom>
          <a:noFill/>
        </p:spPr>
        <p:txBody>
          <a:bodyPr wrap="square">
            <a:spAutoFit/>
          </a:bodyPr>
          <a:lstStyle/>
          <a:p>
            <a:pPr>
              <a:lnSpc>
                <a:spcPct val="100000"/>
              </a:lnSpc>
              <a:defRPr sz="850">
                <a:solidFill>
                  <a:srgbClr val="4A5568"/>
                </a:solidFill>
                <a:latin typeface="Arial"/>
              </a:defRPr>
            </a:pPr>
            <a:r>
              <a:t>■ IATF 16949 certified quality systems with advanced testing and inspection infrastructure</a:t>
            </a:r>
          </a:p>
        </p:txBody>
      </p:sp>
      <p:sp>
        <p:nvSpPr>
          <p:cNvPr id="13" name="Rectangle 12"/>
          <p:cNvSpPr/>
          <p:nvPr/>
        </p:nvSpPr>
        <p:spPr>
          <a:xfrm>
            <a:off x="274320" y="2496312"/>
            <a:ext cx="4297680" cy="384048"/>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523744"/>
            <a:ext cx="4114800" cy="329184"/>
          </a:xfrm>
          <a:prstGeom prst="rect">
            <a:avLst/>
          </a:prstGeom>
          <a:noFill/>
        </p:spPr>
        <p:txBody>
          <a:bodyPr wrap="square">
            <a:spAutoFit/>
          </a:bodyPr>
          <a:lstStyle/>
          <a:p>
            <a:pPr>
              <a:lnSpc>
                <a:spcPct val="110000"/>
              </a:lnSpc>
              <a:defRPr sz="800" b="1">
                <a:solidFill>
                  <a:srgbClr val="FFFFFF"/>
                </a:solidFill>
                <a:latin typeface="Arial"/>
              </a:defRPr>
            </a:pPr>
            <a:r>
              <a:t>Growth led through its growing product portfolio and offering solutions to diverse sectors</a:t>
            </a:r>
          </a:p>
        </p:txBody>
      </p:sp>
      <p:sp>
        <p:nvSpPr>
          <p:cNvPr id="15" name="Rounded Rectangle 14"/>
          <p:cNvSpPr/>
          <p:nvPr/>
        </p:nvSpPr>
        <p:spPr>
          <a:xfrm>
            <a:off x="342902" y="2971801"/>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6054" y="3017520"/>
            <a:ext cx="1828800" cy="164592"/>
          </a:xfrm>
          <a:prstGeom prst="rect">
            <a:avLst/>
          </a:prstGeom>
          <a:noFill/>
        </p:spPr>
        <p:txBody>
          <a:bodyPr wrap="none">
            <a:spAutoFit/>
          </a:bodyPr>
          <a:lstStyle/>
          <a:p>
            <a:pPr algn="ctr">
              <a:defRPr sz="800">
                <a:solidFill>
                  <a:srgbClr val="333333"/>
                </a:solidFill>
                <a:latin typeface="Arial"/>
              </a:defRPr>
            </a:pPr>
            <a:r>
              <a:t>Engine Components</a:t>
            </a:r>
          </a:p>
        </p:txBody>
      </p:sp>
      <p:sp>
        <p:nvSpPr>
          <p:cNvPr id="17" name="Rounded Rectangle 16"/>
          <p:cNvSpPr/>
          <p:nvPr/>
        </p:nvSpPr>
        <p:spPr>
          <a:xfrm>
            <a:off x="2446021" y="2971801"/>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174" y="3017520"/>
            <a:ext cx="1828800" cy="164592"/>
          </a:xfrm>
          <a:prstGeom prst="rect">
            <a:avLst/>
          </a:prstGeom>
          <a:noFill/>
        </p:spPr>
        <p:txBody>
          <a:bodyPr wrap="none">
            <a:spAutoFit/>
          </a:bodyPr>
          <a:lstStyle/>
          <a:p>
            <a:pPr algn="ctr">
              <a:defRPr sz="800">
                <a:solidFill>
                  <a:srgbClr val="333333"/>
                </a:solidFill>
                <a:latin typeface="Arial"/>
              </a:defRPr>
            </a:pPr>
            <a:r>
              <a:t>Driveline Systems</a:t>
            </a:r>
          </a:p>
        </p:txBody>
      </p:sp>
      <p:sp>
        <p:nvSpPr>
          <p:cNvPr id="19" name="Rounded Rectangle 18"/>
          <p:cNvSpPr/>
          <p:nvPr/>
        </p:nvSpPr>
        <p:spPr>
          <a:xfrm>
            <a:off x="342902" y="3264408"/>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6054" y="3310128"/>
            <a:ext cx="1828800" cy="164592"/>
          </a:xfrm>
          <a:prstGeom prst="rect">
            <a:avLst/>
          </a:prstGeom>
          <a:noFill/>
        </p:spPr>
        <p:txBody>
          <a:bodyPr wrap="none">
            <a:spAutoFit/>
          </a:bodyPr>
          <a:lstStyle/>
          <a:p>
            <a:pPr algn="ctr">
              <a:defRPr sz="800">
                <a:solidFill>
                  <a:srgbClr val="333333"/>
                </a:solidFill>
                <a:latin typeface="Arial"/>
              </a:defRPr>
            </a:pPr>
            <a:r>
              <a:t>Industrial Forgings</a:t>
            </a:r>
          </a:p>
        </p:txBody>
      </p:sp>
      <p:sp>
        <p:nvSpPr>
          <p:cNvPr id="21" name="Rounded Rectangle 20"/>
          <p:cNvSpPr/>
          <p:nvPr/>
        </p:nvSpPr>
        <p:spPr>
          <a:xfrm>
            <a:off x="2446021" y="3264408"/>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174" y="3310128"/>
            <a:ext cx="1828800" cy="164592"/>
          </a:xfrm>
          <a:prstGeom prst="rect">
            <a:avLst/>
          </a:prstGeom>
          <a:noFill/>
        </p:spPr>
        <p:txBody>
          <a:bodyPr wrap="none">
            <a:spAutoFit/>
          </a:bodyPr>
          <a:lstStyle/>
          <a:p>
            <a:pPr algn="ctr">
              <a:defRPr sz="800">
                <a:solidFill>
                  <a:srgbClr val="333333"/>
                </a:solidFill>
                <a:latin typeface="Arial"/>
              </a:defRPr>
            </a:pPr>
            <a:r>
              <a:t>Precision Machining Services</a:t>
            </a:r>
          </a:p>
        </p:txBody>
      </p:sp>
      <p:sp>
        <p:nvSpPr>
          <p:cNvPr id="23" name="Rectangle 22"/>
          <p:cNvSpPr/>
          <p:nvPr/>
        </p:nvSpPr>
        <p:spPr>
          <a:xfrm>
            <a:off x="4754880" y="777240"/>
            <a:ext cx="164592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46320" y="804672"/>
            <a:ext cx="1463040" cy="201168"/>
          </a:xfrm>
          <a:prstGeom prst="rect">
            <a:avLst/>
          </a:prstGeom>
          <a:noFill/>
        </p:spPr>
        <p:txBody>
          <a:bodyPr wrap="none">
            <a:spAutoFit/>
          </a:bodyPr>
          <a:lstStyle/>
          <a:p>
            <a:pPr>
              <a:defRPr sz="1000" b="1">
                <a:solidFill>
                  <a:srgbClr val="FFFFFF"/>
                </a:solidFill>
                <a:latin typeface="Arial"/>
              </a:defRPr>
            </a:pPr>
            <a:r>
              <a:t>Key Select Customers</a:t>
            </a:r>
          </a:p>
        </p:txBody>
      </p:sp>
      <p:sp>
        <p:nvSpPr>
          <p:cNvPr id="25" name="Rounded Rectangle 24"/>
          <p:cNvSpPr/>
          <p:nvPr/>
        </p:nvSpPr>
        <p:spPr>
          <a:xfrm>
            <a:off x="4846320" y="10972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64608" y="11247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Daimler</a:t>
            </a:r>
          </a:p>
        </p:txBody>
      </p:sp>
      <p:sp>
        <p:nvSpPr>
          <p:cNvPr id="27" name="Rounded Rectangle 26"/>
          <p:cNvSpPr/>
          <p:nvPr/>
        </p:nvSpPr>
        <p:spPr>
          <a:xfrm>
            <a:off x="4846320" y="15544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64608" y="15819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JCB</a:t>
            </a:r>
          </a:p>
        </p:txBody>
      </p:sp>
      <p:sp>
        <p:nvSpPr>
          <p:cNvPr id="29" name="Rounded Rectangle 28"/>
          <p:cNvSpPr/>
          <p:nvPr/>
        </p:nvSpPr>
        <p:spPr>
          <a:xfrm>
            <a:off x="4846320" y="20116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64608" y="20391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Tata Motors</a:t>
            </a:r>
          </a:p>
        </p:txBody>
      </p:sp>
      <p:sp>
        <p:nvSpPr>
          <p:cNvPr id="31" name="Rounded Rectangle 30"/>
          <p:cNvSpPr/>
          <p:nvPr/>
        </p:nvSpPr>
        <p:spPr>
          <a:xfrm>
            <a:off x="4846320" y="24688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64608" y="24963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Honda</a:t>
            </a:r>
          </a:p>
        </p:txBody>
      </p:sp>
      <p:sp>
        <p:nvSpPr>
          <p:cNvPr id="33" name="Rectangle 32"/>
          <p:cNvSpPr/>
          <p:nvPr/>
        </p:nvSpPr>
        <p:spPr>
          <a:xfrm>
            <a:off x="6492240" y="777240"/>
            <a:ext cx="237744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0" y="804672"/>
            <a:ext cx="2194560" cy="201168"/>
          </a:xfrm>
          <a:prstGeom prst="rect">
            <a:avLst/>
          </a:prstGeom>
          <a:noFill/>
        </p:spPr>
        <p:txBody>
          <a:bodyPr wrap="none">
            <a:spAutoFit/>
          </a:bodyPr>
          <a:lstStyle/>
          <a:p>
            <a:pPr>
              <a:defRPr sz="1000" b="1">
                <a:solidFill>
                  <a:srgbClr val="FFFFFF"/>
                </a:solidFill>
                <a:latin typeface="Arial"/>
              </a:defRPr>
            </a:pPr>
            <a:r>
              <a:t>The at a Glance</a:t>
            </a:r>
          </a:p>
        </p:txBody>
      </p:sp>
      <p:sp>
        <p:nvSpPr>
          <p:cNvPr id="35" name="Oval 34"/>
          <p:cNvSpPr/>
          <p:nvPr/>
        </p:nvSpPr>
        <p:spPr>
          <a:xfrm>
            <a:off x="6629400" y="1097280"/>
            <a:ext cx="411480" cy="41148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0" y="1097280"/>
            <a:ext cx="1645920" cy="201168"/>
          </a:xfrm>
          <a:prstGeom prst="rect">
            <a:avLst/>
          </a:prstGeom>
          <a:noFill/>
        </p:spPr>
        <p:txBody>
          <a:bodyPr wrap="none">
            <a:spAutoFit/>
          </a:bodyPr>
          <a:lstStyle/>
          <a:p>
            <a:pPr>
              <a:defRPr sz="1500" b="1">
                <a:solidFill>
                  <a:srgbClr val="0076A8"/>
                </a:solidFill>
                <a:latin typeface="Arial"/>
              </a:defRPr>
            </a:pPr>
            <a:r>
              <a:t>484</a:t>
            </a:r>
          </a:p>
        </p:txBody>
      </p:sp>
      <p:sp>
        <p:nvSpPr>
          <p:cNvPr id="37" name="TextBox 36"/>
          <p:cNvSpPr txBox="1"/>
          <p:nvPr/>
        </p:nvSpPr>
        <p:spPr>
          <a:xfrm>
            <a:off x="7132320" y="1325880"/>
            <a:ext cx="1645920" cy="164592"/>
          </a:xfrm>
          <a:prstGeom prst="rect">
            <a:avLst/>
          </a:prstGeom>
          <a:noFill/>
        </p:spPr>
        <p:txBody>
          <a:bodyPr wrap="none">
            <a:spAutoFit/>
          </a:bodyPr>
          <a:lstStyle/>
          <a:p>
            <a:pPr>
              <a:defRPr sz="750">
                <a:solidFill>
                  <a:srgbClr val="646464"/>
                </a:solidFill>
                <a:latin typeface="Arial"/>
              </a:defRPr>
            </a:pPr>
            <a:r>
              <a:t>Employees</a:t>
            </a:r>
          </a:p>
        </p:txBody>
      </p:sp>
      <p:sp>
        <p:nvSpPr>
          <p:cNvPr id="38" name="Oval 37"/>
          <p:cNvSpPr/>
          <p:nvPr/>
        </p:nvSpPr>
        <p:spPr>
          <a:xfrm>
            <a:off x="6629400" y="1600200"/>
            <a:ext cx="411480" cy="41148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0" y="1600200"/>
            <a:ext cx="1645920" cy="201168"/>
          </a:xfrm>
          <a:prstGeom prst="rect">
            <a:avLst/>
          </a:prstGeom>
          <a:noFill/>
        </p:spPr>
        <p:txBody>
          <a:bodyPr wrap="none">
            <a:spAutoFit/>
          </a:bodyPr>
          <a:lstStyle/>
          <a:p>
            <a:pPr>
              <a:defRPr sz="1500" b="1">
                <a:solidFill>
                  <a:srgbClr val="FF6600"/>
                </a:solidFill>
                <a:latin typeface="Arial"/>
              </a:defRPr>
            </a:pPr>
            <a:r>
              <a:t>5</a:t>
            </a:r>
          </a:p>
        </p:txBody>
      </p:sp>
      <p:sp>
        <p:nvSpPr>
          <p:cNvPr id="40" name="TextBox 39"/>
          <p:cNvSpPr txBox="1"/>
          <p:nvPr/>
        </p:nvSpPr>
        <p:spPr>
          <a:xfrm>
            <a:off x="7132320" y="1828800"/>
            <a:ext cx="1645920" cy="164592"/>
          </a:xfrm>
          <a:prstGeom prst="rect">
            <a:avLst/>
          </a:prstGeom>
          <a:noFill/>
        </p:spPr>
        <p:txBody>
          <a:bodyPr wrap="none">
            <a:spAutoFit/>
          </a:bodyPr>
          <a:lstStyle/>
          <a:p>
            <a:pPr>
              <a:defRPr sz="750">
                <a:solidFill>
                  <a:srgbClr val="646464"/>
                </a:solidFill>
                <a:latin typeface="Arial"/>
              </a:defRPr>
            </a:pPr>
            <a:r>
              <a:t>Manufacturing Units</a:t>
            </a:r>
          </a:p>
        </p:txBody>
      </p:sp>
      <p:sp>
        <p:nvSpPr>
          <p:cNvPr id="41" name="Oval 40"/>
          <p:cNvSpPr/>
          <p:nvPr/>
        </p:nvSpPr>
        <p:spPr>
          <a:xfrm>
            <a:off x="6629400" y="2103120"/>
            <a:ext cx="411480" cy="41148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0" y="2103120"/>
            <a:ext cx="1645920" cy="201168"/>
          </a:xfrm>
          <a:prstGeom prst="rect">
            <a:avLst/>
          </a:prstGeom>
          <a:noFill/>
        </p:spPr>
        <p:txBody>
          <a:bodyPr wrap="none">
            <a:spAutoFit/>
          </a:bodyPr>
          <a:lstStyle/>
          <a:p>
            <a:pPr>
              <a:defRPr sz="1500" b="1">
                <a:solidFill>
                  <a:srgbClr val="6A1B9A"/>
                </a:solidFill>
                <a:latin typeface="Arial"/>
              </a:defRPr>
            </a:pPr>
            <a:r>
              <a:t>47</a:t>
            </a:r>
          </a:p>
        </p:txBody>
      </p:sp>
      <p:sp>
        <p:nvSpPr>
          <p:cNvPr id="43" name="TextBox 42"/>
          <p:cNvSpPr txBox="1"/>
          <p:nvPr/>
        </p:nvSpPr>
        <p:spPr>
          <a:xfrm>
            <a:off x="7132320" y="2331720"/>
            <a:ext cx="1645920" cy="164592"/>
          </a:xfrm>
          <a:prstGeom prst="rect">
            <a:avLst/>
          </a:prstGeom>
          <a:noFill/>
        </p:spPr>
        <p:txBody>
          <a:bodyPr wrap="none">
            <a:spAutoFit/>
          </a:bodyPr>
          <a:lstStyle/>
          <a:p>
            <a:pPr>
              <a:defRPr sz="750">
                <a:solidFill>
                  <a:srgbClr val="646464"/>
                </a:solidFill>
                <a:latin typeface="Arial"/>
              </a:defRPr>
            </a:pPr>
            <a:r>
              <a:t>Years in Operation</a:t>
            </a:r>
          </a:p>
        </p:txBody>
      </p:sp>
      <p:sp>
        <p:nvSpPr>
          <p:cNvPr id="44" name="Rectangle 43"/>
          <p:cNvSpPr/>
          <p:nvPr/>
        </p:nvSpPr>
        <p:spPr>
          <a:xfrm>
            <a:off x="6492240" y="2743199"/>
            <a:ext cx="237744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83680" y="2770631"/>
            <a:ext cx="2194560" cy="201168"/>
          </a:xfrm>
          <a:prstGeom prst="rect">
            <a:avLst/>
          </a:prstGeom>
          <a:noFill/>
        </p:spPr>
        <p:txBody>
          <a:bodyPr wrap="none">
            <a:spAutoFit/>
          </a:bodyPr>
          <a:lstStyle/>
          <a:p>
            <a:pPr>
              <a:defRPr sz="1000" b="1">
                <a:solidFill>
                  <a:srgbClr val="FFFFFF"/>
                </a:solidFill>
                <a:latin typeface="Arial"/>
              </a:defRPr>
            </a:pPr>
            <a:r>
              <a:t>Certifications</a:t>
            </a:r>
          </a:p>
        </p:txBody>
      </p:sp>
      <p:sp>
        <p:nvSpPr>
          <p:cNvPr id="46" name="Rounded Rectangle 45"/>
          <p:cNvSpPr/>
          <p:nvPr/>
        </p:nvSpPr>
        <p:spPr>
          <a:xfrm>
            <a:off x="6583680" y="310895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29400" y="3182111"/>
            <a:ext cx="594360" cy="164592"/>
          </a:xfrm>
          <a:prstGeom prst="rect">
            <a:avLst/>
          </a:prstGeom>
          <a:noFill/>
        </p:spPr>
        <p:txBody>
          <a:bodyPr wrap="none">
            <a:spAutoFit/>
          </a:bodyPr>
          <a:lstStyle/>
          <a:p>
            <a:pPr algn="ctr">
              <a:defRPr sz="700" b="1">
                <a:solidFill>
                  <a:srgbClr val="1A237E"/>
                </a:solidFill>
                <a:latin typeface="Arial"/>
              </a:defRPr>
            </a:pPr>
            <a:r>
              <a:t>ISO</a:t>
            </a:r>
          </a:p>
        </p:txBody>
      </p:sp>
      <p:sp>
        <p:nvSpPr>
          <p:cNvPr id="48" name="Rounded Rectangle 47"/>
          <p:cNvSpPr/>
          <p:nvPr/>
        </p:nvSpPr>
        <p:spPr>
          <a:xfrm>
            <a:off x="7360920" y="310895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06640" y="3182111"/>
            <a:ext cx="594360" cy="164592"/>
          </a:xfrm>
          <a:prstGeom prst="rect">
            <a:avLst/>
          </a:prstGeom>
          <a:noFill/>
        </p:spPr>
        <p:txBody>
          <a:bodyPr wrap="none">
            <a:spAutoFit/>
          </a:bodyPr>
          <a:lstStyle/>
          <a:p>
            <a:pPr algn="ctr">
              <a:defRPr sz="700" b="1">
                <a:solidFill>
                  <a:srgbClr val="1A237E"/>
                </a:solidFill>
                <a:latin typeface="Arial"/>
              </a:defRPr>
            </a:pPr>
            <a:r>
              <a:t>CMMI</a:t>
            </a:r>
          </a:p>
        </p:txBody>
      </p:sp>
      <p:pic>
        <p:nvPicPr>
          <p:cNvPr id="50" name="Picture 49" descr="crop_11250_clean_unsplash_2.jpg"/>
          <p:cNvPicPr>
            <a:picLocks noChangeAspect="1"/>
          </p:cNvPicPr>
          <p:nvPr/>
        </p:nvPicPr>
        <p:blipFill>
          <a:blip r:embed="rId3"/>
          <a:stretch>
            <a:fillRect/>
          </a:stretch>
        </p:blipFill>
        <p:spPr>
          <a:xfrm>
            <a:off x="342902" y="4389120"/>
            <a:ext cx="4114800" cy="365760"/>
          </a:xfrm>
          <a:prstGeom prst="rect">
            <a:avLst/>
          </a:prstGeom>
        </p:spPr>
      </p:pic>
      <p:pic>
        <p:nvPicPr>
          <p:cNvPr id="1028" name="Picture 4" descr="Top 5 ISO Certifications">
            <a:extLst>
              <a:ext uri="{FF2B5EF4-FFF2-40B4-BE49-F238E27FC236}">
                <a16:creationId xmlns:a16="http://schemas.microsoft.com/office/drawing/2014/main" id="{EA7C6AFE-CB0F-79B5-7B26-5810B6C27E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2320" y="3611879"/>
            <a:ext cx="1185863" cy="966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KEY FINANCIAL METRICS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ounded Rectangle 6"/>
          <p:cNvSpPr/>
          <p:nvPr/>
        </p:nvSpPr>
        <p:spPr>
          <a:xfrm>
            <a:off x="585215" y="1051560"/>
            <a:ext cx="2011680" cy="594360"/>
          </a:xfrm>
          <a:prstGeom prst="round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 y="1097280"/>
            <a:ext cx="1920240" cy="320040"/>
          </a:xfrm>
          <a:prstGeom prst="rect">
            <a:avLst/>
          </a:prstGeom>
          <a:noFill/>
        </p:spPr>
        <p:txBody>
          <a:bodyPr wrap="square" anchor="ctr">
            <a:spAutoFit/>
          </a:bodyPr>
          <a:lstStyle/>
          <a:p>
            <a:pPr algn="ctr">
              <a:defRPr sz="1600" b="1">
                <a:solidFill>
                  <a:srgbClr val="FFFFFF"/>
                </a:solidFill>
              </a:defRPr>
            </a:pPr>
            <a:r>
              <a:t>₹ 2366.5 Cr</a:t>
            </a:r>
          </a:p>
        </p:txBody>
      </p:sp>
      <p:sp>
        <p:nvSpPr>
          <p:cNvPr id="9" name="TextBox 8"/>
          <p:cNvSpPr txBox="1"/>
          <p:nvPr/>
        </p:nvSpPr>
        <p:spPr>
          <a:xfrm>
            <a:off x="676655" y="1417320"/>
            <a:ext cx="1828800" cy="182880"/>
          </a:xfrm>
          <a:prstGeom prst="rect">
            <a:avLst/>
          </a:prstGeom>
          <a:noFill/>
        </p:spPr>
        <p:txBody>
          <a:bodyPr wrap="none">
            <a:spAutoFit/>
          </a:bodyPr>
          <a:lstStyle/>
          <a:p>
            <a:pPr algn="ctr">
              <a:defRPr sz="800" b="0">
                <a:solidFill>
                  <a:srgbClr val="FFFFFF"/>
                </a:solidFill>
              </a:defRPr>
            </a:pPr>
            <a:r>
              <a:t>Latest Revenue</a:t>
            </a:r>
          </a:p>
        </p:txBody>
      </p:sp>
      <p:sp>
        <p:nvSpPr>
          <p:cNvPr id="10" name="Rounded Rectangle 9"/>
          <p:cNvSpPr/>
          <p:nvPr/>
        </p:nvSpPr>
        <p:spPr>
          <a:xfrm>
            <a:off x="2724911" y="1051560"/>
            <a:ext cx="2011680" cy="59436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1" y="1097280"/>
            <a:ext cx="1920240" cy="320040"/>
          </a:xfrm>
          <a:prstGeom prst="rect">
            <a:avLst/>
          </a:prstGeom>
          <a:noFill/>
        </p:spPr>
        <p:txBody>
          <a:bodyPr wrap="square" anchor="ctr">
            <a:spAutoFit/>
          </a:bodyPr>
          <a:lstStyle/>
          <a:p>
            <a:pPr algn="ctr">
              <a:defRPr sz="1600" b="1">
                <a:solidFill>
                  <a:srgbClr val="FFFFFF"/>
                </a:solidFill>
              </a:defRPr>
            </a:pPr>
            <a:r>
              <a:t>1.3%</a:t>
            </a:r>
          </a:p>
        </p:txBody>
      </p:sp>
      <p:sp>
        <p:nvSpPr>
          <p:cNvPr id="12" name="TextBox 11"/>
          <p:cNvSpPr txBox="1"/>
          <p:nvPr/>
        </p:nvSpPr>
        <p:spPr>
          <a:xfrm>
            <a:off x="2816351" y="1417320"/>
            <a:ext cx="1828800" cy="182880"/>
          </a:xfrm>
          <a:prstGeom prst="rect">
            <a:avLst/>
          </a:prstGeom>
          <a:noFill/>
        </p:spPr>
        <p:txBody>
          <a:bodyPr wrap="none">
            <a:spAutoFit/>
          </a:bodyPr>
          <a:lstStyle/>
          <a:p>
            <a:pPr algn="ctr">
              <a:defRPr sz="800" b="0">
                <a:solidFill>
                  <a:srgbClr val="FFFFFF"/>
                </a:solidFill>
              </a:defRPr>
            </a:pPr>
            <a:r>
              <a:t>Revenue CAGR</a:t>
            </a:r>
          </a:p>
        </p:txBody>
      </p:sp>
      <p:sp>
        <p:nvSpPr>
          <p:cNvPr id="13" name="Rounded Rectangle 12"/>
          <p:cNvSpPr/>
          <p:nvPr/>
        </p:nvSpPr>
        <p:spPr>
          <a:xfrm>
            <a:off x="4864607" y="1051560"/>
            <a:ext cx="2011680" cy="594360"/>
          </a:xfrm>
          <a:prstGeom prst="roundRect">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7" y="1097280"/>
            <a:ext cx="1920240" cy="320040"/>
          </a:xfrm>
          <a:prstGeom prst="rect">
            <a:avLst/>
          </a:prstGeom>
          <a:noFill/>
        </p:spPr>
        <p:txBody>
          <a:bodyPr wrap="square" anchor="ctr">
            <a:spAutoFit/>
          </a:bodyPr>
          <a:lstStyle/>
          <a:p>
            <a:pPr algn="ctr">
              <a:defRPr sz="1600" b="1">
                <a:solidFill>
                  <a:srgbClr val="FFFFFF"/>
                </a:solidFill>
              </a:defRPr>
            </a:pPr>
            <a:r>
              <a:t>10.1%</a:t>
            </a:r>
          </a:p>
        </p:txBody>
      </p:sp>
      <p:sp>
        <p:nvSpPr>
          <p:cNvPr id="15" name="TextBox 14"/>
          <p:cNvSpPr txBox="1"/>
          <p:nvPr/>
        </p:nvSpPr>
        <p:spPr>
          <a:xfrm>
            <a:off x="4956047" y="1417320"/>
            <a:ext cx="1828800" cy="182880"/>
          </a:xfrm>
          <a:prstGeom prst="rect">
            <a:avLst/>
          </a:prstGeom>
          <a:noFill/>
        </p:spPr>
        <p:txBody>
          <a:bodyPr wrap="none">
            <a:spAutoFit/>
          </a:bodyPr>
          <a:lstStyle/>
          <a:p>
            <a:pPr algn="ctr">
              <a:defRPr sz="800" b="0">
                <a:solidFill>
                  <a:srgbClr val="FFFFFF"/>
                </a:solidFill>
              </a:defRPr>
            </a:pPr>
            <a:r>
              <a:t>EBITDA Margin</a:t>
            </a:r>
          </a:p>
        </p:txBody>
      </p:sp>
      <p:sp>
        <p:nvSpPr>
          <p:cNvPr id="16" name="Rounded Rectangle 15"/>
          <p:cNvSpPr/>
          <p:nvPr/>
        </p:nvSpPr>
        <p:spPr>
          <a:xfrm>
            <a:off x="7004303" y="1051560"/>
            <a:ext cx="201168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0023" y="1097280"/>
            <a:ext cx="1920240" cy="320040"/>
          </a:xfrm>
          <a:prstGeom prst="rect">
            <a:avLst/>
          </a:prstGeom>
          <a:noFill/>
        </p:spPr>
        <p:txBody>
          <a:bodyPr wrap="square" anchor="ctr">
            <a:spAutoFit/>
          </a:bodyPr>
          <a:lstStyle/>
          <a:p>
            <a:pPr algn="ctr">
              <a:defRPr sz="1600" b="1">
                <a:solidFill>
                  <a:srgbClr val="FFFFFF"/>
                </a:solidFill>
              </a:defRPr>
            </a:pPr>
            <a:r>
              <a:t>₹ 70.1 Cr</a:t>
            </a:r>
          </a:p>
        </p:txBody>
      </p:sp>
      <p:sp>
        <p:nvSpPr>
          <p:cNvPr id="18" name="TextBox 17"/>
          <p:cNvSpPr txBox="1"/>
          <p:nvPr/>
        </p:nvSpPr>
        <p:spPr>
          <a:xfrm>
            <a:off x="7095743" y="1417320"/>
            <a:ext cx="1828800" cy="182880"/>
          </a:xfrm>
          <a:prstGeom prst="rect">
            <a:avLst/>
          </a:prstGeom>
          <a:noFill/>
        </p:spPr>
        <p:txBody>
          <a:bodyPr wrap="none">
            <a:spAutoFit/>
          </a:bodyPr>
          <a:lstStyle/>
          <a:p>
            <a:pPr algn="ctr">
              <a:defRPr sz="800" b="0">
                <a:solidFill>
                  <a:srgbClr val="FFFFFF"/>
                </a:solidFill>
              </a:defRPr>
            </a:pPr>
            <a:r>
              <a:t>Latest PAT</a:t>
            </a:r>
          </a:p>
        </p:txBody>
      </p:sp>
      <p:graphicFrame>
        <p:nvGraphicFramePr>
          <p:cNvPr id="19" name="Chart 18"/>
          <p:cNvGraphicFramePr>
            <a:graphicFrameLocks noGrp="1"/>
          </p:cNvGraphicFramePr>
          <p:nvPr/>
        </p:nvGraphicFramePr>
        <p:xfrm>
          <a:off x="457200" y="2103120"/>
          <a:ext cx="457200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noGrp="1"/>
          </p:cNvGraphicFramePr>
          <p:nvPr/>
        </p:nvGraphicFramePr>
        <p:xfrm>
          <a:off x="5212080" y="2103120"/>
          <a:ext cx="365760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INVESTMENT HIGHLIGHTS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pic>
        <p:nvPicPr>
          <p:cNvPr id="7" name="Picture 6" descr="crop_972_clean_unsplash_3.jpg"/>
          <p:cNvPicPr>
            <a:picLocks noChangeAspect="1"/>
          </p:cNvPicPr>
          <p:nvPr/>
        </p:nvPicPr>
        <p:blipFill>
          <a:blip r:embed="rId3"/>
          <a:stretch>
            <a:fillRect/>
          </a:stretch>
        </p:blipFill>
        <p:spPr>
          <a:xfrm>
            <a:off x="457200" y="1097280"/>
            <a:ext cx="3200400" cy="3291840"/>
          </a:xfrm>
          <a:prstGeom prst="rect">
            <a:avLst/>
          </a:prstGeom>
        </p:spPr>
      </p:pic>
      <p:sp>
        <p:nvSpPr>
          <p:cNvPr id="8" name="Rounded Rectangle 7"/>
          <p:cNvSpPr/>
          <p:nvPr/>
        </p:nvSpPr>
        <p:spPr>
          <a:xfrm>
            <a:off x="3840480" y="1143000"/>
            <a:ext cx="5029200" cy="621792"/>
          </a:xfrm>
          <a:prstGeom prst="roundRect">
            <a:avLst/>
          </a:prstGeom>
          <a:solidFill>
            <a:srgbClr val="F8F9FC"/>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977639" y="1280160"/>
            <a:ext cx="411480" cy="411480"/>
          </a:xfrm>
          <a:prstGeom prst="ellipse">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59936" y="1344168"/>
            <a:ext cx="256032" cy="256032"/>
          </a:xfrm>
          <a:prstGeom prst="rect">
            <a:avLst/>
          </a:prstGeom>
          <a:noFill/>
        </p:spPr>
        <p:txBody>
          <a:bodyPr wrap="none">
            <a:spAutoFit/>
          </a:bodyPr>
          <a:lstStyle/>
          <a:p>
            <a:pPr algn="ctr">
              <a:defRPr sz="1100" b="1">
                <a:solidFill>
                  <a:srgbClr val="FFFFFF"/>
                </a:solidFill>
                <a:latin typeface="Arial"/>
              </a:defRPr>
            </a:pPr>
            <a:r>
              <a:t>C</a:t>
            </a:r>
          </a:p>
        </p:txBody>
      </p:sp>
      <p:sp>
        <p:nvSpPr>
          <p:cNvPr id="11" name="TextBox 10"/>
          <p:cNvSpPr txBox="1"/>
          <p:nvPr/>
        </p:nvSpPr>
        <p:spPr>
          <a:xfrm>
            <a:off x="4526280" y="1179576"/>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Capitalizing on India's Manufacturing Super-Cycle</a:t>
            </a:r>
          </a:p>
          <a:p>
            <a:pPr>
              <a:lnSpc>
                <a:spcPct val="105000"/>
              </a:lnSpc>
              <a:spcBef>
                <a:spcPts val="300"/>
              </a:spcBef>
              <a:defRPr sz="720">
                <a:solidFill>
                  <a:srgbClr val="4A5568"/>
                </a:solidFill>
                <a:latin typeface="Arial"/>
              </a:defRPr>
            </a:pPr>
            <a:r>
              <a:t>Strategically positioned to benefit from the India Manufacturing Market's projected growth to $2.24 trillion by 2035 (8.64% CAGR), driven by 'Make in India' initiatives and the global 'China Plus One' supply chain diversification strategy.</a:t>
            </a:r>
          </a:p>
        </p:txBody>
      </p:sp>
      <p:sp>
        <p:nvSpPr>
          <p:cNvPr id="12" name="Rounded Rectangle 11"/>
          <p:cNvSpPr/>
          <p:nvPr/>
        </p:nvSpPr>
        <p:spPr>
          <a:xfrm>
            <a:off x="3840480" y="1801368"/>
            <a:ext cx="5029200" cy="621792"/>
          </a:xfrm>
          <a:prstGeom prst="roundRect">
            <a:avLst/>
          </a:prstGeom>
          <a:solidFill>
            <a:srgbClr val="FFFFFF"/>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977639" y="1938528"/>
            <a:ext cx="411480" cy="411480"/>
          </a:xfrm>
          <a:prstGeom prst="ellipse">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59936" y="2002536"/>
            <a:ext cx="256032" cy="256032"/>
          </a:xfrm>
          <a:prstGeom prst="rect">
            <a:avLst/>
          </a:prstGeom>
          <a:noFill/>
        </p:spPr>
        <p:txBody>
          <a:bodyPr wrap="none">
            <a:spAutoFit/>
          </a:bodyPr>
          <a:lstStyle/>
          <a:p>
            <a:pPr algn="ctr">
              <a:defRPr sz="1100" b="1">
                <a:solidFill>
                  <a:srgbClr val="FFFFFF"/>
                </a:solidFill>
                <a:latin typeface="Arial"/>
              </a:defRPr>
            </a:pPr>
            <a:r>
              <a:t>H</a:t>
            </a:r>
          </a:p>
        </p:txBody>
      </p:sp>
      <p:sp>
        <p:nvSpPr>
          <p:cNvPr id="15" name="TextBox 14"/>
          <p:cNvSpPr txBox="1"/>
          <p:nvPr/>
        </p:nvSpPr>
        <p:spPr>
          <a:xfrm>
            <a:off x="4526280" y="1837943"/>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High-Moat Technical Expertise &amp; Compliance</a:t>
            </a:r>
          </a:p>
          <a:p>
            <a:pPr>
              <a:lnSpc>
                <a:spcPct val="105000"/>
              </a:lnSpc>
              <a:spcBef>
                <a:spcPts val="300"/>
              </a:spcBef>
              <a:defRPr sz="720">
                <a:solidFill>
                  <a:srgbClr val="4A5568"/>
                </a:solidFill>
                <a:latin typeface="Arial"/>
              </a:defRPr>
            </a:pPr>
            <a:r>
              <a:t>Leveraging 47 years of precision engineering heritage with IATF 16949 certification and 'Green Vendor' status from Tier-1 OEMs, creating significant barriers to entry in the mission-critical engine and driveline component segments.</a:t>
            </a:r>
          </a:p>
        </p:txBody>
      </p:sp>
      <p:sp>
        <p:nvSpPr>
          <p:cNvPr id="16" name="Rounded Rectangle 15"/>
          <p:cNvSpPr/>
          <p:nvPr/>
        </p:nvSpPr>
        <p:spPr>
          <a:xfrm>
            <a:off x="3840480" y="2459736"/>
            <a:ext cx="5029200" cy="621792"/>
          </a:xfrm>
          <a:prstGeom prst="roundRect">
            <a:avLst/>
          </a:prstGeom>
          <a:solidFill>
            <a:srgbClr val="F8F9FC"/>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977639" y="2596896"/>
            <a:ext cx="411480" cy="4114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59936" y="2660904"/>
            <a:ext cx="256032" cy="256032"/>
          </a:xfrm>
          <a:prstGeom prst="rect">
            <a:avLst/>
          </a:prstGeom>
          <a:noFill/>
        </p:spPr>
        <p:txBody>
          <a:bodyPr wrap="none">
            <a:spAutoFit/>
          </a:bodyPr>
          <a:lstStyle/>
          <a:p>
            <a:pPr algn="ctr">
              <a:defRPr sz="1100" b="1">
                <a:solidFill>
                  <a:srgbClr val="FFFFFF"/>
                </a:solidFill>
                <a:latin typeface="Arial"/>
              </a:defRPr>
            </a:pPr>
            <a:r>
              <a:t>B</a:t>
            </a:r>
          </a:p>
        </p:txBody>
      </p:sp>
      <p:sp>
        <p:nvSpPr>
          <p:cNvPr id="19" name="TextBox 18"/>
          <p:cNvSpPr txBox="1"/>
          <p:nvPr/>
        </p:nvSpPr>
        <p:spPr>
          <a:xfrm>
            <a:off x="4526280" y="2496312"/>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Blue-Chip OEM Integration &amp; Stickiness</a:t>
            </a:r>
          </a:p>
          <a:p>
            <a:pPr>
              <a:lnSpc>
                <a:spcPct val="105000"/>
              </a:lnSpc>
              <a:spcBef>
                <a:spcPts val="300"/>
              </a:spcBef>
              <a:defRPr sz="720">
                <a:solidFill>
                  <a:srgbClr val="4A5568"/>
                </a:solidFill>
                <a:latin typeface="Arial"/>
              </a:defRPr>
            </a:pPr>
            <a:r>
              <a:t>Deeply embedded relationships with global industry leaders including Daimler, Caterpillar, Cummins, and JCB; these partnerships are characterized by high switching costs, multi-year product lifecycles, and joint R&amp;D for sub-system assemblies.</a:t>
            </a:r>
          </a:p>
        </p:txBody>
      </p:sp>
      <p:sp>
        <p:nvSpPr>
          <p:cNvPr id="20" name="Rounded Rectangle 19"/>
          <p:cNvSpPr/>
          <p:nvPr/>
        </p:nvSpPr>
        <p:spPr>
          <a:xfrm>
            <a:off x="3840480" y="3118104"/>
            <a:ext cx="5029200" cy="621792"/>
          </a:xfrm>
          <a:prstGeom prst="roundRect">
            <a:avLst/>
          </a:prstGeom>
          <a:solidFill>
            <a:srgbClr val="FFFFFF"/>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977639" y="3255264"/>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59936" y="3319272"/>
            <a:ext cx="256032" cy="256032"/>
          </a:xfrm>
          <a:prstGeom prst="rect">
            <a:avLst/>
          </a:prstGeom>
          <a:noFill/>
        </p:spPr>
        <p:txBody>
          <a:bodyPr wrap="none">
            <a:spAutoFit/>
          </a:bodyPr>
          <a:lstStyle/>
          <a:p>
            <a:pPr algn="ctr">
              <a:defRPr sz="1100" b="1">
                <a:solidFill>
                  <a:srgbClr val="FFFFFF"/>
                </a:solidFill>
                <a:latin typeface="Arial"/>
              </a:defRPr>
            </a:pPr>
            <a:r>
              <a:t>E</a:t>
            </a:r>
          </a:p>
        </p:txBody>
      </p:sp>
      <p:sp>
        <p:nvSpPr>
          <p:cNvPr id="23" name="TextBox 22"/>
          <p:cNvSpPr txBox="1"/>
          <p:nvPr/>
        </p:nvSpPr>
        <p:spPr>
          <a:xfrm>
            <a:off x="4526280" y="3154680"/>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Established Global Footprint &amp; Export Upside</a:t>
            </a:r>
          </a:p>
          <a:p>
            <a:pPr>
              <a:lnSpc>
                <a:spcPct val="105000"/>
              </a:lnSpc>
              <a:spcBef>
                <a:spcPts val="300"/>
              </a:spcBef>
              <a:defRPr sz="720">
                <a:solidFill>
                  <a:srgbClr val="4A5568"/>
                </a:solidFill>
                <a:latin typeface="Arial"/>
              </a:defRPr>
            </a:pPr>
            <a:r>
              <a:t>Operational presence in Germany and the United States provides a platform to capture the $468B global automotive aftermarket, while facilitating technology transfers and localized support for international Tier-1 customers.</a:t>
            </a:r>
          </a:p>
        </p:txBody>
      </p:sp>
      <p:sp>
        <p:nvSpPr>
          <p:cNvPr id="24" name="Rounded Rectangle 23"/>
          <p:cNvSpPr/>
          <p:nvPr/>
        </p:nvSpPr>
        <p:spPr>
          <a:xfrm>
            <a:off x="3840480" y="3776472"/>
            <a:ext cx="5029200" cy="621792"/>
          </a:xfrm>
          <a:prstGeom prst="roundRect">
            <a:avLst/>
          </a:prstGeom>
          <a:solidFill>
            <a:srgbClr val="F8F9FC"/>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977639" y="3913632"/>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59936" y="3977639"/>
            <a:ext cx="256032" cy="256032"/>
          </a:xfrm>
          <a:prstGeom prst="rect">
            <a:avLst/>
          </a:prstGeom>
          <a:noFill/>
        </p:spPr>
        <p:txBody>
          <a:bodyPr wrap="none">
            <a:spAutoFit/>
          </a:bodyPr>
          <a:lstStyle/>
          <a:p>
            <a:pPr algn="ctr">
              <a:defRPr sz="1100" b="1">
                <a:solidFill>
                  <a:srgbClr val="FFFFFF"/>
                </a:solidFill>
                <a:latin typeface="Arial"/>
              </a:defRPr>
            </a:pPr>
            <a:r>
              <a:t>M</a:t>
            </a:r>
          </a:p>
        </p:txBody>
      </p:sp>
      <p:sp>
        <p:nvSpPr>
          <p:cNvPr id="27" name="TextBox 26"/>
          <p:cNvSpPr txBox="1"/>
          <p:nvPr/>
        </p:nvSpPr>
        <p:spPr>
          <a:xfrm>
            <a:off x="4526280" y="3813048"/>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Multi-Sector Resilience &amp; Strategic Value</a:t>
            </a:r>
          </a:p>
          <a:p>
            <a:pPr>
              <a:lnSpc>
                <a:spcPct val="105000"/>
              </a:lnSpc>
              <a:spcBef>
                <a:spcPts val="300"/>
              </a:spcBef>
              <a:defRPr sz="720">
                <a:solidFill>
                  <a:srgbClr val="4A5568"/>
                </a:solidFill>
                <a:latin typeface="Arial"/>
              </a:defRPr>
            </a:pPr>
            <a:r>
              <a:t>Diversified revenue streams across 9+ end-user industries—including Railways, Marine, and Power Generation—hedge against automotive cyclicality and offer a turnkey platform for strategic acquirers seeking immediate scale in precision metal fabrication.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1A237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kelp_logo.png"/>
          <p:cNvPicPr>
            <a:picLocks noChangeAspect="1"/>
          </p:cNvPicPr>
          <p:nvPr/>
        </p:nvPicPr>
        <p:blipFill>
          <a:blip r:embed="rId2"/>
          <a:stretch>
            <a:fillRect/>
          </a:stretch>
        </p:blipFill>
        <p:spPr>
          <a:xfrm>
            <a:off x="457200" y="320040"/>
            <a:ext cx="2171508" cy="822960"/>
          </a:xfrm>
          <a:prstGeom prst="rect">
            <a:avLst/>
          </a:prstGeom>
        </p:spPr>
      </p:pic>
      <p:sp>
        <p:nvSpPr>
          <p:cNvPr id="4" name="TextBox 3"/>
          <p:cNvSpPr txBox="1"/>
          <p:nvPr/>
        </p:nvSpPr>
        <p:spPr>
          <a:xfrm>
            <a:off x="457200" y="1371600"/>
            <a:ext cx="8229600" cy="731520"/>
          </a:xfrm>
          <a:prstGeom prst="rect">
            <a:avLst/>
          </a:prstGeom>
          <a:noFill/>
        </p:spPr>
        <p:txBody>
          <a:bodyPr wrap="none">
            <a:spAutoFit/>
          </a:bodyPr>
          <a:lstStyle/>
          <a:p>
            <a:pPr>
              <a:defRPr sz="3600" b="0">
                <a:solidFill>
                  <a:srgbClr val="FFFFFF"/>
                </a:solidFill>
                <a:latin typeface="Arial"/>
              </a:defRPr>
            </a:pPr>
            <a:r>
              <a:t>Important Notice &amp; Disclaimer</a:t>
            </a:r>
          </a:p>
        </p:txBody>
      </p:sp>
      <p:sp>
        <p:nvSpPr>
          <p:cNvPr id="5" name="TextBox 4"/>
          <p:cNvSpPr txBox="1"/>
          <p:nvPr/>
        </p:nvSpPr>
        <p:spPr>
          <a:xfrm>
            <a:off x="457200" y="2011680"/>
            <a:ext cx="8229600" cy="2286000"/>
          </a:xfrm>
          <a:prstGeom prst="rect">
            <a:avLst/>
          </a:prstGeom>
          <a:noFill/>
        </p:spPr>
        <p:txBody>
          <a:bodyPr wrap="square">
            <a:spAutoFit/>
          </a:bodyPr>
          <a:lstStyle/>
          <a:p>
            <a:pPr algn="just">
              <a:defRPr sz="1100">
                <a:solidFill>
                  <a:srgbClr val="FFFFFF"/>
                </a:solidFill>
                <a:latin typeface="Arial"/>
              </a:defRPr>
            </a:pPr>
            <a: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a:t>
            </a:r>
          </a:p>
        </p:txBody>
      </p:sp>
      <p:sp>
        <p:nvSpPr>
          <p:cNvPr id="6" name="TextBox 5"/>
          <p:cNvSpPr txBox="1"/>
          <p:nvPr/>
        </p:nvSpPr>
        <p:spPr>
          <a:xfrm>
            <a:off x="457200" y="4572000"/>
            <a:ext cx="8229600" cy="274320"/>
          </a:xfrm>
          <a:prstGeom prst="rect">
            <a:avLst/>
          </a:prstGeom>
          <a:noFill/>
        </p:spPr>
        <p:txBody>
          <a:bodyPr wrap="none">
            <a:spAutoFit/>
          </a:bodyPr>
          <a:lstStyle/>
          <a:p>
            <a:pPr algn="ctr">
              <a:defRPr sz="900">
                <a:solidFill>
                  <a:srgbClr val="C8C8C8"/>
                </a:solidFil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487</Words>
  <Application>Microsoft Office PowerPoint</Application>
  <PresentationFormat>On-screen Show (16:9)</PresentationFormat>
  <Paragraphs>61</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SHORYA SETHIA</cp:lastModifiedBy>
  <cp:revision>3</cp:revision>
  <dcterms:created xsi:type="dcterms:W3CDTF">2013-01-27T09:14:16Z</dcterms:created>
  <dcterms:modified xsi:type="dcterms:W3CDTF">2026-02-06T12:39:05Z</dcterms:modified>
  <cp:category/>
</cp:coreProperties>
</file>