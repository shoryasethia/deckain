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4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Revenue ($Mn)</c:v>
                </c:pt>
              </c:strCache>
            </c:strRef>
          </c:tx>
          <c:spPr>
            <a:solidFill>
              <a:srgbClr val="1A237E"/>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FY22</c:v>
                </c:pt>
                <c:pt idx="1">
                  <c:v>FY23</c:v>
                </c:pt>
                <c:pt idx="2">
                  <c:v>FY24</c:v>
                </c:pt>
              </c:strCache>
            </c:strRef>
          </c:cat>
          <c:val>
            <c:numRef>
              <c:f>Sheet1!$B$2:$B$4</c:f>
              <c:numCache>
                <c:formatCode>General</c:formatCode>
                <c:ptCount val="3"/>
                <c:pt idx="0">
                  <c:v>4017.6</c:v>
                </c:pt>
                <c:pt idx="1">
                  <c:v>4109.5839999999998</c:v>
                </c:pt>
                <c:pt idx="2">
                  <c:v>5022.4769999999999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A58-4F90-BE54-1F9912F23764}"/>
            </c:ext>
          </c:extLst>
        </c:ser>
        <c:ser>
          <c:idx val="1"/>
          <c:order val="1"/>
          <c:tx>
            <c:strRef>
              <c:f>Sheet1!$C$1</c:f>
              <c:strCache>
                <c:ptCount val="1"/>
                <c:pt idx="0">
                  <c:v>EBITDA ($Mn)</c:v>
                </c:pt>
              </c:strCache>
            </c:strRef>
          </c:tx>
          <c:spPr>
            <a:solidFill>
              <a:srgbClr val="00D4FF"/>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FY22</c:v>
                </c:pt>
                <c:pt idx="1">
                  <c:v>FY23</c:v>
                </c:pt>
                <c:pt idx="2">
                  <c:v>FY24</c:v>
                </c:pt>
              </c:strCache>
            </c:strRef>
          </c:cat>
          <c:val>
            <c:numRef>
              <c:f>Sheet1!$C$2:$C$4</c:f>
              <c:numCache>
                <c:formatCode>General</c:formatCode>
                <c:ptCount val="3"/>
                <c:pt idx="0">
                  <c:v>494.2</c:v>
                </c:pt>
                <c:pt idx="1">
                  <c:v>420.33300000000003</c:v>
                </c:pt>
                <c:pt idx="2">
                  <c:v>485.13600000000002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A58-4F90-BE54-1F9912F23764}"/>
            </c:ext>
          </c:extLst>
        </c:ser>
        <c:ser>
          <c:idx val="2"/>
          <c:order val="2"/>
          <c:tx>
            <c:strRef>
              <c:f>Sheet1!$D$1</c:f>
              <c:strCache>
                <c:ptCount val="1"/>
                <c:pt idx="0">
                  <c:v>PAT ($Mn)</c:v>
                </c:pt>
              </c:strCache>
            </c:strRef>
          </c:tx>
          <c:spPr>
            <a:solidFill>
              <a:srgbClr val="FF4B91"/>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FY22</c:v>
                </c:pt>
                <c:pt idx="1">
                  <c:v>FY23</c:v>
                </c:pt>
                <c:pt idx="2">
                  <c:v>FY24</c:v>
                </c:pt>
              </c:strCache>
            </c:strRef>
          </c:cat>
          <c:val>
            <c:numRef>
              <c:f>Sheet1!$D$2:$D$4</c:f>
              <c:numCache>
                <c:formatCode>General</c:formatCode>
                <c:ptCount val="3"/>
                <c:pt idx="0">
                  <c:v>-327.7</c:v>
                </c:pt>
                <c:pt idx="1">
                  <c:v>-345.42</c:v>
                </c:pt>
                <c:pt idx="2">
                  <c:v>142.31299999999999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A58-4F90-BE54-1F9912F23764}"/>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800" b="0"/>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A556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EBITDA Margin %</c:v>
                </c:pt>
              </c:strCache>
            </c:strRef>
          </c:tx>
          <c:spPr>
            <a:ln w="31750">
              <a:solidFill>
                <a:srgbClr val="FF4B91"/>
              </a:solidFill>
            </a:ln>
          </c:spPr>
          <c:marker>
            <c:symbol val="none"/>
          </c:marker>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FY22</c:v>
                </c:pt>
                <c:pt idx="1">
                  <c:v>FY23</c:v>
                </c:pt>
                <c:pt idx="2">
                  <c:v>FY24</c:v>
                </c:pt>
              </c:strCache>
            </c:strRef>
          </c:cat>
          <c:val>
            <c:numRef>
              <c:f>Sheet1!$B$2:$B$4</c:f>
              <c:numCache>
                <c:formatCode>General</c:formatCode>
                <c:ptCount val="3"/>
                <c:pt idx="0">
                  <c:v>12.3</c:v>
                </c:pt>
                <c:pt idx="1">
                  <c:v>10.199999999999999</c:v>
                </c:pt>
                <c:pt idx="2">
                  <c:v>9.6999999999999993</c:v>
                </c:pt>
              </c:numCache>
            </c:numRef>
          </c:val>
          <c:smooth val="1"/>
          <c:extLst>
            <c:ext xmlns:c16="http://schemas.microsoft.com/office/drawing/2014/chart" uri="{C3380CC4-5D6E-409C-BE32-E72D297353CC}">
              <c16:uniqueId val="{00000000-5B9D-4E2F-BA57-81DB0C91108C}"/>
            </c:ext>
          </c:extLst>
        </c:ser>
        <c:dLbls>
          <c:showLegendKey val="0"/>
          <c:showVal val="1"/>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txPr>
          <a:bodyPr/>
          <a:lstStyle/>
          <a:p>
            <a:pPr>
              <a:defRPr sz="800" b="0"/>
            </a:pPr>
            <a:endParaRPr lang="en-US"/>
          </a:p>
        </c:txPr>
        <c:crossAx val="2140495176"/>
        <c:crosses val="autoZero"/>
        <c:auto val="1"/>
        <c:lblAlgn val="ctr"/>
        <c:lblOffset val="100"/>
        <c:noMultiLvlLbl val="0"/>
      </c:catAx>
      <c:valAx>
        <c:axId val="2140495176"/>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118791784"/>
        <c:crosses val="autoZero"/>
        <c:crossBetween val="between"/>
      </c:valAx>
    </c:plotArea>
    <c:legend>
      <c:legendPos val="b"/>
      <c:overlay val="0"/>
      <c:txPr>
        <a:bodyPr/>
        <a:lstStyle/>
        <a:p>
          <a:pPr>
            <a:defRPr sz="900"/>
          </a:pPr>
          <a:endParaRPr lang="en-US"/>
        </a:p>
      </c:txPr>
    </c:legend>
    <c:plotVisOnly val="1"/>
    <c:dispBlanksAs val="gap"/>
    <c:showDLblsOverMax val="0"/>
  </c:chart>
  <c:txPr>
    <a:bodyPr/>
    <a:lstStyle/>
    <a:p>
      <a:pPr>
        <a:defRPr sz="900">
          <a:solidFill>
            <a:srgbClr val="4A5568"/>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2D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77240" cy="5148072"/>
          </a:xfrm>
          <a:prstGeom prst="rect">
            <a:avLst/>
          </a:prstGeom>
          <a:solidFill>
            <a:srgbClr val="00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0"/>
            <a:ext cx="4114800" cy="2926080"/>
          </a:xfrm>
          <a:prstGeom prst="rect">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sosceles Triangle 4"/>
          <p:cNvSpPr/>
          <p:nvPr/>
        </p:nvSpPr>
        <p:spPr>
          <a:xfrm rot="2700000">
            <a:off x="1097280" y="2560320"/>
            <a:ext cx="3200400" cy="2743200"/>
          </a:xfrm>
          <a:prstGeom prst="triangle">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elp_logo.png"/>
          <p:cNvPicPr>
            <a:picLocks noChangeAspect="1"/>
          </p:cNvPicPr>
          <p:nvPr/>
        </p:nvPicPr>
        <p:blipFill>
          <a:blip r:embed="rId2"/>
          <a:stretch>
            <a:fillRect/>
          </a:stretch>
        </p:blipFill>
        <p:spPr>
          <a:xfrm>
            <a:off x="1371600" y="320040"/>
            <a:ext cx="2171508" cy="822960"/>
          </a:xfrm>
          <a:prstGeom prst="rect">
            <a:avLst/>
          </a:prstGeom>
        </p:spPr>
      </p:pic>
      <p:sp>
        <p:nvSpPr>
          <p:cNvPr id="7" name="TextBox 6"/>
          <p:cNvSpPr txBox="1"/>
          <p:nvPr/>
        </p:nvSpPr>
        <p:spPr>
          <a:xfrm>
            <a:off x="1371600" y="1463040"/>
            <a:ext cx="6858000" cy="1371600"/>
          </a:xfrm>
          <a:prstGeom prst="rect">
            <a:avLst/>
          </a:prstGeom>
          <a:noFill/>
        </p:spPr>
        <p:txBody>
          <a:bodyPr wrap="none">
            <a:spAutoFit/>
          </a:bodyPr>
          <a:lstStyle/>
          <a:p>
            <a:pPr>
              <a:lnSpc>
                <a:spcPct val="100000"/>
              </a:lnSpc>
              <a:defRPr sz="7200" b="1">
                <a:solidFill>
                  <a:srgbClr val="FFFFFF"/>
                </a:solidFill>
                <a:latin typeface="Arial"/>
              </a:defRPr>
            </a:pPr>
            <a:r>
              <a:t>Project Elixir</a:t>
            </a:r>
          </a:p>
        </p:txBody>
      </p:sp>
      <p:sp>
        <p:nvSpPr>
          <p:cNvPr id="8" name="TextBox 7"/>
          <p:cNvSpPr txBox="1"/>
          <p:nvPr/>
        </p:nvSpPr>
        <p:spPr>
          <a:xfrm>
            <a:off x="1371600" y="3474720"/>
            <a:ext cx="4572000" cy="548640"/>
          </a:xfrm>
          <a:prstGeom prst="rect">
            <a:avLst/>
          </a:prstGeom>
          <a:noFill/>
        </p:spPr>
        <p:txBody>
          <a:bodyPr wrap="none">
            <a:spAutoFit/>
          </a:bodyPr>
          <a:lstStyle/>
          <a:p>
            <a:pPr>
              <a:defRPr sz="2400" b="1">
                <a:solidFill>
                  <a:srgbClr val="FFFFFF"/>
                </a:solidFill>
                <a:latin typeface="Arial"/>
              </a:defRPr>
            </a:pPr>
            <a:r>
              <a:t>Investment Brief</a:t>
            </a:r>
          </a:p>
        </p:txBody>
      </p:sp>
      <p:sp>
        <p:nvSpPr>
          <p:cNvPr id="9" name="TextBox 8"/>
          <p:cNvSpPr txBox="1"/>
          <p:nvPr/>
        </p:nvSpPr>
        <p:spPr>
          <a:xfrm>
            <a:off x="1371600" y="4023360"/>
            <a:ext cx="3657600" cy="365760"/>
          </a:xfrm>
          <a:prstGeom prst="rect">
            <a:avLst/>
          </a:prstGeom>
          <a:noFill/>
        </p:spPr>
        <p:txBody>
          <a:bodyPr wrap="none">
            <a:spAutoFit/>
          </a:bodyPr>
          <a:lstStyle/>
          <a:p>
            <a:pPr>
              <a:defRPr sz="1400" i="1">
                <a:solidFill>
                  <a:srgbClr val="C8C8C8"/>
                </a:solidFill>
                <a:latin typeface="Arial"/>
              </a:defRPr>
            </a:pPr>
            <a:r>
              <a:t>kelpglobal.com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BUSINESS OVERVIEW</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ectangle 6"/>
          <p:cNvSpPr/>
          <p:nvPr/>
        </p:nvSpPr>
        <p:spPr>
          <a:xfrm>
            <a:off x="274320" y="777240"/>
            <a:ext cx="4297680" cy="256032"/>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804672"/>
            <a:ext cx="4114800" cy="201168"/>
          </a:xfrm>
          <a:prstGeom prst="rect">
            <a:avLst/>
          </a:prstGeom>
          <a:noFill/>
        </p:spPr>
        <p:txBody>
          <a:bodyPr wrap="none">
            <a:spAutoFit/>
          </a:bodyPr>
          <a:lstStyle/>
          <a:p>
            <a:pPr>
              <a:defRPr sz="1100" b="1">
                <a:solidFill>
                  <a:srgbClr val="FFFFFF"/>
                </a:solidFill>
                <a:latin typeface="Arial"/>
              </a:defRPr>
            </a:pPr>
            <a:r>
              <a:t>Business Overview:</a:t>
            </a:r>
          </a:p>
        </p:txBody>
      </p:sp>
      <p:sp>
        <p:nvSpPr>
          <p:cNvPr id="9" name="TextBox 8"/>
          <p:cNvSpPr txBox="1"/>
          <p:nvPr/>
        </p:nvSpPr>
        <p:spPr>
          <a:xfrm>
            <a:off x="365760" y="1078992"/>
            <a:ext cx="4023360" cy="365760"/>
          </a:xfrm>
          <a:prstGeom prst="rect">
            <a:avLst/>
          </a:prstGeom>
          <a:noFill/>
        </p:spPr>
        <p:txBody>
          <a:bodyPr wrap="square">
            <a:spAutoFit/>
          </a:bodyPr>
          <a:lstStyle/>
          <a:p>
            <a:pPr>
              <a:lnSpc>
                <a:spcPct val="100000"/>
              </a:lnSpc>
              <a:defRPr sz="850">
                <a:solidFill>
                  <a:srgbClr val="4A5568"/>
                </a:solidFill>
                <a:latin typeface="Arial"/>
              </a:defRPr>
            </a:pPr>
            <a:r>
              <a:t>■ 3 WHO-GMP certified manufacturing facilities with high-capacity production lines</a:t>
            </a:r>
          </a:p>
        </p:txBody>
      </p:sp>
      <p:sp>
        <p:nvSpPr>
          <p:cNvPr id="10" name="TextBox 9"/>
          <p:cNvSpPr txBox="1"/>
          <p:nvPr/>
        </p:nvSpPr>
        <p:spPr>
          <a:xfrm>
            <a:off x="365760" y="1399031"/>
            <a:ext cx="4023360" cy="365760"/>
          </a:xfrm>
          <a:prstGeom prst="rect">
            <a:avLst/>
          </a:prstGeom>
          <a:noFill/>
        </p:spPr>
        <p:txBody>
          <a:bodyPr wrap="square">
            <a:spAutoFit/>
          </a:bodyPr>
          <a:lstStyle/>
          <a:p>
            <a:pPr>
              <a:lnSpc>
                <a:spcPct val="100000"/>
              </a:lnSpc>
              <a:defRPr sz="850">
                <a:solidFill>
                  <a:srgbClr val="4A5568"/>
                </a:solidFill>
                <a:latin typeface="Arial"/>
              </a:defRPr>
            </a:pPr>
            <a:r>
              <a:t>■ 955 skilled professionals with deep expertise in chemical synthesis and regulatory affairs</a:t>
            </a:r>
          </a:p>
        </p:txBody>
      </p:sp>
      <p:sp>
        <p:nvSpPr>
          <p:cNvPr id="11" name="TextBox 10"/>
          <p:cNvSpPr txBox="1"/>
          <p:nvPr/>
        </p:nvSpPr>
        <p:spPr>
          <a:xfrm>
            <a:off x="365760" y="1719072"/>
            <a:ext cx="4023360" cy="365760"/>
          </a:xfrm>
          <a:prstGeom prst="rect">
            <a:avLst/>
          </a:prstGeom>
          <a:noFill/>
        </p:spPr>
        <p:txBody>
          <a:bodyPr wrap="square">
            <a:spAutoFit/>
          </a:bodyPr>
          <a:lstStyle/>
          <a:p>
            <a:pPr>
              <a:lnSpc>
                <a:spcPct val="100000"/>
              </a:lnSpc>
              <a:defRPr sz="850">
                <a:solidFill>
                  <a:srgbClr val="4A5568"/>
                </a:solidFill>
                <a:latin typeface="Arial"/>
              </a:defRPr>
            </a:pPr>
            <a:r>
              <a:t>■ Extensive product registration portfolio across regulated and semi-regulated markets</a:t>
            </a:r>
          </a:p>
        </p:txBody>
      </p:sp>
      <p:sp>
        <p:nvSpPr>
          <p:cNvPr id="12" name="TextBox 11"/>
          <p:cNvSpPr txBox="1"/>
          <p:nvPr/>
        </p:nvSpPr>
        <p:spPr>
          <a:xfrm>
            <a:off x="365760" y="2039112"/>
            <a:ext cx="4023360" cy="365760"/>
          </a:xfrm>
          <a:prstGeom prst="rect">
            <a:avLst/>
          </a:prstGeom>
          <a:noFill/>
        </p:spPr>
        <p:txBody>
          <a:bodyPr wrap="square">
            <a:spAutoFit/>
          </a:bodyPr>
          <a:lstStyle/>
          <a:p>
            <a:pPr>
              <a:lnSpc>
                <a:spcPct val="100000"/>
              </a:lnSpc>
              <a:defRPr sz="850">
                <a:solidFill>
                  <a:srgbClr val="4A5568"/>
                </a:solidFill>
                <a:latin typeface="Arial"/>
              </a:defRPr>
            </a:pPr>
            <a:r>
              <a:t>■ Adherence to global quality standards including US FDA, UK MHRA, and ISO 9001:2015</a:t>
            </a:r>
          </a:p>
        </p:txBody>
      </p:sp>
      <p:sp>
        <p:nvSpPr>
          <p:cNvPr id="13" name="Rectangle 12"/>
          <p:cNvSpPr/>
          <p:nvPr/>
        </p:nvSpPr>
        <p:spPr>
          <a:xfrm>
            <a:off x="274320" y="2496312"/>
            <a:ext cx="4297680" cy="384048"/>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523744"/>
            <a:ext cx="4114800" cy="329184"/>
          </a:xfrm>
          <a:prstGeom prst="rect">
            <a:avLst/>
          </a:prstGeom>
          <a:noFill/>
        </p:spPr>
        <p:txBody>
          <a:bodyPr wrap="square">
            <a:spAutoFit/>
          </a:bodyPr>
          <a:lstStyle/>
          <a:p>
            <a:pPr>
              <a:lnSpc>
                <a:spcPct val="110000"/>
              </a:lnSpc>
              <a:defRPr sz="800" b="1">
                <a:solidFill>
                  <a:srgbClr val="FFFFFF"/>
                </a:solidFill>
                <a:latin typeface="Arial"/>
              </a:defRPr>
            </a:pPr>
            <a:r>
              <a:t>Growth led through its growing product portfolio and offering solutions to diverse sectors</a:t>
            </a:r>
          </a:p>
        </p:txBody>
      </p:sp>
      <p:sp>
        <p:nvSpPr>
          <p:cNvPr id="15" name="Rounded Rectangle 14"/>
          <p:cNvSpPr/>
          <p:nvPr/>
        </p:nvSpPr>
        <p:spPr>
          <a:xfrm>
            <a:off x="384049" y="2974451"/>
            <a:ext cx="1965960" cy="256032"/>
          </a:xfrm>
          <a:prstGeom prst="roundRect">
            <a:avLst/>
          </a:prstGeom>
          <a:solidFill>
            <a:srgbClr val="FAFCFF"/>
          </a:solidFill>
          <a:ln w="15240">
            <a:solidFill>
              <a:srgbClr val="00B4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1" y="3020170"/>
            <a:ext cx="1828800" cy="164592"/>
          </a:xfrm>
          <a:prstGeom prst="rect">
            <a:avLst/>
          </a:prstGeom>
          <a:noFill/>
        </p:spPr>
        <p:txBody>
          <a:bodyPr wrap="none">
            <a:spAutoFit/>
          </a:bodyPr>
          <a:lstStyle/>
          <a:p>
            <a:pPr algn="ctr">
              <a:defRPr sz="800">
                <a:solidFill>
                  <a:srgbClr val="333333"/>
                </a:solidFill>
                <a:latin typeface="Arial"/>
              </a:defRPr>
            </a:pPr>
            <a:r>
              <a:t>Active Pharmaceutical Ingredients (APIs)</a:t>
            </a:r>
          </a:p>
        </p:txBody>
      </p:sp>
      <p:sp>
        <p:nvSpPr>
          <p:cNvPr id="17" name="Rounded Rectangle 16"/>
          <p:cNvSpPr/>
          <p:nvPr/>
        </p:nvSpPr>
        <p:spPr>
          <a:xfrm>
            <a:off x="2487168" y="2974451"/>
            <a:ext cx="1965960" cy="256032"/>
          </a:xfrm>
          <a:prstGeom prst="roundRect">
            <a:avLst/>
          </a:prstGeom>
          <a:solidFill>
            <a:srgbClr val="FAFCFF"/>
          </a:solidFill>
          <a:ln w="15240">
            <a:solidFill>
              <a:srgbClr val="00B4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60321" y="3020170"/>
            <a:ext cx="1828800" cy="164592"/>
          </a:xfrm>
          <a:prstGeom prst="rect">
            <a:avLst/>
          </a:prstGeom>
          <a:noFill/>
        </p:spPr>
        <p:txBody>
          <a:bodyPr wrap="none">
            <a:spAutoFit/>
          </a:bodyPr>
          <a:lstStyle/>
          <a:p>
            <a:pPr algn="ctr">
              <a:defRPr sz="800">
                <a:solidFill>
                  <a:srgbClr val="333333"/>
                </a:solidFill>
                <a:latin typeface="Arial"/>
              </a:defRPr>
            </a:pPr>
            <a:r>
              <a:rPr dirty="0"/>
              <a:t>Finished Dosage Forms</a:t>
            </a:r>
          </a:p>
        </p:txBody>
      </p:sp>
      <p:sp>
        <p:nvSpPr>
          <p:cNvPr id="19" name="Rounded Rectangle 18"/>
          <p:cNvSpPr/>
          <p:nvPr/>
        </p:nvSpPr>
        <p:spPr>
          <a:xfrm>
            <a:off x="384049" y="3267058"/>
            <a:ext cx="1965960" cy="256032"/>
          </a:xfrm>
          <a:prstGeom prst="roundRect">
            <a:avLst/>
          </a:prstGeom>
          <a:solidFill>
            <a:srgbClr val="FAFCFF"/>
          </a:solidFill>
          <a:ln w="15240">
            <a:solidFill>
              <a:srgbClr val="00B4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1" y="3312778"/>
            <a:ext cx="1828800" cy="164592"/>
          </a:xfrm>
          <a:prstGeom prst="rect">
            <a:avLst/>
          </a:prstGeom>
          <a:noFill/>
        </p:spPr>
        <p:txBody>
          <a:bodyPr wrap="none">
            <a:spAutoFit/>
          </a:bodyPr>
          <a:lstStyle/>
          <a:p>
            <a:pPr algn="ctr">
              <a:defRPr sz="800">
                <a:solidFill>
                  <a:srgbClr val="333333"/>
                </a:solidFill>
                <a:latin typeface="Arial"/>
              </a:defRPr>
            </a:pPr>
            <a:r>
              <a:t>Specialized Therapeutic Formulations</a:t>
            </a:r>
          </a:p>
        </p:txBody>
      </p:sp>
      <p:sp>
        <p:nvSpPr>
          <p:cNvPr id="21" name="Rounded Rectangle 20"/>
          <p:cNvSpPr/>
          <p:nvPr/>
        </p:nvSpPr>
        <p:spPr>
          <a:xfrm>
            <a:off x="2487168" y="3267058"/>
            <a:ext cx="1965960" cy="256032"/>
          </a:xfrm>
          <a:prstGeom prst="roundRect">
            <a:avLst/>
          </a:prstGeom>
          <a:solidFill>
            <a:srgbClr val="FAFCFF"/>
          </a:solidFill>
          <a:ln w="15240">
            <a:solidFill>
              <a:srgbClr val="00B4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60321" y="3312778"/>
            <a:ext cx="1828800" cy="164592"/>
          </a:xfrm>
          <a:prstGeom prst="rect">
            <a:avLst/>
          </a:prstGeom>
          <a:noFill/>
        </p:spPr>
        <p:txBody>
          <a:bodyPr wrap="none">
            <a:spAutoFit/>
          </a:bodyPr>
          <a:lstStyle/>
          <a:p>
            <a:pPr algn="ctr">
              <a:defRPr sz="800">
                <a:solidFill>
                  <a:srgbClr val="333333"/>
                </a:solidFill>
                <a:latin typeface="Arial"/>
              </a:defRPr>
            </a:pPr>
            <a:r>
              <a:t>Complex Intermediates</a:t>
            </a:r>
          </a:p>
        </p:txBody>
      </p:sp>
      <p:sp>
        <p:nvSpPr>
          <p:cNvPr id="23" name="Rectangle 22"/>
          <p:cNvSpPr/>
          <p:nvPr/>
        </p:nvSpPr>
        <p:spPr>
          <a:xfrm>
            <a:off x="4754880" y="777240"/>
            <a:ext cx="1645920" cy="256032"/>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46320" y="804672"/>
            <a:ext cx="1463040" cy="201168"/>
          </a:xfrm>
          <a:prstGeom prst="rect">
            <a:avLst/>
          </a:prstGeom>
          <a:noFill/>
        </p:spPr>
        <p:txBody>
          <a:bodyPr wrap="none">
            <a:spAutoFit/>
          </a:bodyPr>
          <a:lstStyle/>
          <a:p>
            <a:pPr>
              <a:defRPr sz="1000" b="1">
                <a:solidFill>
                  <a:srgbClr val="FFFFFF"/>
                </a:solidFill>
                <a:latin typeface="Arial"/>
              </a:defRPr>
            </a:pPr>
            <a:r>
              <a:t>Key Select Customers</a:t>
            </a:r>
          </a:p>
        </p:txBody>
      </p:sp>
      <p:sp>
        <p:nvSpPr>
          <p:cNvPr id="25" name="Rounded Rectangle 24"/>
          <p:cNvSpPr/>
          <p:nvPr/>
        </p:nvSpPr>
        <p:spPr>
          <a:xfrm>
            <a:off x="4846320" y="1097280"/>
            <a:ext cx="1463040" cy="45720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64608" y="1124712"/>
            <a:ext cx="1426464" cy="402336"/>
          </a:xfrm>
          <a:prstGeom prst="rect">
            <a:avLst/>
          </a:prstGeom>
          <a:noFill/>
        </p:spPr>
        <p:txBody>
          <a:bodyPr wrap="square" lIns="27432" rIns="27432" anchor="ctr">
            <a:spAutoFit/>
          </a:bodyPr>
          <a:lstStyle/>
          <a:p>
            <a:pPr algn="ctr">
              <a:lnSpc>
                <a:spcPct val="95000"/>
              </a:lnSpc>
              <a:defRPr sz="750" b="1">
                <a:solidFill>
                  <a:srgbClr val="333333"/>
                </a:solidFill>
                <a:latin typeface="Arial"/>
              </a:defRPr>
            </a:pPr>
            <a:r>
              <a:t>Leading Global Pharmaceutical OEMs</a:t>
            </a:r>
          </a:p>
        </p:txBody>
      </p:sp>
      <p:sp>
        <p:nvSpPr>
          <p:cNvPr id="27" name="Rounded Rectangle 26"/>
          <p:cNvSpPr/>
          <p:nvPr/>
        </p:nvSpPr>
        <p:spPr>
          <a:xfrm>
            <a:off x="4846320" y="1600200"/>
            <a:ext cx="1463040" cy="45720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64608" y="1627632"/>
            <a:ext cx="1426464" cy="402336"/>
          </a:xfrm>
          <a:prstGeom prst="rect">
            <a:avLst/>
          </a:prstGeom>
          <a:noFill/>
        </p:spPr>
        <p:txBody>
          <a:bodyPr wrap="square" lIns="27432" rIns="27432" anchor="ctr">
            <a:spAutoFit/>
          </a:bodyPr>
          <a:lstStyle/>
          <a:p>
            <a:pPr algn="ctr">
              <a:lnSpc>
                <a:spcPct val="95000"/>
              </a:lnSpc>
              <a:defRPr sz="750" b="1">
                <a:solidFill>
                  <a:srgbClr val="333333"/>
                </a:solidFill>
                <a:latin typeface="Arial"/>
              </a:defRPr>
            </a:pPr>
            <a:r>
              <a:t>Top-tier Generic Drug Manufacturers</a:t>
            </a:r>
          </a:p>
        </p:txBody>
      </p:sp>
      <p:sp>
        <p:nvSpPr>
          <p:cNvPr id="29" name="Rounded Rectangle 28"/>
          <p:cNvSpPr/>
          <p:nvPr/>
        </p:nvSpPr>
        <p:spPr>
          <a:xfrm>
            <a:off x="4846320" y="2103120"/>
            <a:ext cx="1463040" cy="45720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64608" y="2130551"/>
            <a:ext cx="1426464" cy="402336"/>
          </a:xfrm>
          <a:prstGeom prst="rect">
            <a:avLst/>
          </a:prstGeom>
          <a:noFill/>
        </p:spPr>
        <p:txBody>
          <a:bodyPr wrap="square" lIns="27432" rIns="27432" anchor="ctr">
            <a:spAutoFit/>
          </a:bodyPr>
          <a:lstStyle/>
          <a:p>
            <a:pPr algn="ctr">
              <a:lnSpc>
                <a:spcPct val="95000"/>
              </a:lnSpc>
              <a:defRPr sz="750" b="1">
                <a:solidFill>
                  <a:srgbClr val="333333"/>
                </a:solidFill>
                <a:latin typeface="Arial"/>
              </a:defRPr>
            </a:pPr>
            <a:r>
              <a:t>Major International Pharmaceutical Distributors</a:t>
            </a:r>
          </a:p>
        </p:txBody>
      </p:sp>
      <p:sp>
        <p:nvSpPr>
          <p:cNvPr id="31" name="Rounded Rectangle 30"/>
          <p:cNvSpPr/>
          <p:nvPr/>
        </p:nvSpPr>
        <p:spPr>
          <a:xfrm>
            <a:off x="4846320" y="2606039"/>
            <a:ext cx="1463040" cy="45720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64608" y="2633471"/>
            <a:ext cx="1426464" cy="402336"/>
          </a:xfrm>
          <a:prstGeom prst="rect">
            <a:avLst/>
          </a:prstGeom>
          <a:noFill/>
        </p:spPr>
        <p:txBody>
          <a:bodyPr wrap="square" lIns="27432" rIns="27432" anchor="ctr">
            <a:spAutoFit/>
          </a:bodyPr>
          <a:lstStyle/>
          <a:p>
            <a:pPr algn="ctr">
              <a:lnSpc>
                <a:spcPct val="95000"/>
              </a:lnSpc>
              <a:defRPr sz="750" b="1">
                <a:solidFill>
                  <a:srgbClr val="333333"/>
                </a:solidFill>
                <a:latin typeface="Arial"/>
              </a:defRPr>
            </a:pPr>
            <a:r>
              <a:t>Leading Healthcare and Hospital Chains</a:t>
            </a:r>
          </a:p>
        </p:txBody>
      </p:sp>
      <p:sp>
        <p:nvSpPr>
          <p:cNvPr id="33" name="Rectangle 32"/>
          <p:cNvSpPr/>
          <p:nvPr/>
        </p:nvSpPr>
        <p:spPr>
          <a:xfrm>
            <a:off x="6492240" y="777240"/>
            <a:ext cx="2377440" cy="256032"/>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0" y="804672"/>
            <a:ext cx="2194560" cy="201168"/>
          </a:xfrm>
          <a:prstGeom prst="rect">
            <a:avLst/>
          </a:prstGeom>
          <a:noFill/>
        </p:spPr>
        <p:txBody>
          <a:bodyPr wrap="none">
            <a:spAutoFit/>
          </a:bodyPr>
          <a:lstStyle/>
          <a:p>
            <a:pPr>
              <a:defRPr sz="1000" b="1">
                <a:solidFill>
                  <a:srgbClr val="FFFFFF"/>
                </a:solidFill>
                <a:latin typeface="Arial"/>
              </a:defRPr>
            </a:pPr>
            <a:r>
              <a:t>The at a Glance</a:t>
            </a:r>
          </a:p>
        </p:txBody>
      </p:sp>
      <p:sp>
        <p:nvSpPr>
          <p:cNvPr id="35" name="Oval 34"/>
          <p:cNvSpPr/>
          <p:nvPr/>
        </p:nvSpPr>
        <p:spPr>
          <a:xfrm>
            <a:off x="6629400" y="1097280"/>
            <a:ext cx="411480" cy="41148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0" y="1097280"/>
            <a:ext cx="1645920" cy="201168"/>
          </a:xfrm>
          <a:prstGeom prst="rect">
            <a:avLst/>
          </a:prstGeom>
          <a:noFill/>
        </p:spPr>
        <p:txBody>
          <a:bodyPr wrap="none">
            <a:spAutoFit/>
          </a:bodyPr>
          <a:lstStyle/>
          <a:p>
            <a:pPr>
              <a:defRPr sz="1800" b="1">
                <a:solidFill>
                  <a:srgbClr val="0076A8"/>
                </a:solidFill>
                <a:latin typeface="Arial"/>
              </a:defRPr>
            </a:pPr>
            <a:r>
              <a:t>955</a:t>
            </a:r>
          </a:p>
        </p:txBody>
      </p:sp>
      <p:sp>
        <p:nvSpPr>
          <p:cNvPr id="37" name="TextBox 36"/>
          <p:cNvSpPr txBox="1"/>
          <p:nvPr/>
        </p:nvSpPr>
        <p:spPr>
          <a:xfrm>
            <a:off x="7132320" y="1325880"/>
            <a:ext cx="1645920" cy="164592"/>
          </a:xfrm>
          <a:prstGeom prst="rect">
            <a:avLst/>
          </a:prstGeom>
          <a:noFill/>
        </p:spPr>
        <p:txBody>
          <a:bodyPr wrap="none">
            <a:spAutoFit/>
          </a:bodyPr>
          <a:lstStyle/>
          <a:p>
            <a:pPr>
              <a:defRPr sz="800">
                <a:solidFill>
                  <a:srgbClr val="646464"/>
                </a:solidFill>
                <a:latin typeface="Arial"/>
              </a:defRPr>
            </a:pPr>
            <a:r>
              <a:t>Employees</a:t>
            </a:r>
          </a:p>
        </p:txBody>
      </p:sp>
      <p:sp>
        <p:nvSpPr>
          <p:cNvPr id="38" name="Oval 37"/>
          <p:cNvSpPr/>
          <p:nvPr/>
        </p:nvSpPr>
        <p:spPr>
          <a:xfrm>
            <a:off x="6629400" y="1600200"/>
            <a:ext cx="411480" cy="41148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0" y="1600200"/>
            <a:ext cx="1645920" cy="201168"/>
          </a:xfrm>
          <a:prstGeom prst="rect">
            <a:avLst/>
          </a:prstGeom>
          <a:noFill/>
        </p:spPr>
        <p:txBody>
          <a:bodyPr wrap="none">
            <a:spAutoFit/>
          </a:bodyPr>
          <a:lstStyle/>
          <a:p>
            <a:pPr>
              <a:defRPr sz="1800" b="1">
                <a:solidFill>
                  <a:srgbClr val="FF6600"/>
                </a:solidFill>
                <a:latin typeface="Arial"/>
              </a:defRPr>
            </a:pPr>
            <a:r>
              <a:t>3</a:t>
            </a:r>
          </a:p>
        </p:txBody>
      </p:sp>
      <p:sp>
        <p:nvSpPr>
          <p:cNvPr id="40" name="TextBox 39"/>
          <p:cNvSpPr txBox="1"/>
          <p:nvPr/>
        </p:nvSpPr>
        <p:spPr>
          <a:xfrm>
            <a:off x="7132320" y="1828800"/>
            <a:ext cx="1645920" cy="164592"/>
          </a:xfrm>
          <a:prstGeom prst="rect">
            <a:avLst/>
          </a:prstGeom>
          <a:noFill/>
        </p:spPr>
        <p:txBody>
          <a:bodyPr wrap="none">
            <a:spAutoFit/>
          </a:bodyPr>
          <a:lstStyle/>
          <a:p>
            <a:pPr>
              <a:defRPr sz="800">
                <a:solidFill>
                  <a:srgbClr val="646464"/>
                </a:solidFill>
                <a:latin typeface="Arial"/>
              </a:defRPr>
            </a:pPr>
            <a:r>
              <a:t>Manufacturing Units</a:t>
            </a:r>
          </a:p>
        </p:txBody>
      </p:sp>
      <p:sp>
        <p:nvSpPr>
          <p:cNvPr id="41" name="Oval 40"/>
          <p:cNvSpPr/>
          <p:nvPr/>
        </p:nvSpPr>
        <p:spPr>
          <a:xfrm>
            <a:off x="6629400" y="2103120"/>
            <a:ext cx="411480" cy="41148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0" y="2103120"/>
            <a:ext cx="1645920" cy="201168"/>
          </a:xfrm>
          <a:prstGeom prst="rect">
            <a:avLst/>
          </a:prstGeom>
          <a:noFill/>
        </p:spPr>
        <p:txBody>
          <a:bodyPr wrap="none">
            <a:spAutoFit/>
          </a:bodyPr>
          <a:lstStyle/>
          <a:p>
            <a:pPr>
              <a:defRPr sz="1800" b="1">
                <a:solidFill>
                  <a:srgbClr val="6A1B9A"/>
                </a:solidFill>
                <a:latin typeface="Arial"/>
              </a:defRPr>
            </a:pPr>
            <a:r>
              <a:t>Global</a:t>
            </a:r>
          </a:p>
        </p:txBody>
      </p:sp>
      <p:sp>
        <p:nvSpPr>
          <p:cNvPr id="43" name="TextBox 42"/>
          <p:cNvSpPr txBox="1"/>
          <p:nvPr/>
        </p:nvSpPr>
        <p:spPr>
          <a:xfrm>
            <a:off x="7132320" y="2331720"/>
            <a:ext cx="1645920" cy="164592"/>
          </a:xfrm>
          <a:prstGeom prst="rect">
            <a:avLst/>
          </a:prstGeom>
          <a:noFill/>
        </p:spPr>
        <p:txBody>
          <a:bodyPr wrap="none">
            <a:spAutoFit/>
          </a:bodyPr>
          <a:lstStyle/>
          <a:p>
            <a:pPr>
              <a:defRPr sz="800">
                <a:solidFill>
                  <a:srgbClr val="646464"/>
                </a:solidFill>
                <a:latin typeface="Arial"/>
              </a:defRPr>
            </a:pPr>
            <a:r>
              <a:t>Export Presence</a:t>
            </a:r>
          </a:p>
        </p:txBody>
      </p:sp>
      <p:sp>
        <p:nvSpPr>
          <p:cNvPr id="44" name="Rectangle 43"/>
          <p:cNvSpPr/>
          <p:nvPr/>
        </p:nvSpPr>
        <p:spPr>
          <a:xfrm>
            <a:off x="6492240" y="2743199"/>
            <a:ext cx="2377440" cy="256032"/>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83680" y="2770631"/>
            <a:ext cx="2194560" cy="201168"/>
          </a:xfrm>
          <a:prstGeom prst="rect">
            <a:avLst/>
          </a:prstGeom>
          <a:noFill/>
        </p:spPr>
        <p:txBody>
          <a:bodyPr wrap="none">
            <a:spAutoFit/>
          </a:bodyPr>
          <a:lstStyle/>
          <a:p>
            <a:pPr>
              <a:defRPr sz="1000" b="1">
                <a:solidFill>
                  <a:srgbClr val="FFFFFF"/>
                </a:solidFill>
                <a:latin typeface="Arial"/>
              </a:defRPr>
            </a:pPr>
            <a:r>
              <a:t>Certifications</a:t>
            </a:r>
          </a:p>
        </p:txBody>
      </p:sp>
      <p:sp>
        <p:nvSpPr>
          <p:cNvPr id="46" name="Rounded Rectangle 45"/>
          <p:cNvSpPr/>
          <p:nvPr/>
        </p:nvSpPr>
        <p:spPr>
          <a:xfrm>
            <a:off x="6583680" y="310895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29400" y="3182111"/>
            <a:ext cx="594360" cy="164592"/>
          </a:xfrm>
          <a:prstGeom prst="rect">
            <a:avLst/>
          </a:prstGeom>
          <a:noFill/>
        </p:spPr>
        <p:txBody>
          <a:bodyPr wrap="none">
            <a:spAutoFit/>
          </a:bodyPr>
          <a:lstStyle/>
          <a:p>
            <a:pPr algn="ctr">
              <a:defRPr sz="750" b="1">
                <a:solidFill>
                  <a:srgbClr val="1A237E"/>
                </a:solidFill>
                <a:latin typeface="Arial"/>
              </a:defRPr>
            </a:pPr>
            <a:r>
              <a:t>FDA</a:t>
            </a:r>
          </a:p>
        </p:txBody>
      </p:sp>
      <p:sp>
        <p:nvSpPr>
          <p:cNvPr id="48" name="Rounded Rectangle 47"/>
          <p:cNvSpPr/>
          <p:nvPr/>
        </p:nvSpPr>
        <p:spPr>
          <a:xfrm>
            <a:off x="7360920" y="310895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06640" y="3182111"/>
            <a:ext cx="594360" cy="164592"/>
          </a:xfrm>
          <a:prstGeom prst="rect">
            <a:avLst/>
          </a:prstGeom>
          <a:noFill/>
        </p:spPr>
        <p:txBody>
          <a:bodyPr wrap="none">
            <a:spAutoFit/>
          </a:bodyPr>
          <a:lstStyle/>
          <a:p>
            <a:pPr algn="ctr">
              <a:defRPr sz="750" b="1">
                <a:solidFill>
                  <a:srgbClr val="1A237E"/>
                </a:solidFill>
                <a:latin typeface="Arial"/>
              </a:defRPr>
            </a:pPr>
            <a:r>
              <a:t>ISO</a:t>
            </a:r>
          </a:p>
        </p:txBody>
      </p:sp>
      <p:sp>
        <p:nvSpPr>
          <p:cNvPr id="50" name="Rounded Rectangle 49"/>
          <p:cNvSpPr/>
          <p:nvPr/>
        </p:nvSpPr>
        <p:spPr>
          <a:xfrm>
            <a:off x="8138160" y="310895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183880" y="3182111"/>
            <a:ext cx="594360" cy="164592"/>
          </a:xfrm>
          <a:prstGeom prst="rect">
            <a:avLst/>
          </a:prstGeom>
          <a:noFill/>
        </p:spPr>
        <p:txBody>
          <a:bodyPr wrap="none">
            <a:spAutoFit/>
          </a:bodyPr>
          <a:lstStyle/>
          <a:p>
            <a:pPr algn="ctr">
              <a:defRPr sz="750" b="1">
                <a:solidFill>
                  <a:srgbClr val="1A237E"/>
                </a:solidFill>
                <a:latin typeface="Arial"/>
              </a:defRPr>
            </a:pPr>
            <a:r>
              <a:t>FSSAI</a:t>
            </a:r>
          </a:p>
        </p:txBody>
      </p:sp>
      <p:sp>
        <p:nvSpPr>
          <p:cNvPr id="52" name="Rounded Rectangle 51"/>
          <p:cNvSpPr/>
          <p:nvPr/>
        </p:nvSpPr>
        <p:spPr>
          <a:xfrm>
            <a:off x="6583680" y="347471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29400" y="3547871"/>
            <a:ext cx="594360" cy="164592"/>
          </a:xfrm>
          <a:prstGeom prst="rect">
            <a:avLst/>
          </a:prstGeom>
          <a:noFill/>
        </p:spPr>
        <p:txBody>
          <a:bodyPr wrap="none">
            <a:spAutoFit/>
          </a:bodyPr>
          <a:lstStyle/>
          <a:p>
            <a:pPr algn="ctr">
              <a:defRPr sz="750" b="1">
                <a:solidFill>
                  <a:srgbClr val="1A237E"/>
                </a:solidFill>
                <a:latin typeface="Arial"/>
              </a:defRPr>
            </a:pPr>
            <a:r>
              <a:t>GMP</a:t>
            </a:r>
          </a:p>
        </p:txBody>
      </p:sp>
      <p:sp>
        <p:nvSpPr>
          <p:cNvPr id="54" name="Rounded Rectangle 53"/>
          <p:cNvSpPr/>
          <p:nvPr/>
        </p:nvSpPr>
        <p:spPr>
          <a:xfrm>
            <a:off x="7360920" y="347471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06640" y="3547871"/>
            <a:ext cx="594360" cy="164592"/>
          </a:xfrm>
          <a:prstGeom prst="rect">
            <a:avLst/>
          </a:prstGeom>
          <a:noFill/>
        </p:spPr>
        <p:txBody>
          <a:bodyPr wrap="none">
            <a:spAutoFit/>
          </a:bodyPr>
          <a:lstStyle/>
          <a:p>
            <a:pPr algn="ctr">
              <a:defRPr sz="750" b="1">
                <a:solidFill>
                  <a:srgbClr val="1A237E"/>
                </a:solidFill>
                <a:latin typeface="Arial"/>
              </a:defRPr>
            </a:pPr>
            <a:r>
              <a:t>FSSC</a:t>
            </a:r>
          </a:p>
        </p:txBody>
      </p:sp>
      <p:sp>
        <p:nvSpPr>
          <p:cNvPr id="56" name="Rounded Rectangle 55"/>
          <p:cNvSpPr/>
          <p:nvPr/>
        </p:nvSpPr>
        <p:spPr>
          <a:xfrm>
            <a:off x="8138160" y="347471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183880" y="3547871"/>
            <a:ext cx="594360" cy="164592"/>
          </a:xfrm>
          <a:prstGeom prst="rect">
            <a:avLst/>
          </a:prstGeom>
          <a:noFill/>
        </p:spPr>
        <p:txBody>
          <a:bodyPr wrap="none">
            <a:spAutoFit/>
          </a:bodyPr>
          <a:lstStyle/>
          <a:p>
            <a:pPr algn="ctr">
              <a:defRPr sz="750" b="1">
                <a:solidFill>
                  <a:srgbClr val="1A237E"/>
                </a:solidFill>
                <a:latin typeface="Arial"/>
              </a:defRPr>
            </a:pPr>
            <a:r>
              <a:t>Halal</a:t>
            </a:r>
          </a:p>
        </p:txBody>
      </p:sp>
      <p:sp>
        <p:nvSpPr>
          <p:cNvPr id="58" name="Rounded Rectangle 57"/>
          <p:cNvSpPr/>
          <p:nvPr/>
        </p:nvSpPr>
        <p:spPr>
          <a:xfrm>
            <a:off x="6583680" y="384047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29400" y="3913631"/>
            <a:ext cx="594360" cy="164592"/>
          </a:xfrm>
          <a:prstGeom prst="rect">
            <a:avLst/>
          </a:prstGeom>
          <a:noFill/>
        </p:spPr>
        <p:txBody>
          <a:bodyPr wrap="none">
            <a:spAutoFit/>
          </a:bodyPr>
          <a:lstStyle/>
          <a:p>
            <a:pPr algn="ctr">
              <a:defRPr sz="750" b="1">
                <a:solidFill>
                  <a:srgbClr val="1A237E"/>
                </a:solidFill>
                <a:latin typeface="Arial"/>
              </a:defRPr>
            </a:pPr>
            <a:r>
              <a:t>Kosher</a:t>
            </a:r>
          </a:p>
        </p:txBody>
      </p:sp>
      <p:sp>
        <p:nvSpPr>
          <p:cNvPr id="60" name="Rounded Rectangle 59"/>
          <p:cNvSpPr/>
          <p:nvPr/>
        </p:nvSpPr>
        <p:spPr>
          <a:xfrm>
            <a:off x="7360920" y="384047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406640" y="3913631"/>
            <a:ext cx="594360" cy="164592"/>
          </a:xfrm>
          <a:prstGeom prst="rect">
            <a:avLst/>
          </a:prstGeom>
          <a:noFill/>
        </p:spPr>
        <p:txBody>
          <a:bodyPr wrap="none">
            <a:spAutoFit/>
          </a:bodyPr>
          <a:lstStyle/>
          <a:p>
            <a:pPr algn="ctr">
              <a:defRPr sz="750" b="1">
                <a:solidFill>
                  <a:srgbClr val="1A237E"/>
                </a:solidFill>
                <a:latin typeface="Arial"/>
              </a:defRPr>
            </a:pPr>
            <a:r>
              <a:t>HACCP</a:t>
            </a:r>
          </a:p>
        </p:txBody>
      </p:sp>
      <p:sp>
        <p:nvSpPr>
          <p:cNvPr id="62" name="Rounded Rectangle 61"/>
          <p:cNvSpPr/>
          <p:nvPr/>
        </p:nvSpPr>
        <p:spPr>
          <a:xfrm>
            <a:off x="8138160" y="384047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183880" y="3913631"/>
            <a:ext cx="594360" cy="164592"/>
          </a:xfrm>
          <a:prstGeom prst="rect">
            <a:avLst/>
          </a:prstGeom>
          <a:noFill/>
        </p:spPr>
        <p:txBody>
          <a:bodyPr wrap="none">
            <a:spAutoFit/>
          </a:bodyPr>
          <a:lstStyle/>
          <a:p>
            <a:pPr algn="ctr">
              <a:defRPr sz="750" b="1">
                <a:solidFill>
                  <a:srgbClr val="1A237E"/>
                </a:solidFill>
                <a:latin typeface="Arial"/>
              </a:defRPr>
            </a:pPr>
            <a:r>
              <a:t>Organic</a:t>
            </a:r>
          </a:p>
        </p:txBody>
      </p:sp>
      <p:pic>
        <p:nvPicPr>
          <p:cNvPr id="64" name="Picture 63" descr="clean_unsplash_2.jpg"/>
          <p:cNvPicPr>
            <a:picLocks noChangeAspect="1"/>
          </p:cNvPicPr>
          <p:nvPr/>
        </p:nvPicPr>
        <p:blipFill>
          <a:blip r:embed="rId3"/>
          <a:stretch>
            <a:fillRect/>
          </a:stretch>
        </p:blipFill>
        <p:spPr>
          <a:xfrm>
            <a:off x="320040" y="3662172"/>
            <a:ext cx="4297680" cy="1143000"/>
          </a:xfrm>
          <a:prstGeom prst="rect">
            <a:avLst/>
          </a:prstGeom>
        </p:spPr>
      </p:pic>
      <p:pic>
        <p:nvPicPr>
          <p:cNvPr id="65" name="Picture 64" descr="clean_unsplash_5.jpg"/>
          <p:cNvPicPr>
            <a:picLocks noChangeAspect="1"/>
          </p:cNvPicPr>
          <p:nvPr/>
        </p:nvPicPr>
        <p:blipFill>
          <a:blip r:embed="rId4"/>
          <a:stretch>
            <a:fillRect/>
          </a:stretch>
        </p:blipFill>
        <p:spPr>
          <a:xfrm>
            <a:off x="5077373" y="3337561"/>
            <a:ext cx="1108543" cy="11085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KEY FINANCIAL METRICS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ounded Rectangle 6"/>
          <p:cNvSpPr/>
          <p:nvPr/>
        </p:nvSpPr>
        <p:spPr>
          <a:xfrm>
            <a:off x="585215" y="1051560"/>
            <a:ext cx="2011680" cy="594360"/>
          </a:xfrm>
          <a:prstGeom prst="round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 y="1097280"/>
            <a:ext cx="1920240" cy="320040"/>
          </a:xfrm>
          <a:prstGeom prst="rect">
            <a:avLst/>
          </a:prstGeom>
          <a:noFill/>
        </p:spPr>
        <p:txBody>
          <a:bodyPr wrap="square" anchor="ctr">
            <a:spAutoFit/>
          </a:bodyPr>
          <a:lstStyle/>
          <a:p>
            <a:pPr algn="ctr">
              <a:defRPr sz="1600" b="1">
                <a:solidFill>
                  <a:srgbClr val="FFFFFF"/>
                </a:solidFill>
              </a:defRPr>
            </a:pPr>
            <a:r>
              <a:t>₹ 5022.5 Cr</a:t>
            </a:r>
          </a:p>
        </p:txBody>
      </p:sp>
      <p:sp>
        <p:nvSpPr>
          <p:cNvPr id="9" name="TextBox 8"/>
          <p:cNvSpPr txBox="1"/>
          <p:nvPr/>
        </p:nvSpPr>
        <p:spPr>
          <a:xfrm>
            <a:off x="676655" y="1417320"/>
            <a:ext cx="1828800" cy="182880"/>
          </a:xfrm>
          <a:prstGeom prst="rect">
            <a:avLst/>
          </a:prstGeom>
          <a:noFill/>
        </p:spPr>
        <p:txBody>
          <a:bodyPr wrap="none">
            <a:spAutoFit/>
          </a:bodyPr>
          <a:lstStyle/>
          <a:p>
            <a:pPr algn="ctr">
              <a:defRPr sz="800" b="0">
                <a:solidFill>
                  <a:srgbClr val="FFFFFF"/>
                </a:solidFill>
              </a:defRPr>
            </a:pPr>
            <a:r>
              <a:t>Latest Revenue</a:t>
            </a:r>
          </a:p>
        </p:txBody>
      </p:sp>
      <p:sp>
        <p:nvSpPr>
          <p:cNvPr id="10" name="Rounded Rectangle 9"/>
          <p:cNvSpPr/>
          <p:nvPr/>
        </p:nvSpPr>
        <p:spPr>
          <a:xfrm>
            <a:off x="2724911" y="1051560"/>
            <a:ext cx="2011680" cy="59436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1" y="1097280"/>
            <a:ext cx="1920240" cy="320040"/>
          </a:xfrm>
          <a:prstGeom prst="rect">
            <a:avLst/>
          </a:prstGeom>
          <a:noFill/>
        </p:spPr>
        <p:txBody>
          <a:bodyPr wrap="square" anchor="ctr">
            <a:spAutoFit/>
          </a:bodyPr>
          <a:lstStyle/>
          <a:p>
            <a:pPr algn="ctr">
              <a:defRPr sz="1600" b="1">
                <a:solidFill>
                  <a:srgbClr val="FFFFFF"/>
                </a:solidFill>
              </a:defRPr>
            </a:pPr>
            <a:r>
              <a:t>11.8%</a:t>
            </a:r>
          </a:p>
        </p:txBody>
      </p:sp>
      <p:sp>
        <p:nvSpPr>
          <p:cNvPr id="12" name="TextBox 11"/>
          <p:cNvSpPr txBox="1"/>
          <p:nvPr/>
        </p:nvSpPr>
        <p:spPr>
          <a:xfrm>
            <a:off x="2816351" y="1417320"/>
            <a:ext cx="1828800" cy="182880"/>
          </a:xfrm>
          <a:prstGeom prst="rect">
            <a:avLst/>
          </a:prstGeom>
          <a:noFill/>
        </p:spPr>
        <p:txBody>
          <a:bodyPr wrap="none">
            <a:spAutoFit/>
          </a:bodyPr>
          <a:lstStyle/>
          <a:p>
            <a:pPr algn="ctr">
              <a:defRPr sz="800" b="0">
                <a:solidFill>
                  <a:srgbClr val="FFFFFF"/>
                </a:solidFill>
              </a:defRPr>
            </a:pPr>
            <a:r>
              <a:t>Revenue CAGR</a:t>
            </a:r>
          </a:p>
        </p:txBody>
      </p:sp>
      <p:sp>
        <p:nvSpPr>
          <p:cNvPr id="13" name="Rounded Rectangle 12"/>
          <p:cNvSpPr/>
          <p:nvPr/>
        </p:nvSpPr>
        <p:spPr>
          <a:xfrm>
            <a:off x="4864607" y="1051560"/>
            <a:ext cx="2011680" cy="594360"/>
          </a:xfrm>
          <a:prstGeom prst="roundRect">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7" y="1097280"/>
            <a:ext cx="1920240" cy="320040"/>
          </a:xfrm>
          <a:prstGeom prst="rect">
            <a:avLst/>
          </a:prstGeom>
          <a:noFill/>
        </p:spPr>
        <p:txBody>
          <a:bodyPr wrap="square" anchor="ctr">
            <a:spAutoFit/>
          </a:bodyPr>
          <a:lstStyle/>
          <a:p>
            <a:pPr algn="ctr">
              <a:defRPr sz="1600" b="1">
                <a:solidFill>
                  <a:srgbClr val="FFFFFF"/>
                </a:solidFill>
              </a:defRPr>
            </a:pPr>
            <a:r>
              <a:t>9.7%</a:t>
            </a:r>
          </a:p>
        </p:txBody>
      </p:sp>
      <p:sp>
        <p:nvSpPr>
          <p:cNvPr id="15" name="TextBox 14"/>
          <p:cNvSpPr txBox="1"/>
          <p:nvPr/>
        </p:nvSpPr>
        <p:spPr>
          <a:xfrm>
            <a:off x="4956047" y="1417320"/>
            <a:ext cx="1828800" cy="182880"/>
          </a:xfrm>
          <a:prstGeom prst="rect">
            <a:avLst/>
          </a:prstGeom>
          <a:noFill/>
        </p:spPr>
        <p:txBody>
          <a:bodyPr wrap="none">
            <a:spAutoFit/>
          </a:bodyPr>
          <a:lstStyle/>
          <a:p>
            <a:pPr algn="ctr">
              <a:defRPr sz="800" b="0">
                <a:solidFill>
                  <a:srgbClr val="FFFFFF"/>
                </a:solidFill>
              </a:defRPr>
            </a:pPr>
            <a:r>
              <a:t>EBITDA Margin</a:t>
            </a:r>
          </a:p>
        </p:txBody>
      </p:sp>
      <p:sp>
        <p:nvSpPr>
          <p:cNvPr id="16" name="Rounded Rectangle 15"/>
          <p:cNvSpPr/>
          <p:nvPr/>
        </p:nvSpPr>
        <p:spPr>
          <a:xfrm>
            <a:off x="7004303" y="1051560"/>
            <a:ext cx="201168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0023" y="1097280"/>
            <a:ext cx="1920240" cy="320040"/>
          </a:xfrm>
          <a:prstGeom prst="rect">
            <a:avLst/>
          </a:prstGeom>
          <a:noFill/>
        </p:spPr>
        <p:txBody>
          <a:bodyPr wrap="square" anchor="ctr">
            <a:spAutoFit/>
          </a:bodyPr>
          <a:lstStyle/>
          <a:p>
            <a:pPr algn="ctr">
              <a:defRPr sz="1600" b="1">
                <a:solidFill>
                  <a:srgbClr val="FFFFFF"/>
                </a:solidFill>
              </a:defRPr>
            </a:pPr>
            <a:r>
              <a:t>₹ 142.3 Cr</a:t>
            </a:r>
          </a:p>
        </p:txBody>
      </p:sp>
      <p:sp>
        <p:nvSpPr>
          <p:cNvPr id="18" name="TextBox 17"/>
          <p:cNvSpPr txBox="1"/>
          <p:nvPr/>
        </p:nvSpPr>
        <p:spPr>
          <a:xfrm>
            <a:off x="7095743" y="1417320"/>
            <a:ext cx="1828800" cy="182880"/>
          </a:xfrm>
          <a:prstGeom prst="rect">
            <a:avLst/>
          </a:prstGeom>
          <a:noFill/>
        </p:spPr>
        <p:txBody>
          <a:bodyPr wrap="none">
            <a:spAutoFit/>
          </a:bodyPr>
          <a:lstStyle/>
          <a:p>
            <a:pPr algn="ctr">
              <a:defRPr sz="800" b="0">
                <a:solidFill>
                  <a:srgbClr val="FFFFFF"/>
                </a:solidFill>
              </a:defRPr>
            </a:pPr>
            <a:r>
              <a:t>Latest PAT</a:t>
            </a:r>
          </a:p>
        </p:txBody>
      </p:sp>
      <p:graphicFrame>
        <p:nvGraphicFramePr>
          <p:cNvPr id="20" name="Chart 19"/>
          <p:cNvGraphicFramePr>
            <a:graphicFrameLocks noGrp="1"/>
          </p:cNvGraphicFramePr>
          <p:nvPr/>
        </p:nvGraphicFramePr>
        <p:xfrm>
          <a:off x="457200" y="2103120"/>
          <a:ext cx="457200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Chart 20"/>
          <p:cNvGraphicFramePr>
            <a:graphicFrameLocks noGrp="1"/>
          </p:cNvGraphicFramePr>
          <p:nvPr/>
        </p:nvGraphicFramePr>
        <p:xfrm>
          <a:off x="5212080" y="2103120"/>
          <a:ext cx="365760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INVESTMENT HIGHLIGHTS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pic>
        <p:nvPicPr>
          <p:cNvPr id="7" name="Picture 6" descr="clean_unsplash_3.jpg"/>
          <p:cNvPicPr>
            <a:picLocks noChangeAspect="1"/>
          </p:cNvPicPr>
          <p:nvPr/>
        </p:nvPicPr>
        <p:blipFill>
          <a:blip r:embed="rId3"/>
          <a:stretch>
            <a:fillRect/>
          </a:stretch>
        </p:blipFill>
        <p:spPr>
          <a:xfrm>
            <a:off x="457200" y="1097280"/>
            <a:ext cx="3200400" cy="3291840"/>
          </a:xfrm>
          <a:prstGeom prst="rect">
            <a:avLst/>
          </a:prstGeom>
        </p:spPr>
      </p:pic>
      <p:sp>
        <p:nvSpPr>
          <p:cNvPr id="8" name="Rounded Rectangle 7"/>
          <p:cNvSpPr/>
          <p:nvPr/>
        </p:nvSpPr>
        <p:spPr>
          <a:xfrm>
            <a:off x="3840480" y="1097280"/>
            <a:ext cx="5029200" cy="685800"/>
          </a:xfrm>
          <a:prstGeom prst="roundRect">
            <a:avLst/>
          </a:prstGeom>
          <a:solidFill>
            <a:srgbClr val="F8F9FC"/>
          </a:solidFill>
          <a:ln w="190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977639" y="1234439"/>
            <a:ext cx="411480" cy="411480"/>
          </a:xfrm>
          <a:prstGeom prst="ellipse">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143000"/>
            <a:ext cx="4206240" cy="594360"/>
          </a:xfrm>
          <a:prstGeom prst="rect">
            <a:avLst/>
          </a:prstGeom>
          <a:noFill/>
        </p:spPr>
        <p:txBody>
          <a:bodyPr wrap="square" lIns="45720" tIns="27432" rIns="45720" anchor="t">
            <a:spAutoFit/>
          </a:bodyPr>
          <a:lstStyle/>
          <a:p>
            <a:pPr>
              <a:lnSpc>
                <a:spcPct val="105000"/>
              </a:lnSpc>
              <a:defRPr sz="1000" b="1">
                <a:solidFill>
                  <a:srgbClr val="1A237E"/>
                </a:solidFill>
                <a:latin typeface="Arial"/>
              </a:defRPr>
            </a:pPr>
            <a:r>
              <a:t>Capitalizing on India’s Economic Ascendance</a:t>
            </a:r>
          </a:p>
          <a:p>
            <a:pPr>
              <a:lnSpc>
                <a:spcPct val="105000"/>
              </a:lnSpc>
              <a:spcBef>
                <a:spcPts val="300"/>
              </a:spcBef>
              <a:defRPr sz="800">
                <a:solidFill>
                  <a:srgbClr val="4A5568"/>
                </a:solidFill>
                <a:latin typeface="Arial"/>
              </a:defRPr>
            </a:pPr>
            <a:r>
              <a:t>Leveraging India's position as the world's 5th largest economy to capture a larger share of the global pharma market, where Asian firms currently hold only 10% of total market capitalization compared to 56% in the U.S.</a:t>
            </a:r>
          </a:p>
        </p:txBody>
      </p:sp>
      <p:sp>
        <p:nvSpPr>
          <p:cNvPr id="11" name="Rounded Rectangle 10"/>
          <p:cNvSpPr/>
          <p:nvPr/>
        </p:nvSpPr>
        <p:spPr>
          <a:xfrm>
            <a:off x="3840480" y="1810512"/>
            <a:ext cx="5029200" cy="685800"/>
          </a:xfrm>
          <a:prstGeom prst="roundRect">
            <a:avLst/>
          </a:prstGeom>
          <a:solidFill>
            <a:srgbClr val="FFFFFF"/>
          </a:solidFill>
          <a:ln w="190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977639" y="1947672"/>
            <a:ext cx="411480" cy="4114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856231"/>
            <a:ext cx="4206240" cy="594360"/>
          </a:xfrm>
          <a:prstGeom prst="rect">
            <a:avLst/>
          </a:prstGeom>
          <a:noFill/>
        </p:spPr>
        <p:txBody>
          <a:bodyPr wrap="square" lIns="45720" tIns="27432" rIns="45720" anchor="t">
            <a:spAutoFit/>
          </a:bodyPr>
          <a:lstStyle/>
          <a:p>
            <a:pPr>
              <a:lnSpc>
                <a:spcPct val="105000"/>
              </a:lnSpc>
              <a:defRPr sz="1000" b="1">
                <a:solidFill>
                  <a:srgbClr val="1A237E"/>
                </a:solidFill>
                <a:latin typeface="Arial"/>
              </a:defRPr>
            </a:pPr>
            <a:r>
              <a:t>Proven Operational Turnaround</a:t>
            </a:r>
          </a:p>
          <a:p>
            <a:pPr>
              <a:lnSpc>
                <a:spcPct val="105000"/>
              </a:lnSpc>
              <a:spcBef>
                <a:spcPts val="300"/>
              </a:spcBef>
              <a:defRPr sz="800">
                <a:solidFill>
                  <a:srgbClr val="4A5568"/>
                </a:solidFill>
                <a:latin typeface="Arial"/>
              </a:defRPr>
            </a:pPr>
            <a:r>
              <a:t>Demonstrated strong execution by achieving a positive PAT of ₹142.3 Cr in FY24 from previous losses, signaling optimized cost structures and a successful transition to a profitable business model.</a:t>
            </a:r>
          </a:p>
        </p:txBody>
      </p:sp>
      <p:sp>
        <p:nvSpPr>
          <p:cNvPr id="14" name="Rounded Rectangle 13"/>
          <p:cNvSpPr/>
          <p:nvPr/>
        </p:nvSpPr>
        <p:spPr>
          <a:xfrm>
            <a:off x="3840480" y="2523744"/>
            <a:ext cx="5029200" cy="685800"/>
          </a:xfrm>
          <a:prstGeom prst="roundRect">
            <a:avLst/>
          </a:prstGeom>
          <a:solidFill>
            <a:srgbClr val="F8F9FC"/>
          </a:solidFill>
          <a:ln w="190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977639" y="2660903"/>
            <a:ext cx="411480" cy="411480"/>
          </a:xfrm>
          <a:prstGeom prst="ellipse">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26280" y="2569463"/>
            <a:ext cx="4206240" cy="594360"/>
          </a:xfrm>
          <a:prstGeom prst="rect">
            <a:avLst/>
          </a:prstGeom>
          <a:noFill/>
        </p:spPr>
        <p:txBody>
          <a:bodyPr wrap="square" lIns="45720" tIns="27432" rIns="45720" anchor="t">
            <a:spAutoFit/>
          </a:bodyPr>
          <a:lstStyle/>
          <a:p>
            <a:pPr>
              <a:lnSpc>
                <a:spcPct val="105000"/>
              </a:lnSpc>
              <a:defRPr sz="1000" b="1">
                <a:solidFill>
                  <a:srgbClr val="1A237E"/>
                </a:solidFill>
                <a:latin typeface="Arial"/>
              </a:defRPr>
            </a:pPr>
            <a:r>
              <a:t>Global Sourcing &amp; Partnership Expansion</a:t>
            </a:r>
          </a:p>
          <a:p>
            <a:pPr>
              <a:lnSpc>
                <a:spcPct val="105000"/>
              </a:lnSpc>
              <a:spcBef>
                <a:spcPts val="300"/>
              </a:spcBef>
              <a:defRPr sz="800">
                <a:solidFill>
                  <a:srgbClr val="4A5568"/>
                </a:solidFill>
                <a:latin typeface="Arial"/>
              </a:defRPr>
            </a:pPr>
            <a:r>
              <a:t>Strategic alignment with global sourcing platforms and participation in premier forums like Pharmtech Expo 2026 to drive international partnerships and high-value export contracts in a value-expanding industry.</a:t>
            </a:r>
          </a:p>
        </p:txBody>
      </p:sp>
      <p:sp>
        <p:nvSpPr>
          <p:cNvPr id="17" name="Rounded Rectangle 16"/>
          <p:cNvSpPr/>
          <p:nvPr/>
        </p:nvSpPr>
        <p:spPr>
          <a:xfrm>
            <a:off x="3840480" y="3236976"/>
            <a:ext cx="5029200" cy="685800"/>
          </a:xfrm>
          <a:prstGeom prst="roundRect">
            <a:avLst/>
          </a:prstGeom>
          <a:solidFill>
            <a:srgbClr val="FFFFFF"/>
          </a:solidFill>
          <a:ln w="190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977639" y="3374136"/>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26280" y="3282696"/>
            <a:ext cx="4206240" cy="594360"/>
          </a:xfrm>
          <a:prstGeom prst="rect">
            <a:avLst/>
          </a:prstGeom>
          <a:noFill/>
        </p:spPr>
        <p:txBody>
          <a:bodyPr wrap="square" lIns="45720" tIns="27432" rIns="45720" anchor="t">
            <a:spAutoFit/>
          </a:bodyPr>
          <a:lstStyle/>
          <a:p>
            <a:pPr>
              <a:lnSpc>
                <a:spcPct val="105000"/>
              </a:lnSpc>
              <a:defRPr sz="1000" b="1">
                <a:solidFill>
                  <a:srgbClr val="1A237E"/>
                </a:solidFill>
                <a:latin typeface="Arial"/>
              </a:defRPr>
            </a:pPr>
            <a:r>
              <a:t>Strategic Entry Point for Global Players</a:t>
            </a:r>
          </a:p>
          <a:p>
            <a:pPr>
              <a:lnSpc>
                <a:spcPct val="105000"/>
              </a:lnSpc>
              <a:spcBef>
                <a:spcPts val="300"/>
              </a:spcBef>
              <a:defRPr sz="800">
                <a:solidFill>
                  <a:srgbClr val="4A5568"/>
                </a:solidFill>
                <a:latin typeface="Arial"/>
              </a:defRPr>
            </a:pPr>
            <a:r>
              <a:t>Offers a high-scale platform for U.S. and European drugmakers to establish a localized manufacturing footprint and gain immediate access to the rapidly growing Indian pharmaceutical ecosystem.</a:t>
            </a:r>
          </a:p>
        </p:txBody>
      </p:sp>
      <p:sp>
        <p:nvSpPr>
          <p:cNvPr id="20" name="Rounded Rectangle 19"/>
          <p:cNvSpPr/>
          <p:nvPr/>
        </p:nvSpPr>
        <p:spPr>
          <a:xfrm>
            <a:off x="3840480" y="3950208"/>
            <a:ext cx="5029200" cy="685800"/>
          </a:xfrm>
          <a:prstGeom prst="roundRect">
            <a:avLst/>
          </a:prstGeom>
          <a:solidFill>
            <a:srgbClr val="F8F9FC"/>
          </a:solidFill>
          <a:ln w="190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977639" y="4087368"/>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26280" y="3995928"/>
            <a:ext cx="4206240" cy="594360"/>
          </a:xfrm>
          <a:prstGeom prst="rect">
            <a:avLst/>
          </a:prstGeom>
          <a:noFill/>
        </p:spPr>
        <p:txBody>
          <a:bodyPr wrap="square" lIns="45720" tIns="27432" rIns="45720" anchor="t">
            <a:spAutoFit/>
          </a:bodyPr>
          <a:lstStyle/>
          <a:p>
            <a:pPr>
              <a:lnSpc>
                <a:spcPct val="105000"/>
              </a:lnSpc>
              <a:defRPr sz="1000" b="1">
                <a:solidFill>
                  <a:srgbClr val="1A237E"/>
                </a:solidFill>
                <a:latin typeface="Arial"/>
              </a:defRPr>
            </a:pPr>
            <a:r>
              <a:t>Value-Driven Industry Tailwinds</a:t>
            </a:r>
          </a:p>
          <a:p>
            <a:pPr>
              <a:lnSpc>
                <a:spcPct val="105000"/>
              </a:lnSpc>
              <a:spcBef>
                <a:spcPts val="300"/>
              </a:spcBef>
              <a:defRPr sz="800">
                <a:solidFill>
                  <a:srgbClr val="4A5568"/>
                </a:solidFill>
                <a:latin typeface="Arial"/>
              </a:defRPr>
            </a:pPr>
            <a:r>
              <a:t>Benefiting from the global pharmaceutical industry's shift toward value expansion and robust pricing power, ensuring sustainable margins and resilience against global volume fluctuations.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1A237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kelp_logo.png"/>
          <p:cNvPicPr>
            <a:picLocks noChangeAspect="1"/>
          </p:cNvPicPr>
          <p:nvPr/>
        </p:nvPicPr>
        <p:blipFill>
          <a:blip r:embed="rId2"/>
          <a:stretch>
            <a:fillRect/>
          </a:stretch>
        </p:blipFill>
        <p:spPr>
          <a:xfrm>
            <a:off x="457200" y="320040"/>
            <a:ext cx="2171508" cy="822960"/>
          </a:xfrm>
          <a:prstGeom prst="rect">
            <a:avLst/>
          </a:prstGeom>
        </p:spPr>
      </p:pic>
      <p:sp>
        <p:nvSpPr>
          <p:cNvPr id="4" name="TextBox 3"/>
          <p:cNvSpPr txBox="1"/>
          <p:nvPr/>
        </p:nvSpPr>
        <p:spPr>
          <a:xfrm>
            <a:off x="457200" y="1371600"/>
            <a:ext cx="8229600" cy="731520"/>
          </a:xfrm>
          <a:prstGeom prst="rect">
            <a:avLst/>
          </a:prstGeom>
          <a:noFill/>
        </p:spPr>
        <p:txBody>
          <a:bodyPr wrap="none">
            <a:spAutoFit/>
          </a:bodyPr>
          <a:lstStyle/>
          <a:p>
            <a:pPr>
              <a:defRPr sz="3600" b="0">
                <a:solidFill>
                  <a:srgbClr val="FFFFFF"/>
                </a:solidFill>
                <a:latin typeface="Arial"/>
              </a:defRPr>
            </a:pPr>
            <a:r>
              <a:t>Important Notice &amp; Disclaimer</a:t>
            </a:r>
          </a:p>
        </p:txBody>
      </p:sp>
      <p:sp>
        <p:nvSpPr>
          <p:cNvPr id="5" name="TextBox 4"/>
          <p:cNvSpPr txBox="1"/>
          <p:nvPr/>
        </p:nvSpPr>
        <p:spPr>
          <a:xfrm>
            <a:off x="457200" y="2011680"/>
            <a:ext cx="8229600" cy="2286000"/>
          </a:xfrm>
          <a:prstGeom prst="rect">
            <a:avLst/>
          </a:prstGeom>
          <a:noFill/>
        </p:spPr>
        <p:txBody>
          <a:bodyPr wrap="square">
            <a:spAutoFit/>
          </a:bodyPr>
          <a:lstStyle/>
          <a:p>
            <a:pPr algn="just">
              <a:defRPr sz="1100">
                <a:solidFill>
                  <a:srgbClr val="FFFFFF"/>
                </a:solidFill>
                <a:latin typeface="Arial"/>
              </a:defRPr>
            </a:pPr>
            <a: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a:t>
            </a:r>
          </a:p>
        </p:txBody>
      </p:sp>
      <p:sp>
        <p:nvSpPr>
          <p:cNvPr id="6" name="TextBox 5"/>
          <p:cNvSpPr txBox="1"/>
          <p:nvPr/>
        </p:nvSpPr>
        <p:spPr>
          <a:xfrm>
            <a:off x="457200" y="4572000"/>
            <a:ext cx="8229600" cy="274320"/>
          </a:xfrm>
          <a:prstGeom prst="rect">
            <a:avLst/>
          </a:prstGeom>
          <a:noFill/>
        </p:spPr>
        <p:txBody>
          <a:bodyPr wrap="none">
            <a:spAutoFit/>
          </a:bodyPr>
          <a:lstStyle/>
          <a:p>
            <a:pPr algn="ctr">
              <a:defRPr sz="900">
                <a:solidFill>
                  <a:srgbClr val="C8C8C8"/>
                </a:solidFil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467</Words>
  <Application>Microsoft Office PowerPoint</Application>
  <PresentationFormat>On-screen Show (16:9)</PresentationFormat>
  <Paragraphs>63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SHORYA SETHIA</cp:lastModifiedBy>
  <cp:revision>2</cp:revision>
  <dcterms:created xsi:type="dcterms:W3CDTF">2013-01-27T09:14:16Z</dcterms:created>
  <dcterms:modified xsi:type="dcterms:W3CDTF">2026-02-06T12:30:59Z</dcterms:modified>
  <cp:category/>
</cp:coreProperties>
</file>