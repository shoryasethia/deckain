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6" d="100"/>
          <a:sy n="96" d="100"/>
        </p:scale>
        <p:origin x="42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Revenue ($Mn)</c:v>
                </c:pt>
              </c:strCache>
            </c:strRef>
          </c:tx>
          <c:spPr>
            <a:solidFill>
              <a:srgbClr val="1A237E"/>
            </a:solidFill>
          </c:spPr>
          <c:invertIfNegative val="1"/>
          <c:dLbls>
            <c:numFmt formatCode="#,##0" sourceLinked="0"/>
            <c:spPr>
              <a:noFill/>
              <a:ln>
                <a:noFill/>
              </a:ln>
              <a:effectLst/>
            </c:spPr>
            <c:txPr>
              <a:bodyPr/>
              <a:lstStyle/>
              <a:p>
                <a:pPr>
                  <a:defRPr sz="800" b="1">
                    <a:solidFill>
                      <a:srgbClr val="334155"/>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FY14</c:v>
                </c:pt>
                <c:pt idx="1">
                  <c:v>FY15</c:v>
                </c:pt>
                <c:pt idx="2">
                  <c:v>FY16</c:v>
                </c:pt>
                <c:pt idx="3">
                  <c:v>FY17</c:v>
                </c:pt>
                <c:pt idx="4">
                  <c:v>FY18</c:v>
                </c:pt>
              </c:strCache>
            </c:strRef>
          </c:cat>
          <c:val>
            <c:numRef>
              <c:f>Sheet1!$B$2:$B$13</c:f>
              <c:numCache>
                <c:formatCode>General</c:formatCode>
                <c:ptCount val="12"/>
                <c:pt idx="0">
                  <c:v>11148.89</c:v>
                </c:pt>
                <c:pt idx="1">
                  <c:v>16481.099999999999</c:v>
                </c:pt>
                <c:pt idx="2">
                  <c:v>16670.259999999998</c:v>
                </c:pt>
                <c:pt idx="3">
                  <c:v>16909.93</c:v>
                </c:pt>
                <c:pt idx="4">
                  <c:v>17364.740000000002</c:v>
                </c:pt>
                <c:pt idx="5">
                  <c:v>18631.939999999999</c:v>
                </c:pt>
                <c:pt idx="6">
                  <c:v>17116.7</c:v>
                </c:pt>
                <c:pt idx="7">
                  <c:v>13142.4</c:v>
                </c:pt>
                <c:pt idx="8">
                  <c:v>14899.4</c:v>
                </c:pt>
                <c:pt idx="9">
                  <c:v>17231.7</c:v>
                </c:pt>
                <c:pt idx="10">
                  <c:v>16979.900000000001</c:v>
                </c:pt>
                <c:pt idx="11">
                  <c:v>15100.1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90D-4DE5-8696-D1672B4D86FF}"/>
            </c:ext>
          </c:extLst>
        </c:ser>
        <c:ser>
          <c:idx val="1"/>
          <c:order val="1"/>
          <c:tx>
            <c:strRef>
              <c:f>Sheet1!$C$1</c:f>
              <c:strCache>
                <c:ptCount val="1"/>
                <c:pt idx="0">
                  <c:v>EBITDA ($Mn)</c:v>
                </c:pt>
              </c:strCache>
            </c:strRef>
          </c:tx>
          <c:spPr>
            <a:solidFill>
              <a:srgbClr val="00D4FF"/>
            </a:solidFill>
          </c:spPr>
          <c:invertIfNegative val="1"/>
          <c:dLbls>
            <c:numFmt formatCode="#,##0" sourceLinked="0"/>
            <c:spPr>
              <a:noFill/>
              <a:ln>
                <a:noFill/>
              </a:ln>
              <a:effectLst/>
            </c:spPr>
            <c:txPr>
              <a:bodyPr/>
              <a:lstStyle/>
              <a:p>
                <a:pPr>
                  <a:defRPr sz="800" b="1">
                    <a:solidFill>
                      <a:srgbClr val="334155"/>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FY14</c:v>
                </c:pt>
                <c:pt idx="1">
                  <c:v>FY15</c:v>
                </c:pt>
                <c:pt idx="2">
                  <c:v>FY16</c:v>
                </c:pt>
                <c:pt idx="3">
                  <c:v>FY17</c:v>
                </c:pt>
                <c:pt idx="4">
                  <c:v>FY18</c:v>
                </c:pt>
              </c:strCache>
            </c:strRef>
          </c:cat>
          <c:val>
            <c:numRef>
              <c:f>Sheet1!$C$2:$C$13</c:f>
              <c:numCache>
                <c:formatCode>General</c:formatCode>
                <c:ptCount val="12"/>
                <c:pt idx="0">
                  <c:v>824.32</c:v>
                </c:pt>
                <c:pt idx="1">
                  <c:v>1392.4999999999991</c:v>
                </c:pt>
                <c:pt idx="2">
                  <c:v>1308.4000000000021</c:v>
                </c:pt>
                <c:pt idx="3">
                  <c:v>959.32999999999868</c:v>
                </c:pt>
                <c:pt idx="4">
                  <c:v>770.97</c:v>
                </c:pt>
                <c:pt idx="5">
                  <c:v>942.94999999999936</c:v>
                </c:pt>
                <c:pt idx="6">
                  <c:v>356.50000000000068</c:v>
                </c:pt>
                <c:pt idx="7">
                  <c:v>271.49999999999966</c:v>
                </c:pt>
                <c:pt idx="8">
                  <c:v>343.9</c:v>
                </c:pt>
                <c:pt idx="9">
                  <c:v>700.40000000000146</c:v>
                </c:pt>
                <c:pt idx="10">
                  <c:v>518.99999999999989</c:v>
                </c:pt>
                <c:pt idx="11">
                  <c:v>645.10000000000048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190D-4DE5-8696-D1672B4D86FF}"/>
            </c:ext>
          </c:extLst>
        </c:ser>
        <c:ser>
          <c:idx val="2"/>
          <c:order val="2"/>
          <c:tx>
            <c:strRef>
              <c:f>Sheet1!$D$1</c:f>
              <c:strCache>
                <c:ptCount val="1"/>
                <c:pt idx="0">
                  <c:v>PAT ($Mn)</c:v>
                </c:pt>
              </c:strCache>
            </c:strRef>
          </c:tx>
          <c:spPr>
            <a:solidFill>
              <a:srgbClr val="FF4B91"/>
            </a:solidFill>
          </c:spPr>
          <c:invertIfNegative val="1"/>
          <c:dLbls>
            <c:numFmt formatCode="#,##0" sourceLinked="0"/>
            <c:spPr>
              <a:noFill/>
              <a:ln>
                <a:noFill/>
              </a:ln>
              <a:effectLst/>
            </c:spPr>
            <c:txPr>
              <a:bodyPr/>
              <a:lstStyle/>
              <a:p>
                <a:pPr>
                  <a:defRPr sz="800" b="1">
                    <a:solidFill>
                      <a:srgbClr val="334155"/>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FY14</c:v>
                </c:pt>
                <c:pt idx="1">
                  <c:v>FY15</c:v>
                </c:pt>
                <c:pt idx="2">
                  <c:v>FY16</c:v>
                </c:pt>
                <c:pt idx="3">
                  <c:v>FY17</c:v>
                </c:pt>
                <c:pt idx="4">
                  <c:v>FY18</c:v>
                </c:pt>
              </c:strCache>
            </c:strRef>
          </c:cat>
          <c:val>
            <c:numRef>
              <c:f>Sheet1!$D$2:$D$13</c:f>
              <c:numCache>
                <c:formatCode>General</c:formatCode>
                <c:ptCount val="12"/>
                <c:pt idx="0">
                  <c:v>283.16999999999996</c:v>
                </c:pt>
                <c:pt idx="1">
                  <c:v>595.15999999999906</c:v>
                </c:pt>
                <c:pt idx="2">
                  <c:v>492.3200000000021</c:v>
                </c:pt>
                <c:pt idx="3">
                  <c:v>171.50999999999868</c:v>
                </c:pt>
                <c:pt idx="4">
                  <c:v>627.06999999999994</c:v>
                </c:pt>
                <c:pt idx="5">
                  <c:v>230.32999999999942</c:v>
                </c:pt>
                <c:pt idx="6">
                  <c:v>-842.69999999999925</c:v>
                </c:pt>
                <c:pt idx="7">
                  <c:v>-410.70000000000039</c:v>
                </c:pt>
                <c:pt idx="8">
                  <c:v>-164.8</c:v>
                </c:pt>
                <c:pt idx="9">
                  <c:v>-118.69999999999854</c:v>
                </c:pt>
                <c:pt idx="10">
                  <c:v>-283.7</c:v>
                </c:pt>
                <c:pt idx="11">
                  <c:v>-186.19999999999965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190D-4DE5-8696-D1672B4D86FF}"/>
            </c:ext>
          </c:extLst>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none"/>
        <c:minorTickMark val="none"/>
        <c:tickLblPos val="nextTo"/>
        <c:txPr>
          <a:bodyPr/>
          <a:lstStyle/>
          <a:p>
            <a:pPr>
              <a:defRPr sz="800" b="0"/>
            </a:pPr>
            <a:endParaRPr lang="en-US"/>
          </a:p>
        </c:txPr>
        <c:crossAx val="-2113994440"/>
        <c:crosses val="autoZero"/>
        <c:auto val="1"/>
        <c:lblAlgn val="ctr"/>
        <c:lblOffset val="100"/>
        <c:noMultiLvlLbl val="0"/>
      </c:catAx>
      <c:valAx>
        <c:axId val="-2113994440"/>
        <c:scaling>
          <c:orientation val="minMax"/>
        </c:scaling>
        <c:delete val="0"/>
        <c:axPos val="l"/>
        <c:majorGridlines>
          <c:spPr>
            <a:ln w="6350">
              <a:solidFill>
                <a:srgbClr val="E2E8F0"/>
              </a:solidFill>
            </a:ln>
          </c:spPr>
        </c:majorGridlines>
        <c:numFmt formatCode="#,##0" sourceLinked="0"/>
        <c:majorTickMark val="out"/>
        <c:minorTickMark val="none"/>
        <c:tickLblPos val="nextTo"/>
        <c:txPr>
          <a:bodyPr/>
          <a:lstStyle/>
          <a:p>
            <a:pPr>
              <a:defRPr sz="800">
                <a:solidFill>
                  <a:srgbClr val="64748B"/>
                </a:solidFill>
              </a:defRPr>
            </a:pPr>
            <a:endParaRPr lang="en-US"/>
          </a:p>
        </c:txPr>
        <c:crossAx val="-2068027336"/>
        <c:crosses val="autoZero"/>
        <c:crossBetween val="between"/>
      </c:valAx>
    </c:plotArea>
    <c:legend>
      <c:legendPos val="b"/>
      <c:overlay val="0"/>
      <c:txPr>
        <a:bodyPr/>
        <a:lstStyle/>
        <a:p>
          <a:pPr>
            <a:defRPr sz="900"/>
          </a:pPr>
          <a:endParaRPr lang="en-US"/>
        </a:p>
      </c:txPr>
    </c:legend>
    <c:plotVisOnly val="1"/>
    <c:dispBlanksAs val="gap"/>
    <c:showDLblsOverMax val="1"/>
  </c:chart>
  <c:txPr>
    <a:bodyPr/>
    <a:lstStyle/>
    <a:p>
      <a:pPr>
        <a:defRPr sz="900">
          <a:solidFill>
            <a:srgbClr val="4A5568"/>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lineChart>
        <c:grouping val="standard"/>
        <c:varyColors val="0"/>
        <c:ser>
          <c:idx val="0"/>
          <c:order val="0"/>
          <c:tx>
            <c:strRef>
              <c:f>Sheet1!$B$1</c:f>
              <c:strCache>
                <c:ptCount val="1"/>
                <c:pt idx="0">
                  <c:v>EBITDA Margin %</c:v>
                </c:pt>
              </c:strCache>
            </c:strRef>
          </c:tx>
          <c:spPr>
            <a:ln w="31750">
              <a:solidFill>
                <a:srgbClr val="FF4B91"/>
              </a:solidFill>
            </a:ln>
          </c:spPr>
          <c:marker>
            <c:symbol val="none"/>
          </c:marker>
          <c:dLbls>
            <c:numFmt formatCode="#,##0" sourceLinked="0"/>
            <c:spPr>
              <a:noFill/>
              <a:ln>
                <a:noFill/>
              </a:ln>
              <a:effectLst/>
            </c:spPr>
            <c:txPr>
              <a:bodyPr/>
              <a:lstStyle/>
              <a:p>
                <a:pPr>
                  <a:defRPr sz="800" b="1">
                    <a:solidFill>
                      <a:srgbClr val="334155"/>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FY14</c:v>
                </c:pt>
                <c:pt idx="1">
                  <c:v>FY15</c:v>
                </c:pt>
                <c:pt idx="2">
                  <c:v>FY16</c:v>
                </c:pt>
                <c:pt idx="3">
                  <c:v>FY17</c:v>
                </c:pt>
                <c:pt idx="4">
                  <c:v>FY18</c:v>
                </c:pt>
              </c:strCache>
            </c:strRef>
          </c:cat>
          <c:val>
            <c:numRef>
              <c:f>Sheet1!$B$2:$B$13</c:f>
              <c:numCache>
                <c:formatCode>General</c:formatCode>
                <c:ptCount val="12"/>
                <c:pt idx="0">
                  <c:v>7.4</c:v>
                </c:pt>
                <c:pt idx="1">
                  <c:v>8.4</c:v>
                </c:pt>
                <c:pt idx="2">
                  <c:v>7.8</c:v>
                </c:pt>
                <c:pt idx="3">
                  <c:v>5.7</c:v>
                </c:pt>
                <c:pt idx="4">
                  <c:v>4.4000000000000004</c:v>
                </c:pt>
                <c:pt idx="5">
                  <c:v>5.0999999999999996</c:v>
                </c:pt>
                <c:pt idx="6">
                  <c:v>2.1</c:v>
                </c:pt>
                <c:pt idx="7">
                  <c:v>2.1</c:v>
                </c:pt>
                <c:pt idx="8">
                  <c:v>2.2999999999999998</c:v>
                </c:pt>
                <c:pt idx="9">
                  <c:v>4.0999999999999996</c:v>
                </c:pt>
                <c:pt idx="10">
                  <c:v>3.1</c:v>
                </c:pt>
                <c:pt idx="11">
                  <c:v>4.3</c:v>
                </c:pt>
              </c:numCache>
            </c:numRef>
          </c:val>
          <c:smooth val="1"/>
          <c:extLst>
            <c:ext xmlns:c16="http://schemas.microsoft.com/office/drawing/2014/chart" uri="{C3380CC4-5D6E-409C-BE32-E72D297353CC}">
              <c16:uniqueId val="{00000000-5C94-4B92-847D-30FB3DBBEAFE}"/>
            </c:ext>
          </c:extLst>
        </c:ser>
        <c:dLbls>
          <c:showLegendKey val="0"/>
          <c:showVal val="1"/>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extTo"/>
        <c:txPr>
          <a:bodyPr/>
          <a:lstStyle/>
          <a:p>
            <a:pPr>
              <a:defRPr sz="800" b="0"/>
            </a:pPr>
            <a:endParaRPr lang="en-US"/>
          </a:p>
        </c:txPr>
        <c:crossAx val="2140495176"/>
        <c:crosses val="autoZero"/>
        <c:auto val="1"/>
        <c:lblAlgn val="ctr"/>
        <c:lblOffset val="100"/>
        <c:noMultiLvlLbl val="0"/>
      </c:catAx>
      <c:valAx>
        <c:axId val="2140495176"/>
        <c:scaling>
          <c:orientation val="minMax"/>
        </c:scaling>
        <c:delete val="0"/>
        <c:axPos val="l"/>
        <c:majorGridlines>
          <c:spPr>
            <a:ln w="6350">
              <a:solidFill>
                <a:srgbClr val="E2E8F0"/>
              </a:solidFill>
            </a:ln>
          </c:spPr>
        </c:majorGridlines>
        <c:numFmt formatCode="#,##0" sourceLinked="0"/>
        <c:majorTickMark val="out"/>
        <c:minorTickMark val="none"/>
        <c:tickLblPos val="nextTo"/>
        <c:txPr>
          <a:bodyPr/>
          <a:lstStyle/>
          <a:p>
            <a:pPr>
              <a:defRPr sz="800">
                <a:solidFill>
                  <a:srgbClr val="64748B"/>
                </a:solidFill>
              </a:defRPr>
            </a:pPr>
            <a:endParaRPr lang="en-US"/>
          </a:p>
        </c:txPr>
        <c:crossAx val="2118791784"/>
        <c:crosses val="autoZero"/>
        <c:crossBetween val="between"/>
      </c:valAx>
    </c:plotArea>
    <c:legend>
      <c:legendPos val="b"/>
      <c:overlay val="0"/>
      <c:txPr>
        <a:bodyPr/>
        <a:lstStyle/>
        <a:p>
          <a:pPr>
            <a:defRPr sz="900"/>
          </a:pPr>
          <a:endParaRPr lang="en-US"/>
        </a:p>
      </c:txPr>
    </c:legend>
    <c:plotVisOnly val="1"/>
    <c:dispBlanksAs val="gap"/>
    <c:showDLblsOverMax val="0"/>
  </c:chart>
  <c:txPr>
    <a:bodyPr/>
    <a:lstStyle/>
    <a:p>
      <a:pPr>
        <a:defRPr sz="900">
          <a:solidFill>
            <a:srgbClr val="4A5568"/>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8072"/>
          </a:xfrm>
          <a:prstGeom prst="rect">
            <a:avLst/>
          </a:prstGeom>
          <a:solidFill>
            <a:srgbClr val="2D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77240" cy="5148072"/>
          </a:xfrm>
          <a:prstGeom prst="rect">
            <a:avLst/>
          </a:prstGeom>
          <a:solidFill>
            <a:srgbClr val="003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0"/>
            <a:ext cx="4114800" cy="2926080"/>
          </a:xfrm>
          <a:prstGeom prst="rect">
            <a:avLst/>
          </a:prstGeom>
          <a:solidFill>
            <a:srgbClr val="D11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Isosceles Triangle 4"/>
          <p:cNvSpPr/>
          <p:nvPr/>
        </p:nvSpPr>
        <p:spPr>
          <a:xfrm rot="2700000">
            <a:off x="1097280" y="2560320"/>
            <a:ext cx="3200400" cy="2743200"/>
          </a:xfrm>
          <a:prstGeom prst="triangle">
            <a:avLst/>
          </a:prstGeom>
          <a:solidFill>
            <a:srgbClr val="D11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kelp_logo.png"/>
          <p:cNvPicPr>
            <a:picLocks noChangeAspect="1"/>
          </p:cNvPicPr>
          <p:nvPr/>
        </p:nvPicPr>
        <p:blipFill>
          <a:blip r:embed="rId2"/>
          <a:stretch>
            <a:fillRect/>
          </a:stretch>
        </p:blipFill>
        <p:spPr>
          <a:xfrm>
            <a:off x="1371600" y="320040"/>
            <a:ext cx="2171508" cy="822960"/>
          </a:xfrm>
          <a:prstGeom prst="rect">
            <a:avLst/>
          </a:prstGeom>
        </p:spPr>
      </p:pic>
      <p:sp>
        <p:nvSpPr>
          <p:cNvPr id="7" name="TextBox 6"/>
          <p:cNvSpPr txBox="1"/>
          <p:nvPr/>
        </p:nvSpPr>
        <p:spPr>
          <a:xfrm>
            <a:off x="1371600" y="1463040"/>
            <a:ext cx="6858000" cy="1371600"/>
          </a:xfrm>
          <a:prstGeom prst="rect">
            <a:avLst/>
          </a:prstGeom>
          <a:noFill/>
        </p:spPr>
        <p:txBody>
          <a:bodyPr wrap="none">
            <a:spAutoFit/>
          </a:bodyPr>
          <a:lstStyle/>
          <a:p>
            <a:pPr>
              <a:lnSpc>
                <a:spcPct val="100000"/>
              </a:lnSpc>
              <a:defRPr sz="7200" b="1">
                <a:solidFill>
                  <a:srgbClr val="FFFFFF"/>
                </a:solidFill>
                <a:latin typeface="Arial"/>
              </a:defRPr>
            </a:pPr>
            <a:r>
              <a:t>Project Swift</a:t>
            </a:r>
          </a:p>
        </p:txBody>
      </p:sp>
      <p:sp>
        <p:nvSpPr>
          <p:cNvPr id="8" name="TextBox 7"/>
          <p:cNvSpPr txBox="1"/>
          <p:nvPr/>
        </p:nvSpPr>
        <p:spPr>
          <a:xfrm>
            <a:off x="1371600" y="3474720"/>
            <a:ext cx="4572000" cy="548640"/>
          </a:xfrm>
          <a:prstGeom prst="rect">
            <a:avLst/>
          </a:prstGeom>
          <a:noFill/>
        </p:spPr>
        <p:txBody>
          <a:bodyPr wrap="none">
            <a:spAutoFit/>
          </a:bodyPr>
          <a:lstStyle/>
          <a:p>
            <a:pPr>
              <a:defRPr sz="2400" b="1">
                <a:solidFill>
                  <a:srgbClr val="FFFFFF"/>
                </a:solidFill>
                <a:latin typeface="Arial"/>
              </a:defRPr>
            </a:pPr>
            <a:r>
              <a:t>Investment Brief</a:t>
            </a:r>
          </a:p>
        </p:txBody>
      </p:sp>
      <p:sp>
        <p:nvSpPr>
          <p:cNvPr id="9" name="TextBox 8"/>
          <p:cNvSpPr txBox="1"/>
          <p:nvPr/>
        </p:nvSpPr>
        <p:spPr>
          <a:xfrm>
            <a:off x="1371600" y="4023360"/>
            <a:ext cx="3657600" cy="365760"/>
          </a:xfrm>
          <a:prstGeom prst="rect">
            <a:avLst/>
          </a:prstGeom>
          <a:noFill/>
        </p:spPr>
        <p:txBody>
          <a:bodyPr wrap="none">
            <a:spAutoFit/>
          </a:bodyPr>
          <a:lstStyle/>
          <a:p>
            <a:pPr>
              <a:defRPr sz="1400" i="1">
                <a:solidFill>
                  <a:srgbClr val="C8C8C8"/>
                </a:solidFill>
                <a:latin typeface="Arial"/>
              </a:defRPr>
            </a:pPr>
            <a:r>
              <a:t>kelpglobal.com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37160"/>
            <a:ext cx="5486400" cy="457200"/>
          </a:xfrm>
          <a:prstGeom prst="rect">
            <a:avLst/>
          </a:prstGeom>
          <a:noFill/>
        </p:spPr>
        <p:txBody>
          <a:bodyPr wrap="none">
            <a:spAutoFit/>
          </a:bodyPr>
          <a:lstStyle/>
          <a:p>
            <a:pPr>
              <a:defRPr sz="2000" b="1">
                <a:solidFill>
                  <a:srgbClr val="FFFFFF"/>
                </a:solidFill>
                <a:latin typeface="Arial"/>
              </a:defRPr>
            </a:pPr>
            <a:r>
              <a:t>BUSINESS OVERVIEW</a:t>
            </a:r>
          </a:p>
        </p:txBody>
      </p:sp>
      <p:pic>
        <p:nvPicPr>
          <p:cNvPr id="4" name="Picture 3" descr="kelp_logo.png"/>
          <p:cNvPicPr>
            <a:picLocks noChangeAspect="1"/>
          </p:cNvPicPr>
          <p:nvPr/>
        </p:nvPicPr>
        <p:blipFill>
          <a:blip r:embed="rId2"/>
          <a:stretch>
            <a:fillRect/>
          </a:stretch>
        </p:blipFill>
        <p:spPr>
          <a:xfrm>
            <a:off x="7589520" y="91440"/>
            <a:ext cx="1447672" cy="548640"/>
          </a:xfrm>
          <a:prstGeom prst="rect">
            <a:avLst/>
          </a:prstGeom>
        </p:spPr>
      </p:pic>
      <p:sp>
        <p:nvSpPr>
          <p:cNvPr id="5" name="Rectangle 4"/>
          <p:cNvSpPr/>
          <p:nvPr/>
        </p:nvSpPr>
        <p:spPr>
          <a:xfrm>
            <a:off x="0" y="4846320"/>
            <a:ext cx="9144000" cy="30175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4892040"/>
            <a:ext cx="8229600" cy="228600"/>
          </a:xfrm>
          <a:prstGeom prst="rect">
            <a:avLst/>
          </a:prstGeom>
          <a:noFill/>
        </p:spPr>
        <p:txBody>
          <a:bodyPr wrap="none">
            <a:spAutoFit/>
          </a:bodyPr>
          <a:lstStyle/>
          <a:p>
            <a:pPr algn="ctr">
              <a:defRPr sz="900">
                <a:solidFill>
                  <a:srgbClr val="646464"/>
                </a:solidFill>
              </a:defRPr>
            </a:pPr>
            <a:r>
              <a:t>Strictly Private &amp; Confidential – Prepared by Kelp M&amp;A Team</a:t>
            </a:r>
          </a:p>
        </p:txBody>
      </p:sp>
      <p:sp>
        <p:nvSpPr>
          <p:cNvPr id="7" name="TextBox 6"/>
          <p:cNvSpPr txBox="1"/>
          <p:nvPr/>
        </p:nvSpPr>
        <p:spPr>
          <a:xfrm>
            <a:off x="548640" y="960120"/>
            <a:ext cx="5303520" cy="960120"/>
          </a:xfrm>
          <a:prstGeom prst="rect">
            <a:avLst/>
          </a:prstGeom>
          <a:noFill/>
        </p:spPr>
        <p:txBody>
          <a:bodyPr wrap="square">
            <a:spAutoFit/>
          </a:bodyPr>
          <a:lstStyle/>
          <a:p>
            <a:pPr algn="l">
              <a:defRPr sz="900" b="0">
                <a:solidFill>
                  <a:srgbClr val="4A5568"/>
                </a:solidFill>
                <a:latin typeface="Arial"/>
              </a:defRPr>
            </a:pPr>
            <a:r>
              <a:t>The Company is a premier logistics and supply chain management player specializing in express distribution and integrated transportation solutions. It operates an extensive network across India, serving a diverse B2B client base in sectors such as e-commerce, automotive, and chemicals. Core capabilities include tech-enabled real-time tracking, sophisticated warehousing management, and specialized supply chain optimization with over three decades of operational expertise.</a:t>
            </a:r>
          </a:p>
        </p:txBody>
      </p:sp>
      <p:sp>
        <p:nvSpPr>
          <p:cNvPr id="8" name="TextBox 7"/>
          <p:cNvSpPr txBox="1"/>
          <p:nvPr/>
        </p:nvSpPr>
        <p:spPr>
          <a:xfrm>
            <a:off x="640080" y="2057400"/>
            <a:ext cx="5120640" cy="274320"/>
          </a:xfrm>
          <a:prstGeom prst="rect">
            <a:avLst/>
          </a:prstGeom>
          <a:noFill/>
        </p:spPr>
        <p:txBody>
          <a:bodyPr wrap="square">
            <a:spAutoFit/>
          </a:bodyPr>
          <a:lstStyle/>
          <a:p>
            <a:pPr algn="l">
              <a:defRPr sz="850" b="0">
                <a:solidFill>
                  <a:srgbClr val="4A5568"/>
                </a:solidFill>
                <a:latin typeface="Arial"/>
              </a:defRPr>
            </a:pPr>
            <a:r>
              <a:t>■ Extensive pan-India network covering major industrial hubs and commercial centers across the country</a:t>
            </a:r>
          </a:p>
        </p:txBody>
      </p:sp>
      <p:sp>
        <p:nvSpPr>
          <p:cNvPr id="9" name="TextBox 8"/>
          <p:cNvSpPr txBox="1"/>
          <p:nvPr/>
        </p:nvSpPr>
        <p:spPr>
          <a:xfrm>
            <a:off x="640080" y="2313432"/>
            <a:ext cx="5120640" cy="274320"/>
          </a:xfrm>
          <a:prstGeom prst="rect">
            <a:avLst/>
          </a:prstGeom>
          <a:noFill/>
        </p:spPr>
        <p:txBody>
          <a:bodyPr wrap="square">
            <a:spAutoFit/>
          </a:bodyPr>
          <a:lstStyle/>
          <a:p>
            <a:pPr algn="l">
              <a:defRPr sz="850" b="0">
                <a:solidFill>
                  <a:srgbClr val="4A5568"/>
                </a:solidFill>
                <a:latin typeface="Arial"/>
              </a:defRPr>
            </a:pPr>
            <a:r>
              <a:t>■ Advanced technology integration providing real-time tracking and end-to-end supply chain visibility</a:t>
            </a:r>
          </a:p>
        </p:txBody>
      </p:sp>
      <p:sp>
        <p:nvSpPr>
          <p:cNvPr id="10" name="TextBox 9"/>
          <p:cNvSpPr txBox="1"/>
          <p:nvPr/>
        </p:nvSpPr>
        <p:spPr>
          <a:xfrm>
            <a:off x="640080" y="2569464"/>
            <a:ext cx="5120640" cy="274320"/>
          </a:xfrm>
          <a:prstGeom prst="rect">
            <a:avLst/>
          </a:prstGeom>
          <a:noFill/>
        </p:spPr>
        <p:txBody>
          <a:bodyPr wrap="square">
            <a:spAutoFit/>
          </a:bodyPr>
          <a:lstStyle/>
          <a:p>
            <a:pPr algn="l">
              <a:defRPr sz="850" b="0">
                <a:solidFill>
                  <a:srgbClr val="4A5568"/>
                </a:solidFill>
                <a:latin typeface="Arial"/>
              </a:defRPr>
            </a:pPr>
            <a:r>
              <a:t>■ Diverse service portfolio catering to high-growth sectors including E-commerce, Pharma, and Automotive</a:t>
            </a:r>
          </a:p>
        </p:txBody>
      </p:sp>
      <p:sp>
        <p:nvSpPr>
          <p:cNvPr id="11" name="TextBox 10"/>
          <p:cNvSpPr txBox="1"/>
          <p:nvPr/>
        </p:nvSpPr>
        <p:spPr>
          <a:xfrm>
            <a:off x="640080" y="2825496"/>
            <a:ext cx="5120640" cy="274320"/>
          </a:xfrm>
          <a:prstGeom prst="rect">
            <a:avLst/>
          </a:prstGeom>
          <a:noFill/>
        </p:spPr>
        <p:txBody>
          <a:bodyPr wrap="square">
            <a:spAutoFit/>
          </a:bodyPr>
          <a:lstStyle/>
          <a:p>
            <a:pPr algn="l">
              <a:defRPr sz="850" b="0">
                <a:solidFill>
                  <a:srgbClr val="4A5568"/>
                </a:solidFill>
                <a:latin typeface="Arial"/>
              </a:defRPr>
            </a:pPr>
            <a:r>
              <a:t>■ Strong commitment to sustainability with over 25,310 tons of CO2 emissions saved through optimized operations</a:t>
            </a:r>
          </a:p>
        </p:txBody>
      </p:sp>
      <p:sp>
        <p:nvSpPr>
          <p:cNvPr id="12" name="TextBox 11"/>
          <p:cNvSpPr txBox="1"/>
          <p:nvPr/>
        </p:nvSpPr>
        <p:spPr>
          <a:xfrm>
            <a:off x="457200" y="3154680"/>
            <a:ext cx="5486400" cy="457200"/>
          </a:xfrm>
          <a:prstGeom prst="rect">
            <a:avLst/>
          </a:prstGeom>
          <a:noFill/>
        </p:spPr>
        <p:txBody>
          <a:bodyPr wrap="none">
            <a:spAutoFit/>
          </a:bodyPr>
          <a:lstStyle/>
          <a:p>
            <a:pPr>
              <a:defRPr sz="1400" b="1">
                <a:solidFill>
                  <a:srgbClr val="1A237E"/>
                </a:solidFill>
                <a:latin typeface="Arial"/>
              </a:defRPr>
            </a:pPr>
            <a:r>
              <a:t>PRODUCT SEGMENTS</a:t>
            </a:r>
          </a:p>
        </p:txBody>
      </p:sp>
      <p:sp>
        <p:nvSpPr>
          <p:cNvPr id="13" name="Rectangle 12"/>
          <p:cNvSpPr/>
          <p:nvPr/>
        </p:nvSpPr>
        <p:spPr>
          <a:xfrm>
            <a:off x="457200" y="3474720"/>
            <a:ext cx="5486400" cy="27432"/>
          </a:xfrm>
          <a:prstGeom prst="rect">
            <a:avLst/>
          </a:prstGeom>
          <a:solidFill>
            <a:srgbClr val="FF4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48640" y="3610024"/>
            <a:ext cx="2560320" cy="237744"/>
          </a:xfrm>
          <a:prstGeom prst="roundRect">
            <a:avLst/>
          </a:prstGeom>
          <a:solidFill>
            <a:srgbClr val="F0F5FF"/>
          </a:solidFill>
          <a:ln w="9525">
            <a:solidFill>
              <a:srgbClr val="C8D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03503" y="3646600"/>
            <a:ext cx="2377440" cy="164592"/>
          </a:xfrm>
          <a:prstGeom prst="rect">
            <a:avLst/>
          </a:prstGeom>
          <a:noFill/>
        </p:spPr>
        <p:txBody>
          <a:bodyPr wrap="none">
            <a:spAutoFit/>
          </a:bodyPr>
          <a:lstStyle/>
          <a:p>
            <a:pPr algn="ctr">
              <a:defRPr sz="800">
                <a:solidFill>
                  <a:srgbClr val="333333"/>
                </a:solidFill>
                <a:latin typeface="Arial"/>
              </a:defRPr>
            </a:pPr>
            <a:r>
              <a:t>Express Distribution</a:t>
            </a:r>
          </a:p>
        </p:txBody>
      </p:sp>
      <p:sp>
        <p:nvSpPr>
          <p:cNvPr id="16" name="Rounded Rectangle 15"/>
          <p:cNvSpPr/>
          <p:nvPr/>
        </p:nvSpPr>
        <p:spPr>
          <a:xfrm>
            <a:off x="3291840" y="3610024"/>
            <a:ext cx="2560320" cy="237744"/>
          </a:xfrm>
          <a:prstGeom prst="roundRect">
            <a:avLst/>
          </a:prstGeom>
          <a:solidFill>
            <a:srgbClr val="F0F5FF"/>
          </a:solidFill>
          <a:ln w="9525">
            <a:solidFill>
              <a:srgbClr val="C8D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46704" y="3646600"/>
            <a:ext cx="2377440" cy="164592"/>
          </a:xfrm>
          <a:prstGeom prst="rect">
            <a:avLst/>
          </a:prstGeom>
          <a:noFill/>
        </p:spPr>
        <p:txBody>
          <a:bodyPr wrap="none">
            <a:spAutoFit/>
          </a:bodyPr>
          <a:lstStyle/>
          <a:p>
            <a:pPr algn="ctr">
              <a:defRPr sz="800">
                <a:solidFill>
                  <a:srgbClr val="333333"/>
                </a:solidFill>
                <a:latin typeface="Arial"/>
              </a:defRPr>
            </a:pPr>
            <a:r>
              <a:t>Supply Chain Solutions</a:t>
            </a:r>
          </a:p>
        </p:txBody>
      </p:sp>
      <p:sp>
        <p:nvSpPr>
          <p:cNvPr id="18" name="Rounded Rectangle 17"/>
          <p:cNvSpPr/>
          <p:nvPr/>
        </p:nvSpPr>
        <p:spPr>
          <a:xfrm>
            <a:off x="548640" y="3902632"/>
            <a:ext cx="2560320" cy="237744"/>
          </a:xfrm>
          <a:prstGeom prst="roundRect">
            <a:avLst/>
          </a:prstGeom>
          <a:solidFill>
            <a:srgbClr val="F0F5FF"/>
          </a:solidFill>
          <a:ln w="9525">
            <a:solidFill>
              <a:srgbClr val="C8D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03503" y="3939208"/>
            <a:ext cx="2377440" cy="164592"/>
          </a:xfrm>
          <a:prstGeom prst="rect">
            <a:avLst/>
          </a:prstGeom>
          <a:noFill/>
        </p:spPr>
        <p:txBody>
          <a:bodyPr wrap="none">
            <a:spAutoFit/>
          </a:bodyPr>
          <a:lstStyle/>
          <a:p>
            <a:pPr algn="ctr">
              <a:defRPr sz="800">
                <a:solidFill>
                  <a:srgbClr val="333333"/>
                </a:solidFill>
                <a:latin typeface="Arial"/>
              </a:defRPr>
            </a:pPr>
            <a:r>
              <a:t>Warehousing</a:t>
            </a:r>
          </a:p>
        </p:txBody>
      </p:sp>
      <p:sp>
        <p:nvSpPr>
          <p:cNvPr id="20" name="Rounded Rectangle 19"/>
          <p:cNvSpPr/>
          <p:nvPr/>
        </p:nvSpPr>
        <p:spPr>
          <a:xfrm>
            <a:off x="3291840" y="3902632"/>
            <a:ext cx="2560320" cy="237744"/>
          </a:xfrm>
          <a:prstGeom prst="roundRect">
            <a:avLst/>
          </a:prstGeom>
          <a:solidFill>
            <a:srgbClr val="F0F5FF"/>
          </a:solidFill>
          <a:ln w="9525">
            <a:solidFill>
              <a:srgbClr val="C8D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346704" y="3939208"/>
            <a:ext cx="2377440" cy="164592"/>
          </a:xfrm>
          <a:prstGeom prst="rect">
            <a:avLst/>
          </a:prstGeom>
          <a:noFill/>
        </p:spPr>
        <p:txBody>
          <a:bodyPr wrap="none">
            <a:spAutoFit/>
          </a:bodyPr>
          <a:lstStyle/>
          <a:p>
            <a:pPr algn="ctr">
              <a:defRPr sz="800">
                <a:solidFill>
                  <a:srgbClr val="333333"/>
                </a:solidFill>
                <a:latin typeface="Arial"/>
              </a:defRPr>
            </a:pPr>
            <a:r>
              <a:t>Tech-Enabled Logistics</a:t>
            </a:r>
          </a:p>
        </p:txBody>
      </p:sp>
      <p:sp>
        <p:nvSpPr>
          <p:cNvPr id="22" name="TextBox 21"/>
          <p:cNvSpPr txBox="1"/>
          <p:nvPr/>
        </p:nvSpPr>
        <p:spPr>
          <a:xfrm>
            <a:off x="6126480" y="868680"/>
            <a:ext cx="2377440" cy="457200"/>
          </a:xfrm>
          <a:prstGeom prst="rect">
            <a:avLst/>
          </a:prstGeom>
          <a:noFill/>
        </p:spPr>
        <p:txBody>
          <a:bodyPr wrap="none">
            <a:spAutoFit/>
          </a:bodyPr>
          <a:lstStyle/>
          <a:p>
            <a:pPr>
              <a:defRPr sz="1400" b="1">
                <a:solidFill>
                  <a:srgbClr val="1A237E"/>
                </a:solidFill>
                <a:latin typeface="Arial"/>
              </a:defRPr>
            </a:pPr>
            <a:r>
              <a:t>AT A GLANCE</a:t>
            </a:r>
          </a:p>
        </p:txBody>
      </p:sp>
      <p:sp>
        <p:nvSpPr>
          <p:cNvPr id="23" name="Rectangle 22"/>
          <p:cNvSpPr/>
          <p:nvPr/>
        </p:nvSpPr>
        <p:spPr>
          <a:xfrm>
            <a:off x="6126480" y="1188719"/>
            <a:ext cx="2377440" cy="27432"/>
          </a:xfrm>
          <a:prstGeom prst="rect">
            <a:avLst/>
          </a:prstGeom>
          <a:solidFill>
            <a:srgbClr val="FF4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217920" y="1290894"/>
            <a:ext cx="1005839" cy="365760"/>
          </a:xfrm>
          <a:prstGeom prst="roundRect">
            <a:avLst/>
          </a:prstGeom>
          <a:solidFill>
            <a:srgbClr val="F5F5FA"/>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09359" y="1364046"/>
            <a:ext cx="822959" cy="146304"/>
          </a:xfrm>
          <a:prstGeom prst="rect">
            <a:avLst/>
          </a:prstGeom>
          <a:noFill/>
        </p:spPr>
        <p:txBody>
          <a:bodyPr wrap="none">
            <a:spAutoFit/>
          </a:bodyPr>
          <a:lstStyle/>
          <a:p>
            <a:pPr algn="ctr">
              <a:defRPr sz="1400" b="1">
                <a:solidFill>
                  <a:srgbClr val="FF4B91"/>
                </a:solidFill>
                <a:latin typeface="Arial"/>
              </a:defRPr>
            </a:pPr>
            <a:r>
              <a:t>344M+</a:t>
            </a:r>
          </a:p>
        </p:txBody>
      </p:sp>
      <p:sp>
        <p:nvSpPr>
          <p:cNvPr id="26" name="TextBox 25"/>
          <p:cNvSpPr txBox="1"/>
          <p:nvPr/>
        </p:nvSpPr>
        <p:spPr>
          <a:xfrm>
            <a:off x="6309359" y="1618488"/>
            <a:ext cx="822959" cy="146304"/>
          </a:xfrm>
          <a:prstGeom prst="rect">
            <a:avLst/>
          </a:prstGeom>
          <a:noFill/>
        </p:spPr>
        <p:txBody>
          <a:bodyPr wrap="none">
            <a:spAutoFit/>
          </a:bodyPr>
          <a:lstStyle/>
          <a:p>
            <a:pPr algn="ctr">
              <a:defRPr sz="800">
                <a:solidFill>
                  <a:srgbClr val="4A5568"/>
                </a:solidFill>
                <a:latin typeface="Arial"/>
              </a:defRPr>
            </a:pPr>
            <a:r>
              <a:t>Packages Delivered</a:t>
            </a:r>
          </a:p>
        </p:txBody>
      </p:sp>
      <p:sp>
        <p:nvSpPr>
          <p:cNvPr id="27" name="Rounded Rectangle 26"/>
          <p:cNvSpPr/>
          <p:nvPr/>
        </p:nvSpPr>
        <p:spPr>
          <a:xfrm>
            <a:off x="7406640" y="1290894"/>
            <a:ext cx="1005839" cy="365760"/>
          </a:xfrm>
          <a:prstGeom prst="roundRect">
            <a:avLst/>
          </a:prstGeom>
          <a:solidFill>
            <a:srgbClr val="F5F5FA"/>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498079" y="1364046"/>
            <a:ext cx="822959" cy="146304"/>
          </a:xfrm>
          <a:prstGeom prst="rect">
            <a:avLst/>
          </a:prstGeom>
          <a:noFill/>
        </p:spPr>
        <p:txBody>
          <a:bodyPr wrap="none">
            <a:spAutoFit/>
          </a:bodyPr>
          <a:lstStyle/>
          <a:p>
            <a:pPr algn="ctr">
              <a:defRPr sz="1600" b="1">
                <a:solidFill>
                  <a:srgbClr val="FF4B91"/>
                </a:solidFill>
                <a:latin typeface="Arial"/>
              </a:defRPr>
            </a:pPr>
            <a:r>
              <a:t>31</a:t>
            </a:r>
          </a:p>
        </p:txBody>
      </p:sp>
      <p:sp>
        <p:nvSpPr>
          <p:cNvPr id="29" name="TextBox 28"/>
          <p:cNvSpPr txBox="1"/>
          <p:nvPr/>
        </p:nvSpPr>
        <p:spPr>
          <a:xfrm>
            <a:off x="7498079" y="1618488"/>
            <a:ext cx="822959" cy="146304"/>
          </a:xfrm>
          <a:prstGeom prst="rect">
            <a:avLst/>
          </a:prstGeom>
          <a:noFill/>
        </p:spPr>
        <p:txBody>
          <a:bodyPr wrap="none">
            <a:spAutoFit/>
          </a:bodyPr>
          <a:lstStyle/>
          <a:p>
            <a:pPr algn="ctr">
              <a:defRPr sz="800">
                <a:solidFill>
                  <a:srgbClr val="4A5568"/>
                </a:solidFill>
                <a:latin typeface="Arial"/>
              </a:defRPr>
            </a:pPr>
            <a:r>
              <a:t>Years in Operation</a:t>
            </a:r>
          </a:p>
        </p:txBody>
      </p:sp>
      <p:sp>
        <p:nvSpPr>
          <p:cNvPr id="30" name="Rounded Rectangle 29"/>
          <p:cNvSpPr/>
          <p:nvPr/>
        </p:nvSpPr>
        <p:spPr>
          <a:xfrm>
            <a:off x="6217921" y="1828800"/>
            <a:ext cx="1005839" cy="365760"/>
          </a:xfrm>
          <a:prstGeom prst="roundRect">
            <a:avLst/>
          </a:prstGeom>
          <a:solidFill>
            <a:srgbClr val="F5F5FA"/>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09360" y="1901952"/>
            <a:ext cx="822959" cy="146304"/>
          </a:xfrm>
          <a:prstGeom prst="rect">
            <a:avLst/>
          </a:prstGeom>
          <a:noFill/>
        </p:spPr>
        <p:txBody>
          <a:bodyPr wrap="none">
            <a:spAutoFit/>
          </a:bodyPr>
          <a:lstStyle/>
          <a:p>
            <a:pPr algn="ctr">
              <a:defRPr sz="1400" b="1">
                <a:solidFill>
                  <a:srgbClr val="FF4B91"/>
                </a:solidFill>
                <a:latin typeface="Arial"/>
              </a:defRPr>
            </a:pPr>
            <a:r>
              <a:rPr dirty="0"/>
              <a:t>25,310+</a:t>
            </a:r>
          </a:p>
        </p:txBody>
      </p:sp>
      <p:sp>
        <p:nvSpPr>
          <p:cNvPr id="32" name="TextBox 31"/>
          <p:cNvSpPr txBox="1"/>
          <p:nvPr/>
        </p:nvSpPr>
        <p:spPr>
          <a:xfrm>
            <a:off x="6309359" y="2167128"/>
            <a:ext cx="822959" cy="146304"/>
          </a:xfrm>
          <a:prstGeom prst="rect">
            <a:avLst/>
          </a:prstGeom>
          <a:noFill/>
        </p:spPr>
        <p:txBody>
          <a:bodyPr wrap="none">
            <a:spAutoFit/>
          </a:bodyPr>
          <a:lstStyle/>
          <a:p>
            <a:pPr algn="ctr">
              <a:defRPr sz="800">
                <a:solidFill>
                  <a:srgbClr val="4A5568"/>
                </a:solidFill>
                <a:latin typeface="Arial"/>
              </a:defRPr>
            </a:pPr>
            <a:r>
              <a:t>Tons CO2 Saved</a:t>
            </a:r>
          </a:p>
        </p:txBody>
      </p:sp>
      <p:sp>
        <p:nvSpPr>
          <p:cNvPr id="33" name="TextBox 32"/>
          <p:cNvSpPr txBox="1"/>
          <p:nvPr/>
        </p:nvSpPr>
        <p:spPr>
          <a:xfrm>
            <a:off x="6126480" y="2423160"/>
            <a:ext cx="2377440" cy="457200"/>
          </a:xfrm>
          <a:prstGeom prst="rect">
            <a:avLst/>
          </a:prstGeom>
          <a:noFill/>
        </p:spPr>
        <p:txBody>
          <a:bodyPr wrap="none">
            <a:spAutoFit/>
          </a:bodyPr>
          <a:lstStyle/>
          <a:p>
            <a:pPr>
              <a:defRPr sz="1400" b="1">
                <a:solidFill>
                  <a:srgbClr val="1A237E"/>
                </a:solidFill>
                <a:latin typeface="Arial"/>
              </a:defRPr>
            </a:pPr>
            <a:r>
              <a:t>KEY CUSTOMERS</a:t>
            </a:r>
          </a:p>
        </p:txBody>
      </p:sp>
      <p:sp>
        <p:nvSpPr>
          <p:cNvPr id="34" name="Rectangle 33"/>
          <p:cNvSpPr/>
          <p:nvPr/>
        </p:nvSpPr>
        <p:spPr>
          <a:xfrm>
            <a:off x="6126480" y="2743200"/>
            <a:ext cx="2377440" cy="27432"/>
          </a:xfrm>
          <a:prstGeom prst="rect">
            <a:avLst/>
          </a:prstGeom>
          <a:solidFill>
            <a:srgbClr val="FF4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6217920" y="2799522"/>
            <a:ext cx="2194560" cy="292608"/>
          </a:xfrm>
          <a:prstGeom prst="roundRect">
            <a:avLst/>
          </a:prstGeom>
          <a:solidFill>
            <a:srgbClr val="FAFAFA"/>
          </a:solid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263640" y="2826953"/>
            <a:ext cx="2103120" cy="237744"/>
          </a:xfrm>
          <a:prstGeom prst="rect">
            <a:avLst/>
          </a:prstGeom>
          <a:noFill/>
        </p:spPr>
        <p:txBody>
          <a:bodyPr wrap="square" anchor="ctr">
            <a:spAutoFit/>
          </a:bodyPr>
          <a:lstStyle/>
          <a:p>
            <a:pPr algn="ctr">
              <a:defRPr sz="700" b="1">
                <a:solidFill>
                  <a:srgbClr val="333333"/>
                </a:solidFill>
                <a:latin typeface="Arial"/>
              </a:defRPr>
            </a:pPr>
            <a:r>
              <a:t>ECU WORLDWIDE</a:t>
            </a:r>
          </a:p>
        </p:txBody>
      </p:sp>
      <p:sp>
        <p:nvSpPr>
          <p:cNvPr id="37" name="Rounded Rectangle 36"/>
          <p:cNvSpPr/>
          <p:nvPr/>
        </p:nvSpPr>
        <p:spPr>
          <a:xfrm>
            <a:off x="6217920" y="3146994"/>
            <a:ext cx="2194560" cy="292608"/>
          </a:xfrm>
          <a:prstGeom prst="roundRect">
            <a:avLst/>
          </a:prstGeom>
          <a:solidFill>
            <a:srgbClr val="FAFAFA"/>
          </a:solid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263640" y="3174425"/>
            <a:ext cx="2103120" cy="237744"/>
          </a:xfrm>
          <a:prstGeom prst="rect">
            <a:avLst/>
          </a:prstGeom>
          <a:noFill/>
        </p:spPr>
        <p:txBody>
          <a:bodyPr wrap="square" anchor="ctr">
            <a:spAutoFit/>
          </a:bodyPr>
          <a:lstStyle/>
          <a:p>
            <a:pPr algn="ctr">
              <a:defRPr sz="700" b="1">
                <a:solidFill>
                  <a:srgbClr val="333333"/>
                </a:solidFill>
                <a:latin typeface="Arial"/>
              </a:defRPr>
            </a:pPr>
            <a:r>
              <a:t>PALUCK</a:t>
            </a:r>
          </a:p>
        </p:txBody>
      </p:sp>
      <p:sp>
        <p:nvSpPr>
          <p:cNvPr id="39" name="Rounded Rectangle 38"/>
          <p:cNvSpPr/>
          <p:nvPr/>
        </p:nvSpPr>
        <p:spPr>
          <a:xfrm>
            <a:off x="6217920" y="3494465"/>
            <a:ext cx="2194560" cy="292608"/>
          </a:xfrm>
          <a:prstGeom prst="roundRect">
            <a:avLst/>
          </a:prstGeom>
          <a:solidFill>
            <a:srgbClr val="FAFAFA"/>
          </a:solid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263640" y="3521897"/>
            <a:ext cx="2103120" cy="237744"/>
          </a:xfrm>
          <a:prstGeom prst="rect">
            <a:avLst/>
          </a:prstGeom>
          <a:noFill/>
        </p:spPr>
        <p:txBody>
          <a:bodyPr wrap="square" anchor="ctr">
            <a:spAutoFit/>
          </a:bodyPr>
          <a:lstStyle/>
          <a:p>
            <a:pPr algn="ctr">
              <a:defRPr sz="700" b="1">
                <a:solidFill>
                  <a:srgbClr val="333333"/>
                </a:solidFill>
                <a:latin typeface="Arial"/>
              </a:defRPr>
            </a:pPr>
            <a:r>
              <a:t>FCL MARINE AGENCIES</a:t>
            </a:r>
          </a:p>
        </p:txBody>
      </p:sp>
      <p:sp>
        <p:nvSpPr>
          <p:cNvPr id="41" name="TextBox 40"/>
          <p:cNvSpPr txBox="1"/>
          <p:nvPr/>
        </p:nvSpPr>
        <p:spPr>
          <a:xfrm>
            <a:off x="6126480" y="3785615"/>
            <a:ext cx="2377440" cy="457200"/>
          </a:xfrm>
          <a:prstGeom prst="rect">
            <a:avLst/>
          </a:prstGeom>
          <a:noFill/>
        </p:spPr>
        <p:txBody>
          <a:bodyPr wrap="none">
            <a:spAutoFit/>
          </a:bodyPr>
          <a:lstStyle/>
          <a:p>
            <a:pPr>
              <a:defRPr sz="1400" b="1">
                <a:solidFill>
                  <a:srgbClr val="1A237E"/>
                </a:solidFill>
                <a:latin typeface="Arial"/>
              </a:defRPr>
            </a:pPr>
            <a:r>
              <a:t>CERTIFICATIONS</a:t>
            </a:r>
          </a:p>
        </p:txBody>
      </p:sp>
      <p:sp>
        <p:nvSpPr>
          <p:cNvPr id="42" name="Rectangle 41"/>
          <p:cNvSpPr/>
          <p:nvPr/>
        </p:nvSpPr>
        <p:spPr>
          <a:xfrm>
            <a:off x="6126480" y="4105655"/>
            <a:ext cx="2377440" cy="27432"/>
          </a:xfrm>
          <a:prstGeom prst="rect">
            <a:avLst/>
          </a:prstGeom>
          <a:solidFill>
            <a:srgbClr val="FF4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Picture 42" descr="cert_iso_120x80.png"/>
          <p:cNvPicPr>
            <a:picLocks noChangeAspect="1"/>
          </p:cNvPicPr>
          <p:nvPr/>
        </p:nvPicPr>
        <p:blipFill>
          <a:blip r:embed="rId3"/>
          <a:stretch>
            <a:fillRect/>
          </a:stretch>
        </p:blipFill>
        <p:spPr>
          <a:xfrm>
            <a:off x="6217920" y="4169663"/>
            <a:ext cx="1005840" cy="256032"/>
          </a:xfrm>
          <a:prstGeom prst="rect">
            <a:avLst/>
          </a:prstGeom>
        </p:spPr>
      </p:pic>
      <p:pic>
        <p:nvPicPr>
          <p:cNvPr id="44" name="Picture 43" descr="cert_cmmi_120x80.png"/>
          <p:cNvPicPr>
            <a:picLocks noChangeAspect="1"/>
          </p:cNvPicPr>
          <p:nvPr/>
        </p:nvPicPr>
        <p:blipFill>
          <a:blip r:embed="rId4"/>
          <a:stretch>
            <a:fillRect/>
          </a:stretch>
        </p:blipFill>
        <p:spPr>
          <a:xfrm>
            <a:off x="7315200" y="4169663"/>
            <a:ext cx="1005840" cy="2560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37160"/>
            <a:ext cx="5486400" cy="457200"/>
          </a:xfrm>
          <a:prstGeom prst="rect">
            <a:avLst/>
          </a:prstGeom>
          <a:noFill/>
        </p:spPr>
        <p:txBody>
          <a:bodyPr wrap="none">
            <a:spAutoFit/>
          </a:bodyPr>
          <a:lstStyle/>
          <a:p>
            <a:pPr>
              <a:defRPr sz="2000" b="1">
                <a:solidFill>
                  <a:srgbClr val="FFFFFF"/>
                </a:solidFill>
                <a:latin typeface="Arial"/>
              </a:defRPr>
            </a:pPr>
            <a:r>
              <a:t>KEY FINANCIAL METRICS</a:t>
            </a:r>
          </a:p>
        </p:txBody>
      </p:sp>
      <p:pic>
        <p:nvPicPr>
          <p:cNvPr id="4" name="Picture 3" descr="kelp_logo.png"/>
          <p:cNvPicPr>
            <a:picLocks noChangeAspect="1"/>
          </p:cNvPicPr>
          <p:nvPr/>
        </p:nvPicPr>
        <p:blipFill>
          <a:blip r:embed="rId2"/>
          <a:stretch>
            <a:fillRect/>
          </a:stretch>
        </p:blipFill>
        <p:spPr>
          <a:xfrm>
            <a:off x="7589520" y="91440"/>
            <a:ext cx="1447672" cy="548640"/>
          </a:xfrm>
          <a:prstGeom prst="rect">
            <a:avLst/>
          </a:prstGeom>
        </p:spPr>
      </p:pic>
      <p:sp>
        <p:nvSpPr>
          <p:cNvPr id="5" name="Rectangle 4"/>
          <p:cNvSpPr/>
          <p:nvPr/>
        </p:nvSpPr>
        <p:spPr>
          <a:xfrm>
            <a:off x="0" y="4846320"/>
            <a:ext cx="9144000" cy="30175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4892040"/>
            <a:ext cx="8229600" cy="228600"/>
          </a:xfrm>
          <a:prstGeom prst="rect">
            <a:avLst/>
          </a:prstGeom>
          <a:noFill/>
        </p:spPr>
        <p:txBody>
          <a:bodyPr wrap="none">
            <a:spAutoFit/>
          </a:bodyPr>
          <a:lstStyle/>
          <a:p>
            <a:pPr algn="ctr">
              <a:defRPr sz="900">
                <a:solidFill>
                  <a:srgbClr val="646464"/>
                </a:solidFill>
              </a:defRPr>
            </a:pPr>
            <a:r>
              <a:t>Strictly Private &amp; Confidential – Prepared by Kelp M&amp;A Team</a:t>
            </a:r>
          </a:p>
        </p:txBody>
      </p:sp>
      <p:sp>
        <p:nvSpPr>
          <p:cNvPr id="7" name="Rounded Rectangle 6"/>
          <p:cNvSpPr/>
          <p:nvPr/>
        </p:nvSpPr>
        <p:spPr>
          <a:xfrm>
            <a:off x="585215" y="1051560"/>
            <a:ext cx="2011680" cy="594360"/>
          </a:xfrm>
          <a:prstGeom prst="roundRect">
            <a:avLst/>
          </a:prstGeom>
          <a:solidFill>
            <a:srgbClr val="FF4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0936" y="1097280"/>
            <a:ext cx="1920240" cy="320040"/>
          </a:xfrm>
          <a:prstGeom prst="rect">
            <a:avLst/>
          </a:prstGeom>
          <a:noFill/>
        </p:spPr>
        <p:txBody>
          <a:bodyPr wrap="square" anchor="ctr">
            <a:spAutoFit/>
          </a:bodyPr>
          <a:lstStyle/>
          <a:p>
            <a:pPr algn="ctr">
              <a:defRPr sz="1600" b="1">
                <a:solidFill>
                  <a:srgbClr val="FFFFFF"/>
                </a:solidFill>
              </a:defRPr>
            </a:pPr>
            <a:r>
              <a:t>₹ 15100.1 Cr</a:t>
            </a:r>
          </a:p>
        </p:txBody>
      </p:sp>
      <p:sp>
        <p:nvSpPr>
          <p:cNvPr id="9" name="TextBox 8"/>
          <p:cNvSpPr txBox="1"/>
          <p:nvPr/>
        </p:nvSpPr>
        <p:spPr>
          <a:xfrm>
            <a:off x="676655" y="1417320"/>
            <a:ext cx="1828800" cy="182880"/>
          </a:xfrm>
          <a:prstGeom prst="rect">
            <a:avLst/>
          </a:prstGeom>
          <a:noFill/>
        </p:spPr>
        <p:txBody>
          <a:bodyPr wrap="none">
            <a:spAutoFit/>
          </a:bodyPr>
          <a:lstStyle/>
          <a:p>
            <a:pPr algn="ctr">
              <a:defRPr sz="800" b="0">
                <a:solidFill>
                  <a:srgbClr val="FFFFFF"/>
                </a:solidFill>
              </a:defRPr>
            </a:pPr>
            <a:r>
              <a:t>Latest Revenue</a:t>
            </a:r>
          </a:p>
        </p:txBody>
      </p:sp>
      <p:sp>
        <p:nvSpPr>
          <p:cNvPr id="10" name="Rounded Rectangle 9"/>
          <p:cNvSpPr/>
          <p:nvPr/>
        </p:nvSpPr>
        <p:spPr>
          <a:xfrm>
            <a:off x="2724911" y="1051560"/>
            <a:ext cx="2011680" cy="594360"/>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70631" y="1097280"/>
            <a:ext cx="1920240" cy="320040"/>
          </a:xfrm>
          <a:prstGeom prst="rect">
            <a:avLst/>
          </a:prstGeom>
          <a:noFill/>
        </p:spPr>
        <p:txBody>
          <a:bodyPr wrap="square" anchor="ctr">
            <a:spAutoFit/>
          </a:bodyPr>
          <a:lstStyle/>
          <a:p>
            <a:pPr algn="ctr">
              <a:defRPr sz="1600" b="1">
                <a:solidFill>
                  <a:srgbClr val="FFFFFF"/>
                </a:solidFill>
              </a:defRPr>
            </a:pPr>
            <a:r>
              <a:t>2.8%</a:t>
            </a:r>
          </a:p>
        </p:txBody>
      </p:sp>
      <p:sp>
        <p:nvSpPr>
          <p:cNvPr id="12" name="TextBox 11"/>
          <p:cNvSpPr txBox="1"/>
          <p:nvPr/>
        </p:nvSpPr>
        <p:spPr>
          <a:xfrm>
            <a:off x="2816351" y="1417320"/>
            <a:ext cx="1828800" cy="182880"/>
          </a:xfrm>
          <a:prstGeom prst="rect">
            <a:avLst/>
          </a:prstGeom>
          <a:noFill/>
        </p:spPr>
        <p:txBody>
          <a:bodyPr wrap="none">
            <a:spAutoFit/>
          </a:bodyPr>
          <a:lstStyle/>
          <a:p>
            <a:pPr algn="ctr">
              <a:defRPr sz="800" b="0">
                <a:solidFill>
                  <a:srgbClr val="FFFFFF"/>
                </a:solidFill>
              </a:defRPr>
            </a:pPr>
            <a:r>
              <a:t>Revenue CAGR</a:t>
            </a:r>
          </a:p>
        </p:txBody>
      </p:sp>
      <p:sp>
        <p:nvSpPr>
          <p:cNvPr id="13" name="Rounded Rectangle 12"/>
          <p:cNvSpPr/>
          <p:nvPr/>
        </p:nvSpPr>
        <p:spPr>
          <a:xfrm>
            <a:off x="4864607" y="1051560"/>
            <a:ext cx="2011680" cy="594360"/>
          </a:xfrm>
          <a:prstGeom prst="roundRect">
            <a:avLst/>
          </a:prstGeom>
          <a:solidFill>
            <a:srgbClr val="FF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10327" y="1097280"/>
            <a:ext cx="1920240" cy="320040"/>
          </a:xfrm>
          <a:prstGeom prst="rect">
            <a:avLst/>
          </a:prstGeom>
          <a:noFill/>
        </p:spPr>
        <p:txBody>
          <a:bodyPr wrap="square" anchor="ctr">
            <a:spAutoFit/>
          </a:bodyPr>
          <a:lstStyle/>
          <a:p>
            <a:pPr algn="ctr">
              <a:defRPr sz="1600" b="1">
                <a:solidFill>
                  <a:srgbClr val="FFFFFF"/>
                </a:solidFill>
              </a:defRPr>
            </a:pPr>
            <a:r>
              <a:t>4.3%</a:t>
            </a:r>
          </a:p>
        </p:txBody>
      </p:sp>
      <p:sp>
        <p:nvSpPr>
          <p:cNvPr id="15" name="TextBox 14"/>
          <p:cNvSpPr txBox="1"/>
          <p:nvPr/>
        </p:nvSpPr>
        <p:spPr>
          <a:xfrm>
            <a:off x="4956047" y="1417320"/>
            <a:ext cx="1828800" cy="182880"/>
          </a:xfrm>
          <a:prstGeom prst="rect">
            <a:avLst/>
          </a:prstGeom>
          <a:noFill/>
        </p:spPr>
        <p:txBody>
          <a:bodyPr wrap="none">
            <a:spAutoFit/>
          </a:bodyPr>
          <a:lstStyle/>
          <a:p>
            <a:pPr algn="ctr">
              <a:defRPr sz="800" b="0">
                <a:solidFill>
                  <a:srgbClr val="FFFFFF"/>
                </a:solidFill>
              </a:defRPr>
            </a:pPr>
            <a:r>
              <a:t>EBITDA Margin</a:t>
            </a:r>
          </a:p>
        </p:txBody>
      </p:sp>
      <p:sp>
        <p:nvSpPr>
          <p:cNvPr id="16" name="Rounded Rectangle 15"/>
          <p:cNvSpPr/>
          <p:nvPr/>
        </p:nvSpPr>
        <p:spPr>
          <a:xfrm>
            <a:off x="7004303" y="1051560"/>
            <a:ext cx="2011680" cy="5943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050023" y="1097280"/>
            <a:ext cx="1920240" cy="320040"/>
          </a:xfrm>
          <a:prstGeom prst="rect">
            <a:avLst/>
          </a:prstGeom>
          <a:noFill/>
        </p:spPr>
        <p:txBody>
          <a:bodyPr wrap="square" anchor="ctr">
            <a:spAutoFit/>
          </a:bodyPr>
          <a:lstStyle/>
          <a:p>
            <a:pPr algn="ctr">
              <a:defRPr sz="1600" b="1">
                <a:solidFill>
                  <a:srgbClr val="FFFFFF"/>
                </a:solidFill>
              </a:defRPr>
            </a:pPr>
            <a:r>
              <a:t>₹ -186.2 Cr</a:t>
            </a:r>
          </a:p>
        </p:txBody>
      </p:sp>
      <p:sp>
        <p:nvSpPr>
          <p:cNvPr id="18" name="TextBox 17"/>
          <p:cNvSpPr txBox="1"/>
          <p:nvPr/>
        </p:nvSpPr>
        <p:spPr>
          <a:xfrm>
            <a:off x="7095743" y="1417320"/>
            <a:ext cx="1828800" cy="182880"/>
          </a:xfrm>
          <a:prstGeom prst="rect">
            <a:avLst/>
          </a:prstGeom>
          <a:noFill/>
        </p:spPr>
        <p:txBody>
          <a:bodyPr wrap="none">
            <a:spAutoFit/>
          </a:bodyPr>
          <a:lstStyle/>
          <a:p>
            <a:pPr algn="ctr">
              <a:defRPr sz="800" b="0">
                <a:solidFill>
                  <a:srgbClr val="FFFFFF"/>
                </a:solidFill>
              </a:defRPr>
            </a:pPr>
            <a:r>
              <a:t>Latest PAT</a:t>
            </a:r>
          </a:p>
        </p:txBody>
      </p:sp>
      <p:graphicFrame>
        <p:nvGraphicFramePr>
          <p:cNvPr id="19" name="Chart 18"/>
          <p:cNvGraphicFramePr>
            <a:graphicFrameLocks noGrp="1"/>
          </p:cNvGraphicFramePr>
          <p:nvPr/>
        </p:nvGraphicFramePr>
        <p:xfrm>
          <a:off x="457200" y="2103120"/>
          <a:ext cx="4572000" cy="25603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 name="Chart 19"/>
          <p:cNvGraphicFramePr>
            <a:graphicFrameLocks noGrp="1"/>
          </p:cNvGraphicFramePr>
          <p:nvPr/>
        </p:nvGraphicFramePr>
        <p:xfrm>
          <a:off x="5212080" y="2103120"/>
          <a:ext cx="3657600" cy="256032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37160"/>
            <a:ext cx="5486400" cy="457200"/>
          </a:xfrm>
          <a:prstGeom prst="rect">
            <a:avLst/>
          </a:prstGeom>
          <a:noFill/>
        </p:spPr>
        <p:txBody>
          <a:bodyPr wrap="none">
            <a:spAutoFit/>
          </a:bodyPr>
          <a:lstStyle/>
          <a:p>
            <a:pPr>
              <a:defRPr sz="2000" b="1">
                <a:solidFill>
                  <a:srgbClr val="FFFFFF"/>
                </a:solidFill>
                <a:latin typeface="Arial"/>
              </a:defRPr>
            </a:pPr>
            <a:r>
              <a:t>INVESTMENT HIGHLIGHTS</a:t>
            </a:r>
          </a:p>
        </p:txBody>
      </p:sp>
      <p:pic>
        <p:nvPicPr>
          <p:cNvPr id="4" name="Picture 3" descr="kelp_logo.png"/>
          <p:cNvPicPr>
            <a:picLocks noChangeAspect="1"/>
          </p:cNvPicPr>
          <p:nvPr/>
        </p:nvPicPr>
        <p:blipFill>
          <a:blip r:embed="rId2"/>
          <a:stretch>
            <a:fillRect/>
          </a:stretch>
        </p:blipFill>
        <p:spPr>
          <a:xfrm>
            <a:off x="7589520" y="91440"/>
            <a:ext cx="1447672" cy="548640"/>
          </a:xfrm>
          <a:prstGeom prst="rect">
            <a:avLst/>
          </a:prstGeom>
        </p:spPr>
      </p:pic>
      <p:sp>
        <p:nvSpPr>
          <p:cNvPr id="5" name="Rectangle 4"/>
          <p:cNvSpPr/>
          <p:nvPr/>
        </p:nvSpPr>
        <p:spPr>
          <a:xfrm>
            <a:off x="0" y="4846320"/>
            <a:ext cx="9144000" cy="30175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4892040"/>
            <a:ext cx="8229600" cy="228600"/>
          </a:xfrm>
          <a:prstGeom prst="rect">
            <a:avLst/>
          </a:prstGeom>
          <a:noFill/>
        </p:spPr>
        <p:txBody>
          <a:bodyPr wrap="none">
            <a:spAutoFit/>
          </a:bodyPr>
          <a:lstStyle/>
          <a:p>
            <a:pPr algn="ctr">
              <a:defRPr sz="900">
                <a:solidFill>
                  <a:srgbClr val="646464"/>
                </a:solidFill>
              </a:defRPr>
            </a:pPr>
            <a:r>
              <a:t>Strictly Private &amp; Confidential – Prepared by Kelp M&amp;A Team</a:t>
            </a:r>
          </a:p>
        </p:txBody>
      </p:sp>
      <p:pic>
        <p:nvPicPr>
          <p:cNvPr id="7" name="Picture 6" descr="crop_902_clean_unsplash_3.jpg"/>
          <p:cNvPicPr>
            <a:picLocks noChangeAspect="1"/>
          </p:cNvPicPr>
          <p:nvPr/>
        </p:nvPicPr>
        <p:blipFill>
          <a:blip r:embed="rId3"/>
          <a:stretch>
            <a:fillRect/>
          </a:stretch>
        </p:blipFill>
        <p:spPr>
          <a:xfrm>
            <a:off x="5440680" y="960120"/>
            <a:ext cx="3383280" cy="3749039"/>
          </a:xfrm>
          <a:prstGeom prst="rect">
            <a:avLst/>
          </a:prstGeom>
        </p:spPr>
      </p:pic>
      <p:sp>
        <p:nvSpPr>
          <p:cNvPr id="8" name="Rounded Rectangle 7"/>
          <p:cNvSpPr/>
          <p:nvPr/>
        </p:nvSpPr>
        <p:spPr>
          <a:xfrm>
            <a:off x="274320" y="1005840"/>
            <a:ext cx="2377440" cy="1737360"/>
          </a:xfrm>
          <a:prstGeom prst="roundRect">
            <a:avLst/>
          </a:prstGeom>
          <a:solidFill>
            <a:srgbClr val="F8F9FC"/>
          </a:solidFill>
          <a:ln w="12700">
            <a:solidFill>
              <a:srgbClr val="C8D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chart_up_64_0.png"/>
          <p:cNvPicPr>
            <a:picLocks noChangeAspect="1"/>
          </p:cNvPicPr>
          <p:nvPr/>
        </p:nvPicPr>
        <p:blipFill>
          <a:blip r:embed="rId4"/>
          <a:stretch>
            <a:fillRect/>
          </a:stretch>
        </p:blipFill>
        <p:spPr>
          <a:xfrm>
            <a:off x="384048" y="1143000"/>
            <a:ext cx="256032" cy="256032"/>
          </a:xfrm>
          <a:prstGeom prst="rect">
            <a:avLst/>
          </a:prstGeom>
        </p:spPr>
      </p:pic>
      <p:sp>
        <p:nvSpPr>
          <p:cNvPr id="10" name="TextBox 9"/>
          <p:cNvSpPr txBox="1"/>
          <p:nvPr/>
        </p:nvSpPr>
        <p:spPr>
          <a:xfrm>
            <a:off x="713232" y="1078992"/>
            <a:ext cx="1828800" cy="320040"/>
          </a:xfrm>
          <a:prstGeom prst="rect">
            <a:avLst/>
          </a:prstGeom>
          <a:noFill/>
        </p:spPr>
        <p:txBody>
          <a:bodyPr wrap="square">
            <a:spAutoFit/>
          </a:bodyPr>
          <a:lstStyle/>
          <a:p>
            <a:pPr>
              <a:defRPr sz="850" b="1">
                <a:solidFill>
                  <a:srgbClr val="1A237E"/>
                </a:solidFill>
                <a:latin typeface="Arial"/>
              </a:defRPr>
            </a:pPr>
            <a:r>
              <a:t>Dominant Position in High-Growth 3PL and Cold Chain Segments</a:t>
            </a:r>
          </a:p>
        </p:txBody>
      </p:sp>
      <p:sp>
        <p:nvSpPr>
          <p:cNvPr id="11" name="TextBox 10"/>
          <p:cNvSpPr txBox="1"/>
          <p:nvPr/>
        </p:nvSpPr>
        <p:spPr>
          <a:xfrm>
            <a:off x="384048" y="1463040"/>
            <a:ext cx="2157984" cy="1188719"/>
          </a:xfrm>
          <a:prstGeom prst="rect">
            <a:avLst/>
          </a:prstGeom>
          <a:noFill/>
        </p:spPr>
        <p:txBody>
          <a:bodyPr wrap="square">
            <a:spAutoFit/>
          </a:bodyPr>
          <a:lstStyle/>
          <a:p>
            <a:pPr>
              <a:lnSpc>
                <a:spcPct val="115000"/>
              </a:lnSpc>
              <a:defRPr sz="750">
                <a:solidFill>
                  <a:srgbClr val="4A5568"/>
                </a:solidFill>
                <a:latin typeface="Arial"/>
              </a:defRPr>
            </a:pPr>
            <a:r>
              <a:t>The firm is strategically positioned to capitalize on the Indian 3PL market, valued at $17.12B with a 9% CAGR, and the specialized cold chain sector growing at 9.72%, driven by rising demand in the Pharma and FMCG verticals.</a:t>
            </a:r>
          </a:p>
        </p:txBody>
      </p:sp>
      <p:sp>
        <p:nvSpPr>
          <p:cNvPr id="12" name="Rounded Rectangle 11"/>
          <p:cNvSpPr/>
          <p:nvPr/>
        </p:nvSpPr>
        <p:spPr>
          <a:xfrm>
            <a:off x="2834640" y="1005840"/>
            <a:ext cx="2377440" cy="1737360"/>
          </a:xfrm>
          <a:prstGeom prst="roundRect">
            <a:avLst/>
          </a:prstGeom>
          <a:solidFill>
            <a:srgbClr val="F8F9FC"/>
          </a:solidFill>
          <a:ln w="12700">
            <a:solidFill>
              <a:srgbClr val="C8D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gear_64_1.png"/>
          <p:cNvPicPr>
            <a:picLocks noChangeAspect="1"/>
          </p:cNvPicPr>
          <p:nvPr/>
        </p:nvPicPr>
        <p:blipFill>
          <a:blip r:embed="rId5"/>
          <a:stretch>
            <a:fillRect/>
          </a:stretch>
        </p:blipFill>
        <p:spPr>
          <a:xfrm>
            <a:off x="2944368" y="1143000"/>
            <a:ext cx="256032" cy="256032"/>
          </a:xfrm>
          <a:prstGeom prst="rect">
            <a:avLst/>
          </a:prstGeom>
        </p:spPr>
      </p:pic>
      <p:sp>
        <p:nvSpPr>
          <p:cNvPr id="14" name="TextBox 13"/>
          <p:cNvSpPr txBox="1"/>
          <p:nvPr/>
        </p:nvSpPr>
        <p:spPr>
          <a:xfrm>
            <a:off x="3273552" y="1078992"/>
            <a:ext cx="1828800" cy="320040"/>
          </a:xfrm>
          <a:prstGeom prst="rect">
            <a:avLst/>
          </a:prstGeom>
          <a:noFill/>
        </p:spPr>
        <p:txBody>
          <a:bodyPr wrap="square">
            <a:spAutoFit/>
          </a:bodyPr>
          <a:lstStyle/>
          <a:p>
            <a:pPr>
              <a:defRPr sz="850" b="1">
                <a:solidFill>
                  <a:srgbClr val="1A237E"/>
                </a:solidFill>
                <a:latin typeface="Arial"/>
              </a:defRPr>
            </a:pPr>
            <a:r>
              <a:t>Tech-Enabled Operational Excellence and ESG Leadership</a:t>
            </a:r>
          </a:p>
        </p:txBody>
      </p:sp>
      <p:sp>
        <p:nvSpPr>
          <p:cNvPr id="15" name="TextBox 14"/>
          <p:cNvSpPr txBox="1"/>
          <p:nvPr/>
        </p:nvSpPr>
        <p:spPr>
          <a:xfrm>
            <a:off x="2944368" y="1463040"/>
            <a:ext cx="2157984" cy="1188719"/>
          </a:xfrm>
          <a:prstGeom prst="rect">
            <a:avLst/>
          </a:prstGeom>
          <a:noFill/>
        </p:spPr>
        <p:txBody>
          <a:bodyPr wrap="square">
            <a:spAutoFit/>
          </a:bodyPr>
          <a:lstStyle/>
          <a:p>
            <a:pPr>
              <a:lnSpc>
                <a:spcPct val="115000"/>
              </a:lnSpc>
              <a:defRPr sz="750">
                <a:solidFill>
                  <a:srgbClr val="4A5568"/>
                </a:solidFill>
                <a:latin typeface="Arial"/>
              </a:defRPr>
            </a:pPr>
            <a:r>
              <a:t>With over 30 years of institutional expertise, the firm leverages advanced real-time tracking and a proprietary sustainability framework that has mitigated over 25,310 tons of CO2 emissions, creating a significant competitive moat and high barrier to entry.</a:t>
            </a:r>
          </a:p>
        </p:txBody>
      </p:sp>
      <p:sp>
        <p:nvSpPr>
          <p:cNvPr id="16" name="Rounded Rectangle 15"/>
          <p:cNvSpPr/>
          <p:nvPr/>
        </p:nvSpPr>
        <p:spPr>
          <a:xfrm>
            <a:off x="274320" y="2880360"/>
            <a:ext cx="2377440" cy="1737360"/>
          </a:xfrm>
          <a:prstGeom prst="roundRect">
            <a:avLst/>
          </a:prstGeom>
          <a:solidFill>
            <a:srgbClr val="F8F9FC"/>
          </a:solidFill>
          <a:ln w="12700">
            <a:solidFill>
              <a:srgbClr val="C8D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handshake_64_2.png"/>
          <p:cNvPicPr>
            <a:picLocks noChangeAspect="1"/>
          </p:cNvPicPr>
          <p:nvPr/>
        </p:nvPicPr>
        <p:blipFill>
          <a:blip r:embed="rId6"/>
          <a:stretch>
            <a:fillRect/>
          </a:stretch>
        </p:blipFill>
        <p:spPr>
          <a:xfrm>
            <a:off x="384048" y="3017520"/>
            <a:ext cx="256032" cy="256032"/>
          </a:xfrm>
          <a:prstGeom prst="rect">
            <a:avLst/>
          </a:prstGeom>
        </p:spPr>
      </p:pic>
      <p:sp>
        <p:nvSpPr>
          <p:cNvPr id="18" name="TextBox 17"/>
          <p:cNvSpPr txBox="1"/>
          <p:nvPr/>
        </p:nvSpPr>
        <p:spPr>
          <a:xfrm>
            <a:off x="713232" y="2953512"/>
            <a:ext cx="1828800" cy="320040"/>
          </a:xfrm>
          <a:prstGeom prst="rect">
            <a:avLst/>
          </a:prstGeom>
          <a:noFill/>
        </p:spPr>
        <p:txBody>
          <a:bodyPr wrap="square">
            <a:spAutoFit/>
          </a:bodyPr>
          <a:lstStyle/>
          <a:p>
            <a:pPr>
              <a:defRPr sz="850" b="1">
                <a:solidFill>
                  <a:srgbClr val="1A237E"/>
                </a:solidFill>
                <a:latin typeface="Arial"/>
              </a:defRPr>
            </a:pPr>
            <a:r>
              <a:t>Deep-Rooted Enterprise Relationships Across Diverse Verticals</a:t>
            </a:r>
          </a:p>
        </p:txBody>
      </p:sp>
      <p:sp>
        <p:nvSpPr>
          <p:cNvPr id="19" name="TextBox 18"/>
          <p:cNvSpPr txBox="1"/>
          <p:nvPr/>
        </p:nvSpPr>
        <p:spPr>
          <a:xfrm>
            <a:off x="384048" y="3337560"/>
            <a:ext cx="2157984" cy="1188719"/>
          </a:xfrm>
          <a:prstGeom prst="rect">
            <a:avLst/>
          </a:prstGeom>
          <a:noFill/>
        </p:spPr>
        <p:txBody>
          <a:bodyPr wrap="square">
            <a:spAutoFit/>
          </a:bodyPr>
          <a:lstStyle/>
          <a:p>
            <a:pPr>
              <a:lnSpc>
                <a:spcPct val="115000"/>
              </a:lnSpc>
              <a:defRPr sz="750">
                <a:solidFill>
                  <a:srgbClr val="4A5568"/>
                </a:solidFill>
                <a:latin typeface="Arial"/>
              </a:defRPr>
            </a:pPr>
            <a:r>
              <a:t>The Company maintains exceptional customer stickiness through integrated B2B solutions for mission-critical sectors including Chemicals, Automotive, and Electronics, serving a blue-chip client base with specialized express distribution and supply chain requirements.</a:t>
            </a:r>
          </a:p>
        </p:txBody>
      </p:sp>
      <p:sp>
        <p:nvSpPr>
          <p:cNvPr id="20" name="Rounded Rectangle 19"/>
          <p:cNvSpPr/>
          <p:nvPr/>
        </p:nvSpPr>
        <p:spPr>
          <a:xfrm>
            <a:off x="2834640" y="2880360"/>
            <a:ext cx="2377440" cy="1737360"/>
          </a:xfrm>
          <a:prstGeom prst="roundRect">
            <a:avLst/>
          </a:prstGeom>
          <a:solidFill>
            <a:srgbClr val="F8F9FC"/>
          </a:solidFill>
          <a:ln w="12700">
            <a:solidFill>
              <a:srgbClr val="C8D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chart_up_64_3.png"/>
          <p:cNvPicPr>
            <a:picLocks noChangeAspect="1"/>
          </p:cNvPicPr>
          <p:nvPr/>
        </p:nvPicPr>
        <p:blipFill>
          <a:blip r:embed="rId7"/>
          <a:stretch>
            <a:fillRect/>
          </a:stretch>
        </p:blipFill>
        <p:spPr>
          <a:xfrm>
            <a:off x="2944368" y="3017520"/>
            <a:ext cx="256032" cy="256032"/>
          </a:xfrm>
          <a:prstGeom prst="rect">
            <a:avLst/>
          </a:prstGeom>
        </p:spPr>
      </p:pic>
      <p:sp>
        <p:nvSpPr>
          <p:cNvPr id="22" name="TextBox 21"/>
          <p:cNvSpPr txBox="1"/>
          <p:nvPr/>
        </p:nvSpPr>
        <p:spPr>
          <a:xfrm>
            <a:off x="3273552" y="2953512"/>
            <a:ext cx="1828800" cy="320040"/>
          </a:xfrm>
          <a:prstGeom prst="rect">
            <a:avLst/>
          </a:prstGeom>
          <a:noFill/>
        </p:spPr>
        <p:txBody>
          <a:bodyPr wrap="square">
            <a:spAutoFit/>
          </a:bodyPr>
          <a:lstStyle/>
          <a:p>
            <a:pPr>
              <a:defRPr sz="850" b="1">
                <a:solidFill>
                  <a:srgbClr val="1A237E"/>
                </a:solidFill>
                <a:latin typeface="Arial"/>
              </a:defRPr>
            </a:pPr>
            <a:r>
              <a:t>Capitalizing on India’s $429B Logistics Transformation</a:t>
            </a:r>
          </a:p>
        </p:txBody>
      </p:sp>
      <p:sp>
        <p:nvSpPr>
          <p:cNvPr id="23" name="TextBox 22"/>
          <p:cNvSpPr txBox="1"/>
          <p:nvPr/>
        </p:nvSpPr>
        <p:spPr>
          <a:xfrm>
            <a:off x="2944368" y="3337560"/>
            <a:ext cx="2157984" cy="1188719"/>
          </a:xfrm>
          <a:prstGeom prst="rect">
            <a:avLst/>
          </a:prstGeom>
          <a:noFill/>
        </p:spPr>
        <p:txBody>
          <a:bodyPr wrap="square">
            <a:spAutoFit/>
          </a:bodyPr>
          <a:lstStyle/>
          <a:p>
            <a:pPr>
              <a:lnSpc>
                <a:spcPct val="115000"/>
              </a:lnSpc>
              <a:defRPr sz="750">
                <a:solidFill>
                  <a:srgbClr val="4A5568"/>
                </a:solidFill>
                <a:latin typeface="Arial"/>
              </a:defRPr>
            </a:pPr>
            <a:r>
              <a:t>As the national logistics market scales toward a projected $429B by 2034, the firm is poised to benefit from structural shifts toward organized logistics, multimodal integration, and regulatory tailwinds favoring established pan-India players.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8072"/>
          </a:xfrm>
          <a:prstGeom prst="rect">
            <a:avLst/>
          </a:prstGeom>
          <a:solidFill>
            <a:srgbClr val="1A237E"/>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kelp_logo.png"/>
          <p:cNvPicPr>
            <a:picLocks noChangeAspect="1"/>
          </p:cNvPicPr>
          <p:nvPr/>
        </p:nvPicPr>
        <p:blipFill>
          <a:blip r:embed="rId2"/>
          <a:stretch>
            <a:fillRect/>
          </a:stretch>
        </p:blipFill>
        <p:spPr>
          <a:xfrm>
            <a:off x="457200" y="320040"/>
            <a:ext cx="2171508" cy="822960"/>
          </a:xfrm>
          <a:prstGeom prst="rect">
            <a:avLst/>
          </a:prstGeom>
        </p:spPr>
      </p:pic>
      <p:sp>
        <p:nvSpPr>
          <p:cNvPr id="4" name="TextBox 3"/>
          <p:cNvSpPr txBox="1"/>
          <p:nvPr/>
        </p:nvSpPr>
        <p:spPr>
          <a:xfrm>
            <a:off x="457200" y="1371600"/>
            <a:ext cx="8229600" cy="731520"/>
          </a:xfrm>
          <a:prstGeom prst="rect">
            <a:avLst/>
          </a:prstGeom>
          <a:noFill/>
        </p:spPr>
        <p:txBody>
          <a:bodyPr wrap="none">
            <a:spAutoFit/>
          </a:bodyPr>
          <a:lstStyle/>
          <a:p>
            <a:pPr>
              <a:defRPr sz="3600" b="0">
                <a:solidFill>
                  <a:srgbClr val="FFFFFF"/>
                </a:solidFill>
                <a:latin typeface="Arial"/>
              </a:defRPr>
            </a:pPr>
            <a:r>
              <a:t>Important Notice &amp; Disclaimer</a:t>
            </a:r>
          </a:p>
        </p:txBody>
      </p:sp>
      <p:sp>
        <p:nvSpPr>
          <p:cNvPr id="5" name="TextBox 4"/>
          <p:cNvSpPr txBox="1"/>
          <p:nvPr/>
        </p:nvSpPr>
        <p:spPr>
          <a:xfrm>
            <a:off x="457200" y="2011680"/>
            <a:ext cx="8229600" cy="2286000"/>
          </a:xfrm>
          <a:prstGeom prst="rect">
            <a:avLst/>
          </a:prstGeom>
          <a:noFill/>
        </p:spPr>
        <p:txBody>
          <a:bodyPr wrap="square">
            <a:spAutoFit/>
          </a:bodyPr>
          <a:lstStyle/>
          <a:p>
            <a:pPr algn="just">
              <a:defRPr sz="1100">
                <a:solidFill>
                  <a:srgbClr val="FFFFFF"/>
                </a:solidFill>
                <a:latin typeface="Arial"/>
              </a:defRPr>
            </a:pPr>
            <a:r>
              <a:t>Strictly Private &amp; Confidential. This presentation is prepared by Kelp Global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a:t>
            </a:r>
          </a:p>
        </p:txBody>
      </p:sp>
      <p:sp>
        <p:nvSpPr>
          <p:cNvPr id="6" name="TextBox 5"/>
          <p:cNvSpPr txBox="1"/>
          <p:nvPr/>
        </p:nvSpPr>
        <p:spPr>
          <a:xfrm>
            <a:off x="457200" y="4572000"/>
            <a:ext cx="8229600" cy="274320"/>
          </a:xfrm>
          <a:prstGeom prst="rect">
            <a:avLst/>
          </a:prstGeom>
          <a:noFill/>
        </p:spPr>
        <p:txBody>
          <a:bodyPr wrap="none">
            <a:spAutoFit/>
          </a:bodyPr>
          <a:lstStyle/>
          <a:p>
            <a:pPr algn="ctr">
              <a:defRPr sz="900">
                <a:solidFill>
                  <a:srgbClr val="C8C8C8"/>
                </a:solidFill>
              </a:defRPr>
            </a:pPr>
            <a:r>
              <a:t>Strictly Private &amp; Confidential – Prepared by Kelp M&amp;A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514</Words>
  <Application>Microsoft Office PowerPoint</Application>
  <PresentationFormat>On-screen Show (16:9)</PresentationFormat>
  <Paragraphs>51</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SHORYA SETHIA</cp:lastModifiedBy>
  <cp:revision>2</cp:revision>
  <dcterms:created xsi:type="dcterms:W3CDTF">2013-01-27T09:14:16Z</dcterms:created>
  <dcterms:modified xsi:type="dcterms:W3CDTF">2026-02-06T13:31:01Z</dcterms:modified>
  <cp:category/>
</cp:coreProperties>
</file>