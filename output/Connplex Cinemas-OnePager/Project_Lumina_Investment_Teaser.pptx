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6" d="100"/>
          <a:sy n="96" d="100"/>
        </p:scale>
        <p:origin x="420"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clustered"/>
        <c:varyColors val="1"/>
        <c:ser>
          <c:idx val="0"/>
          <c:order val="0"/>
          <c:tx>
            <c:strRef>
              <c:f>Sheet1!$B$1</c:f>
              <c:strCache>
                <c:ptCount val="1"/>
                <c:pt idx="0">
                  <c:v>Revenue ($Mn)</c:v>
                </c:pt>
              </c:strCache>
            </c:strRef>
          </c:tx>
          <c:spPr>
            <a:solidFill>
              <a:srgbClr val="1A237E"/>
            </a:solidFill>
          </c:spPr>
          <c:invertIfNegative val="1"/>
          <c:dLbls>
            <c:numFmt formatCode="#,##0" sourceLinked="0"/>
            <c:spPr>
              <a:noFill/>
              <a:ln>
                <a:noFill/>
              </a:ln>
              <a:effectLst/>
            </c:spPr>
            <c:txPr>
              <a:bodyPr/>
              <a:lstStyle/>
              <a:p>
                <a:pPr>
                  <a:defRPr sz="800" b="1">
                    <a:solidFill>
                      <a:srgbClr val="334155"/>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FY22</c:v>
                </c:pt>
                <c:pt idx="1">
                  <c:v>FY23</c:v>
                </c:pt>
                <c:pt idx="2">
                  <c:v>FY24</c:v>
                </c:pt>
                <c:pt idx="3">
                  <c:v>FY25</c:v>
                </c:pt>
              </c:strCache>
            </c:strRef>
          </c:cat>
          <c:val>
            <c:numRef>
              <c:f>Sheet1!$B$2:$B$5</c:f>
              <c:numCache>
                <c:formatCode>General</c:formatCode>
                <c:ptCount val="4"/>
                <c:pt idx="0">
                  <c:v>68.2</c:v>
                </c:pt>
                <c:pt idx="1">
                  <c:v>253.7</c:v>
                </c:pt>
                <c:pt idx="2">
                  <c:v>611.5</c:v>
                </c:pt>
                <c:pt idx="3">
                  <c:v>959.9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E657-4210-9399-68BF7273DB78}"/>
            </c:ext>
          </c:extLst>
        </c:ser>
        <c:ser>
          <c:idx val="1"/>
          <c:order val="1"/>
          <c:tx>
            <c:strRef>
              <c:f>Sheet1!$C$1</c:f>
              <c:strCache>
                <c:ptCount val="1"/>
                <c:pt idx="0">
                  <c:v>EBITDA ($Mn)</c:v>
                </c:pt>
              </c:strCache>
            </c:strRef>
          </c:tx>
          <c:spPr>
            <a:solidFill>
              <a:srgbClr val="00D4FF"/>
            </a:solidFill>
          </c:spPr>
          <c:invertIfNegative val="1"/>
          <c:dLbls>
            <c:numFmt formatCode="#,##0" sourceLinked="0"/>
            <c:spPr>
              <a:noFill/>
              <a:ln>
                <a:noFill/>
              </a:ln>
              <a:effectLst/>
            </c:spPr>
            <c:txPr>
              <a:bodyPr/>
              <a:lstStyle/>
              <a:p>
                <a:pPr>
                  <a:defRPr sz="800" b="1">
                    <a:solidFill>
                      <a:srgbClr val="334155"/>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FY22</c:v>
                </c:pt>
                <c:pt idx="1">
                  <c:v>FY23</c:v>
                </c:pt>
                <c:pt idx="2">
                  <c:v>FY24</c:v>
                </c:pt>
                <c:pt idx="3">
                  <c:v>FY25</c:v>
                </c:pt>
              </c:strCache>
            </c:strRef>
          </c:cat>
          <c:val>
            <c:numRef>
              <c:f>Sheet1!$C$2:$C$5</c:f>
              <c:numCache>
                <c:formatCode>General</c:formatCode>
                <c:ptCount val="4"/>
                <c:pt idx="0">
                  <c:v>14</c:v>
                </c:pt>
                <c:pt idx="1">
                  <c:v>26.3</c:v>
                </c:pt>
                <c:pt idx="2">
                  <c:v>62</c:v>
                </c:pt>
                <c:pt idx="3">
                  <c:v>262.5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E657-4210-9399-68BF7273DB78}"/>
            </c:ext>
          </c:extLst>
        </c:ser>
        <c:ser>
          <c:idx val="2"/>
          <c:order val="2"/>
          <c:tx>
            <c:strRef>
              <c:f>Sheet1!$D$1</c:f>
              <c:strCache>
                <c:ptCount val="1"/>
                <c:pt idx="0">
                  <c:v>PAT ($Mn)</c:v>
                </c:pt>
              </c:strCache>
            </c:strRef>
          </c:tx>
          <c:spPr>
            <a:solidFill>
              <a:srgbClr val="FF4B91"/>
            </a:solidFill>
          </c:spPr>
          <c:invertIfNegative val="1"/>
          <c:dLbls>
            <c:numFmt formatCode="#,##0" sourceLinked="0"/>
            <c:spPr>
              <a:noFill/>
              <a:ln>
                <a:noFill/>
              </a:ln>
              <a:effectLst/>
            </c:spPr>
            <c:txPr>
              <a:bodyPr/>
              <a:lstStyle/>
              <a:p>
                <a:pPr>
                  <a:defRPr sz="800" b="1">
                    <a:solidFill>
                      <a:srgbClr val="334155"/>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FY22</c:v>
                </c:pt>
                <c:pt idx="1">
                  <c:v>FY23</c:v>
                </c:pt>
                <c:pt idx="2">
                  <c:v>FY24</c:v>
                </c:pt>
                <c:pt idx="3">
                  <c:v>FY25</c:v>
                </c:pt>
              </c:strCache>
            </c:strRef>
          </c:cat>
          <c:val>
            <c:numRef>
              <c:f>Sheet1!$D$2:$D$5</c:f>
              <c:numCache>
                <c:formatCode>General</c:formatCode>
                <c:ptCount val="4"/>
                <c:pt idx="0">
                  <c:v>8.8000000000000007</c:v>
                </c:pt>
                <c:pt idx="1">
                  <c:v>18.600000000000001</c:v>
                </c:pt>
                <c:pt idx="2">
                  <c:v>40.5</c:v>
                </c:pt>
                <c:pt idx="3">
                  <c:v>183.9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E657-4210-9399-68BF7273DB78}"/>
            </c:ext>
          </c:extLst>
        </c:ser>
        <c:dLbls>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none"/>
        <c:minorTickMark val="none"/>
        <c:tickLblPos val="nextTo"/>
        <c:txPr>
          <a:bodyPr/>
          <a:lstStyle/>
          <a:p>
            <a:pPr>
              <a:defRPr sz="800" b="0"/>
            </a:pPr>
            <a:endParaRPr lang="en-US"/>
          </a:p>
        </c:txPr>
        <c:crossAx val="-2113994440"/>
        <c:crosses val="autoZero"/>
        <c:auto val="1"/>
        <c:lblAlgn val="ctr"/>
        <c:lblOffset val="100"/>
        <c:noMultiLvlLbl val="0"/>
      </c:catAx>
      <c:valAx>
        <c:axId val="-2113994440"/>
        <c:scaling>
          <c:orientation val="minMax"/>
        </c:scaling>
        <c:delete val="0"/>
        <c:axPos val="l"/>
        <c:majorGridlines>
          <c:spPr>
            <a:ln w="6350">
              <a:solidFill>
                <a:srgbClr val="E2E8F0"/>
              </a:solidFill>
            </a:ln>
          </c:spPr>
        </c:majorGridlines>
        <c:numFmt formatCode="#,##0" sourceLinked="0"/>
        <c:majorTickMark val="out"/>
        <c:minorTickMark val="none"/>
        <c:tickLblPos val="nextTo"/>
        <c:txPr>
          <a:bodyPr/>
          <a:lstStyle/>
          <a:p>
            <a:pPr>
              <a:defRPr sz="800">
                <a:solidFill>
                  <a:srgbClr val="64748B"/>
                </a:solidFill>
              </a:defRPr>
            </a:pPr>
            <a:endParaRPr lang="en-US"/>
          </a:p>
        </c:txPr>
        <c:crossAx val="-2068027336"/>
        <c:crosses val="autoZero"/>
        <c:crossBetween val="between"/>
      </c:valAx>
    </c:plotArea>
    <c:legend>
      <c:legendPos val="b"/>
      <c:overlay val="0"/>
      <c:txPr>
        <a:bodyPr/>
        <a:lstStyle/>
        <a:p>
          <a:pPr>
            <a:defRPr sz="900"/>
          </a:pPr>
          <a:endParaRPr lang="en-US"/>
        </a:p>
      </c:txPr>
    </c:legend>
    <c:plotVisOnly val="1"/>
    <c:dispBlanksAs val="gap"/>
    <c:showDLblsOverMax val="1"/>
  </c:chart>
  <c:txPr>
    <a:bodyPr/>
    <a:lstStyle/>
    <a:p>
      <a:pPr>
        <a:defRPr sz="900">
          <a:solidFill>
            <a:srgbClr val="4A5568"/>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overlay val="0"/>
    </c:title>
    <c:autoTitleDeleted val="0"/>
    <c:plotArea>
      <c:layout/>
      <c:lineChart>
        <c:grouping val="standard"/>
        <c:varyColors val="0"/>
        <c:ser>
          <c:idx val="0"/>
          <c:order val="0"/>
          <c:tx>
            <c:strRef>
              <c:f>Sheet1!$B$1</c:f>
              <c:strCache>
                <c:ptCount val="1"/>
                <c:pt idx="0">
                  <c:v>EBITDA Margin %</c:v>
                </c:pt>
              </c:strCache>
            </c:strRef>
          </c:tx>
          <c:spPr>
            <a:ln w="31750">
              <a:solidFill>
                <a:srgbClr val="FF4B91"/>
              </a:solidFill>
            </a:ln>
          </c:spPr>
          <c:marker>
            <c:symbol val="none"/>
          </c:marker>
          <c:dLbls>
            <c:numFmt formatCode="#,##0" sourceLinked="0"/>
            <c:spPr>
              <a:noFill/>
              <a:ln>
                <a:noFill/>
              </a:ln>
              <a:effectLst/>
            </c:spPr>
            <c:txPr>
              <a:bodyPr/>
              <a:lstStyle/>
              <a:p>
                <a:pPr>
                  <a:defRPr sz="800" b="1">
                    <a:solidFill>
                      <a:srgbClr val="334155"/>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FY22</c:v>
                </c:pt>
                <c:pt idx="1">
                  <c:v>FY23</c:v>
                </c:pt>
                <c:pt idx="2">
                  <c:v>FY24</c:v>
                </c:pt>
                <c:pt idx="3">
                  <c:v>FY25</c:v>
                </c:pt>
              </c:strCache>
            </c:strRef>
          </c:cat>
          <c:val>
            <c:numRef>
              <c:f>Sheet1!$B$2:$B$5</c:f>
              <c:numCache>
                <c:formatCode>General</c:formatCode>
                <c:ptCount val="4"/>
                <c:pt idx="0">
                  <c:v>20.5</c:v>
                </c:pt>
                <c:pt idx="1">
                  <c:v>10.4</c:v>
                </c:pt>
                <c:pt idx="2">
                  <c:v>10.1</c:v>
                </c:pt>
                <c:pt idx="3">
                  <c:v>27.3</c:v>
                </c:pt>
              </c:numCache>
            </c:numRef>
          </c:val>
          <c:smooth val="1"/>
          <c:extLst>
            <c:ext xmlns:c16="http://schemas.microsoft.com/office/drawing/2014/chart" uri="{C3380CC4-5D6E-409C-BE32-E72D297353CC}">
              <c16:uniqueId val="{00000000-6EFE-436A-ABB8-0C1883BB27C3}"/>
            </c:ext>
          </c:extLst>
        </c:ser>
        <c:dLbls>
          <c:showLegendKey val="0"/>
          <c:showVal val="1"/>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none"/>
        <c:minorTickMark val="none"/>
        <c:tickLblPos val="nextTo"/>
        <c:txPr>
          <a:bodyPr/>
          <a:lstStyle/>
          <a:p>
            <a:pPr>
              <a:defRPr sz="800" b="0"/>
            </a:pPr>
            <a:endParaRPr lang="en-US"/>
          </a:p>
        </c:txPr>
        <c:crossAx val="2140495176"/>
        <c:crosses val="autoZero"/>
        <c:auto val="1"/>
        <c:lblAlgn val="ctr"/>
        <c:lblOffset val="100"/>
        <c:noMultiLvlLbl val="0"/>
      </c:catAx>
      <c:valAx>
        <c:axId val="2140495176"/>
        <c:scaling>
          <c:orientation val="minMax"/>
        </c:scaling>
        <c:delete val="0"/>
        <c:axPos val="l"/>
        <c:majorGridlines>
          <c:spPr>
            <a:ln w="6350">
              <a:solidFill>
                <a:srgbClr val="E2E8F0"/>
              </a:solidFill>
            </a:ln>
          </c:spPr>
        </c:majorGridlines>
        <c:numFmt formatCode="#,##0" sourceLinked="0"/>
        <c:majorTickMark val="out"/>
        <c:minorTickMark val="none"/>
        <c:tickLblPos val="nextTo"/>
        <c:txPr>
          <a:bodyPr/>
          <a:lstStyle/>
          <a:p>
            <a:pPr>
              <a:defRPr sz="800">
                <a:solidFill>
                  <a:srgbClr val="64748B"/>
                </a:solidFill>
              </a:defRPr>
            </a:pPr>
            <a:endParaRPr lang="en-US"/>
          </a:p>
        </c:txPr>
        <c:crossAx val="2118791784"/>
        <c:crosses val="autoZero"/>
        <c:crossBetween val="between"/>
      </c:valAx>
    </c:plotArea>
    <c:legend>
      <c:legendPos val="b"/>
      <c:overlay val="0"/>
      <c:txPr>
        <a:bodyPr/>
        <a:lstStyle/>
        <a:p>
          <a:pPr>
            <a:defRPr sz="900"/>
          </a:pPr>
          <a:endParaRPr lang="en-US"/>
        </a:p>
      </c:txPr>
    </c:legend>
    <c:plotVisOnly val="1"/>
    <c:dispBlanksAs val="gap"/>
    <c:showDLblsOverMax val="0"/>
  </c:chart>
  <c:txPr>
    <a:bodyPr/>
    <a:lstStyle/>
    <a:p>
      <a:pPr>
        <a:defRPr sz="900">
          <a:solidFill>
            <a:srgbClr val="4A5568"/>
          </a:solidFill>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8072"/>
          </a:xfrm>
          <a:prstGeom prst="rect">
            <a:avLst/>
          </a:prstGeom>
          <a:solidFill>
            <a:srgbClr val="2D1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77240" cy="5148072"/>
          </a:xfrm>
          <a:prstGeom prst="rect">
            <a:avLst/>
          </a:prstGeom>
          <a:solidFill>
            <a:srgbClr val="003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77240" y="0"/>
            <a:ext cx="4114800" cy="2926080"/>
          </a:xfrm>
          <a:prstGeom prst="rect">
            <a:avLst/>
          </a:prstGeom>
          <a:solidFill>
            <a:srgbClr val="D11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Isosceles Triangle 4"/>
          <p:cNvSpPr/>
          <p:nvPr/>
        </p:nvSpPr>
        <p:spPr>
          <a:xfrm rot="2700000">
            <a:off x="1097280" y="2560320"/>
            <a:ext cx="3200400" cy="2743200"/>
          </a:xfrm>
          <a:prstGeom prst="triangle">
            <a:avLst/>
          </a:prstGeom>
          <a:solidFill>
            <a:srgbClr val="D11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kelp_logo.png"/>
          <p:cNvPicPr>
            <a:picLocks noChangeAspect="1"/>
          </p:cNvPicPr>
          <p:nvPr/>
        </p:nvPicPr>
        <p:blipFill>
          <a:blip r:embed="rId2"/>
          <a:stretch>
            <a:fillRect/>
          </a:stretch>
        </p:blipFill>
        <p:spPr>
          <a:xfrm>
            <a:off x="1371600" y="320040"/>
            <a:ext cx="2171508" cy="822960"/>
          </a:xfrm>
          <a:prstGeom prst="rect">
            <a:avLst/>
          </a:prstGeom>
        </p:spPr>
      </p:pic>
      <p:sp>
        <p:nvSpPr>
          <p:cNvPr id="7" name="TextBox 6"/>
          <p:cNvSpPr txBox="1"/>
          <p:nvPr/>
        </p:nvSpPr>
        <p:spPr>
          <a:xfrm>
            <a:off x="1371600" y="1463040"/>
            <a:ext cx="6858000" cy="1371600"/>
          </a:xfrm>
          <a:prstGeom prst="rect">
            <a:avLst/>
          </a:prstGeom>
          <a:noFill/>
        </p:spPr>
        <p:txBody>
          <a:bodyPr wrap="none">
            <a:spAutoFit/>
          </a:bodyPr>
          <a:lstStyle/>
          <a:p>
            <a:pPr>
              <a:lnSpc>
                <a:spcPct val="100000"/>
              </a:lnSpc>
              <a:defRPr sz="7200" b="1">
                <a:solidFill>
                  <a:srgbClr val="FFFFFF"/>
                </a:solidFill>
                <a:latin typeface="Arial"/>
              </a:defRPr>
            </a:pPr>
            <a:r>
              <a:t>Project Lumina</a:t>
            </a:r>
          </a:p>
        </p:txBody>
      </p:sp>
      <p:sp>
        <p:nvSpPr>
          <p:cNvPr id="8" name="TextBox 7"/>
          <p:cNvSpPr txBox="1"/>
          <p:nvPr/>
        </p:nvSpPr>
        <p:spPr>
          <a:xfrm>
            <a:off x="1371600" y="3474720"/>
            <a:ext cx="4572000" cy="548640"/>
          </a:xfrm>
          <a:prstGeom prst="rect">
            <a:avLst/>
          </a:prstGeom>
          <a:noFill/>
        </p:spPr>
        <p:txBody>
          <a:bodyPr wrap="none">
            <a:spAutoFit/>
          </a:bodyPr>
          <a:lstStyle/>
          <a:p>
            <a:pPr>
              <a:defRPr sz="2400" b="1">
                <a:solidFill>
                  <a:srgbClr val="FFFFFF"/>
                </a:solidFill>
                <a:latin typeface="Arial"/>
              </a:defRPr>
            </a:pPr>
            <a:r>
              <a:t>Investment Brief</a:t>
            </a:r>
          </a:p>
        </p:txBody>
      </p:sp>
      <p:sp>
        <p:nvSpPr>
          <p:cNvPr id="9" name="TextBox 8"/>
          <p:cNvSpPr txBox="1"/>
          <p:nvPr/>
        </p:nvSpPr>
        <p:spPr>
          <a:xfrm>
            <a:off x="1371600" y="4023360"/>
            <a:ext cx="3657600" cy="365760"/>
          </a:xfrm>
          <a:prstGeom prst="rect">
            <a:avLst/>
          </a:prstGeom>
          <a:noFill/>
        </p:spPr>
        <p:txBody>
          <a:bodyPr wrap="none">
            <a:spAutoFit/>
          </a:bodyPr>
          <a:lstStyle/>
          <a:p>
            <a:pPr>
              <a:defRPr sz="1400" i="1">
                <a:solidFill>
                  <a:srgbClr val="C8C8C8"/>
                </a:solidFill>
                <a:latin typeface="Arial"/>
              </a:defRPr>
            </a:pPr>
            <a:r>
              <a:t>kelpglobal.com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37160"/>
            <a:ext cx="5486400" cy="457200"/>
          </a:xfrm>
          <a:prstGeom prst="rect">
            <a:avLst/>
          </a:prstGeom>
          <a:noFill/>
        </p:spPr>
        <p:txBody>
          <a:bodyPr wrap="none">
            <a:spAutoFit/>
          </a:bodyPr>
          <a:lstStyle/>
          <a:p>
            <a:pPr>
              <a:defRPr sz="2000" b="1">
                <a:solidFill>
                  <a:srgbClr val="FFFFFF"/>
                </a:solidFill>
                <a:latin typeface="Arial"/>
              </a:defRPr>
            </a:pPr>
            <a:r>
              <a:t>BUSINESS OVERVIEW</a:t>
            </a:r>
          </a:p>
        </p:txBody>
      </p:sp>
      <p:pic>
        <p:nvPicPr>
          <p:cNvPr id="4" name="Picture 3" descr="kelp_logo.png"/>
          <p:cNvPicPr>
            <a:picLocks noChangeAspect="1"/>
          </p:cNvPicPr>
          <p:nvPr/>
        </p:nvPicPr>
        <p:blipFill>
          <a:blip r:embed="rId2"/>
          <a:stretch>
            <a:fillRect/>
          </a:stretch>
        </p:blipFill>
        <p:spPr>
          <a:xfrm>
            <a:off x="7589520" y="91440"/>
            <a:ext cx="1447672" cy="548640"/>
          </a:xfrm>
          <a:prstGeom prst="rect">
            <a:avLst/>
          </a:prstGeom>
        </p:spPr>
      </p:pic>
      <p:sp>
        <p:nvSpPr>
          <p:cNvPr id="5" name="Rectangle 4"/>
          <p:cNvSpPr/>
          <p:nvPr/>
        </p:nvSpPr>
        <p:spPr>
          <a:xfrm>
            <a:off x="0" y="4846320"/>
            <a:ext cx="9144000" cy="30175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4892040"/>
            <a:ext cx="8229600" cy="228600"/>
          </a:xfrm>
          <a:prstGeom prst="rect">
            <a:avLst/>
          </a:prstGeom>
          <a:noFill/>
        </p:spPr>
        <p:txBody>
          <a:bodyPr wrap="none">
            <a:spAutoFit/>
          </a:bodyPr>
          <a:lstStyle/>
          <a:p>
            <a:pPr algn="ctr">
              <a:defRPr sz="900">
                <a:solidFill>
                  <a:srgbClr val="646464"/>
                </a:solidFill>
              </a:defRPr>
            </a:pPr>
            <a:r>
              <a:t>Strictly Private &amp; Confidential – Prepared by Kelp M&amp;A Team</a:t>
            </a:r>
          </a:p>
        </p:txBody>
      </p:sp>
      <p:sp>
        <p:nvSpPr>
          <p:cNvPr id="7" name="TextBox 6"/>
          <p:cNvSpPr txBox="1"/>
          <p:nvPr/>
        </p:nvSpPr>
        <p:spPr>
          <a:xfrm>
            <a:off x="548640" y="960120"/>
            <a:ext cx="5303520" cy="960120"/>
          </a:xfrm>
          <a:prstGeom prst="rect">
            <a:avLst/>
          </a:prstGeom>
          <a:noFill/>
        </p:spPr>
        <p:txBody>
          <a:bodyPr wrap="square">
            <a:spAutoFit/>
          </a:bodyPr>
          <a:lstStyle/>
          <a:p>
            <a:pPr algn="l">
              <a:defRPr sz="900" b="0">
                <a:solidFill>
                  <a:srgbClr val="4A5568"/>
                </a:solidFill>
                <a:latin typeface="Arial"/>
              </a:defRPr>
            </a:pPr>
            <a:r>
              <a:t>The Company is a premier entertainment services provider specializing in smart cinema chains and multiplex management. Operating 33 locations across Western India and expanding into North American markets, the firm delivers high-end cinematic experiences through its proprietary brand. Core capabilities include end-to-end cinema management, integrated food and beverage services, and technology-driven viewer engagement strategies designed to optimize operational efficiency and customer satisfaction.</a:t>
            </a:r>
          </a:p>
        </p:txBody>
      </p:sp>
      <p:sp>
        <p:nvSpPr>
          <p:cNvPr id="8" name="TextBox 7"/>
          <p:cNvSpPr txBox="1"/>
          <p:nvPr/>
        </p:nvSpPr>
        <p:spPr>
          <a:xfrm>
            <a:off x="640080" y="2057400"/>
            <a:ext cx="5120640" cy="274320"/>
          </a:xfrm>
          <a:prstGeom prst="rect">
            <a:avLst/>
          </a:prstGeom>
          <a:noFill/>
        </p:spPr>
        <p:txBody>
          <a:bodyPr wrap="square">
            <a:spAutoFit/>
          </a:bodyPr>
          <a:lstStyle/>
          <a:p>
            <a:pPr algn="l">
              <a:defRPr sz="850" b="0">
                <a:solidFill>
                  <a:srgbClr val="4A5568"/>
                </a:solidFill>
                <a:latin typeface="Arial"/>
              </a:defRPr>
            </a:pPr>
            <a:r>
              <a:t>■ Operates 33 smart cinema locations across Western India and international markets</a:t>
            </a:r>
          </a:p>
        </p:txBody>
      </p:sp>
      <p:sp>
        <p:nvSpPr>
          <p:cNvPr id="9" name="TextBox 8"/>
          <p:cNvSpPr txBox="1"/>
          <p:nvPr/>
        </p:nvSpPr>
        <p:spPr>
          <a:xfrm>
            <a:off x="640080" y="2313432"/>
            <a:ext cx="5120640" cy="274320"/>
          </a:xfrm>
          <a:prstGeom prst="rect">
            <a:avLst/>
          </a:prstGeom>
          <a:noFill/>
        </p:spPr>
        <p:txBody>
          <a:bodyPr wrap="square">
            <a:spAutoFit/>
          </a:bodyPr>
          <a:lstStyle/>
          <a:p>
            <a:pPr algn="l">
              <a:defRPr sz="850" b="0">
                <a:solidFill>
                  <a:srgbClr val="4A5568"/>
                </a:solidFill>
                <a:latin typeface="Arial"/>
              </a:defRPr>
            </a:pPr>
            <a:r>
              <a:t>■ Over 11 years of operational excellence in the cinema exhibition and management sector</a:t>
            </a:r>
          </a:p>
        </p:txBody>
      </p:sp>
      <p:sp>
        <p:nvSpPr>
          <p:cNvPr id="10" name="TextBox 9"/>
          <p:cNvSpPr txBox="1"/>
          <p:nvPr/>
        </p:nvSpPr>
        <p:spPr>
          <a:xfrm>
            <a:off x="640080" y="2569464"/>
            <a:ext cx="5120640" cy="274320"/>
          </a:xfrm>
          <a:prstGeom prst="rect">
            <a:avLst/>
          </a:prstGeom>
          <a:noFill/>
        </p:spPr>
        <p:txBody>
          <a:bodyPr wrap="square">
            <a:spAutoFit/>
          </a:bodyPr>
          <a:lstStyle/>
          <a:p>
            <a:pPr algn="l">
              <a:defRPr sz="850" b="0">
                <a:solidFill>
                  <a:srgbClr val="4A5568"/>
                </a:solidFill>
                <a:latin typeface="Arial"/>
              </a:defRPr>
            </a:pPr>
            <a:r>
              <a:t>■ Comprehensive service model encompassing ticketing, security, and marketing outsourcing</a:t>
            </a:r>
          </a:p>
        </p:txBody>
      </p:sp>
      <p:sp>
        <p:nvSpPr>
          <p:cNvPr id="11" name="TextBox 10"/>
          <p:cNvSpPr txBox="1"/>
          <p:nvPr/>
        </p:nvSpPr>
        <p:spPr>
          <a:xfrm>
            <a:off x="640080" y="2825496"/>
            <a:ext cx="5120640" cy="274320"/>
          </a:xfrm>
          <a:prstGeom prst="rect">
            <a:avLst/>
          </a:prstGeom>
          <a:noFill/>
        </p:spPr>
        <p:txBody>
          <a:bodyPr wrap="square">
            <a:spAutoFit/>
          </a:bodyPr>
          <a:lstStyle/>
          <a:p>
            <a:pPr algn="l">
              <a:defRPr sz="850" b="0">
                <a:solidFill>
                  <a:srgbClr val="4A5568"/>
                </a:solidFill>
                <a:latin typeface="Arial"/>
              </a:defRPr>
            </a:pPr>
            <a:r>
              <a:t>■ Recipient of prestigious industry accolades including the Times Business Award for Innovation in Entertainment</a:t>
            </a:r>
          </a:p>
        </p:txBody>
      </p:sp>
      <p:sp>
        <p:nvSpPr>
          <p:cNvPr id="12" name="TextBox 11"/>
          <p:cNvSpPr txBox="1"/>
          <p:nvPr/>
        </p:nvSpPr>
        <p:spPr>
          <a:xfrm>
            <a:off x="457200" y="3154680"/>
            <a:ext cx="5486400" cy="457200"/>
          </a:xfrm>
          <a:prstGeom prst="rect">
            <a:avLst/>
          </a:prstGeom>
          <a:noFill/>
        </p:spPr>
        <p:txBody>
          <a:bodyPr wrap="none">
            <a:spAutoFit/>
          </a:bodyPr>
          <a:lstStyle/>
          <a:p>
            <a:pPr>
              <a:defRPr sz="1400" b="1">
                <a:solidFill>
                  <a:srgbClr val="1A237E"/>
                </a:solidFill>
                <a:latin typeface="Arial"/>
              </a:defRPr>
            </a:pPr>
            <a:r>
              <a:t>PRODUCT SEGMENTS</a:t>
            </a:r>
          </a:p>
        </p:txBody>
      </p:sp>
      <p:sp>
        <p:nvSpPr>
          <p:cNvPr id="13" name="Rectangle 12"/>
          <p:cNvSpPr/>
          <p:nvPr/>
        </p:nvSpPr>
        <p:spPr>
          <a:xfrm>
            <a:off x="457200" y="3474720"/>
            <a:ext cx="5486400" cy="27432"/>
          </a:xfrm>
          <a:prstGeom prst="rect">
            <a:avLst/>
          </a:prstGeom>
          <a:solidFill>
            <a:srgbClr val="FF4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93776" y="3584447"/>
            <a:ext cx="2560320" cy="237744"/>
          </a:xfrm>
          <a:prstGeom prst="roundRect">
            <a:avLst/>
          </a:prstGeom>
          <a:solidFill>
            <a:srgbClr val="F0F5FF"/>
          </a:solidFill>
          <a:ln w="9525">
            <a:solidFill>
              <a:srgbClr val="C8D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8639" y="3621023"/>
            <a:ext cx="2377440" cy="164592"/>
          </a:xfrm>
          <a:prstGeom prst="rect">
            <a:avLst/>
          </a:prstGeom>
          <a:noFill/>
        </p:spPr>
        <p:txBody>
          <a:bodyPr wrap="none">
            <a:spAutoFit/>
          </a:bodyPr>
          <a:lstStyle/>
          <a:p>
            <a:pPr algn="ctr">
              <a:defRPr sz="800">
                <a:solidFill>
                  <a:srgbClr val="333333"/>
                </a:solidFill>
                <a:latin typeface="Arial"/>
              </a:defRPr>
            </a:pPr>
            <a:r>
              <a:t>Cinematic Exhibition</a:t>
            </a:r>
          </a:p>
        </p:txBody>
      </p:sp>
      <p:sp>
        <p:nvSpPr>
          <p:cNvPr id="16" name="Rounded Rectangle 15"/>
          <p:cNvSpPr/>
          <p:nvPr/>
        </p:nvSpPr>
        <p:spPr>
          <a:xfrm>
            <a:off x="3236976" y="3584447"/>
            <a:ext cx="2560320" cy="237744"/>
          </a:xfrm>
          <a:prstGeom prst="roundRect">
            <a:avLst/>
          </a:prstGeom>
          <a:solidFill>
            <a:srgbClr val="F0F5FF"/>
          </a:solidFill>
          <a:ln w="9525">
            <a:solidFill>
              <a:srgbClr val="C8D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91840" y="3621023"/>
            <a:ext cx="2377440" cy="164592"/>
          </a:xfrm>
          <a:prstGeom prst="rect">
            <a:avLst/>
          </a:prstGeom>
          <a:noFill/>
        </p:spPr>
        <p:txBody>
          <a:bodyPr wrap="none">
            <a:spAutoFit/>
          </a:bodyPr>
          <a:lstStyle/>
          <a:p>
            <a:pPr algn="ctr">
              <a:defRPr sz="800">
                <a:solidFill>
                  <a:srgbClr val="333333"/>
                </a:solidFill>
                <a:latin typeface="Arial"/>
              </a:defRPr>
            </a:pPr>
            <a:r>
              <a:t>Cinema Management Services</a:t>
            </a:r>
          </a:p>
        </p:txBody>
      </p:sp>
      <p:sp>
        <p:nvSpPr>
          <p:cNvPr id="18" name="Rounded Rectangle 17"/>
          <p:cNvSpPr/>
          <p:nvPr/>
        </p:nvSpPr>
        <p:spPr>
          <a:xfrm>
            <a:off x="493776" y="3877055"/>
            <a:ext cx="2560320" cy="237744"/>
          </a:xfrm>
          <a:prstGeom prst="roundRect">
            <a:avLst/>
          </a:prstGeom>
          <a:solidFill>
            <a:srgbClr val="F0F5FF"/>
          </a:solidFill>
          <a:ln w="9525">
            <a:solidFill>
              <a:srgbClr val="C8D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8639" y="3913631"/>
            <a:ext cx="2377440" cy="164592"/>
          </a:xfrm>
          <a:prstGeom prst="rect">
            <a:avLst/>
          </a:prstGeom>
          <a:noFill/>
        </p:spPr>
        <p:txBody>
          <a:bodyPr wrap="none">
            <a:spAutoFit/>
          </a:bodyPr>
          <a:lstStyle/>
          <a:p>
            <a:pPr algn="ctr">
              <a:defRPr sz="800">
                <a:solidFill>
                  <a:srgbClr val="333333"/>
                </a:solidFill>
                <a:latin typeface="Arial"/>
              </a:defRPr>
            </a:pPr>
            <a:r>
              <a:t>Food &amp; Beverage Operations</a:t>
            </a:r>
          </a:p>
        </p:txBody>
      </p:sp>
      <p:sp>
        <p:nvSpPr>
          <p:cNvPr id="20" name="Rounded Rectangle 19"/>
          <p:cNvSpPr/>
          <p:nvPr/>
        </p:nvSpPr>
        <p:spPr>
          <a:xfrm>
            <a:off x="3236976" y="3877055"/>
            <a:ext cx="2560320" cy="237744"/>
          </a:xfrm>
          <a:prstGeom prst="roundRect">
            <a:avLst/>
          </a:prstGeom>
          <a:solidFill>
            <a:srgbClr val="F0F5FF"/>
          </a:solidFill>
          <a:ln w="9525">
            <a:solidFill>
              <a:srgbClr val="C8D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291840" y="3913631"/>
            <a:ext cx="2377440" cy="164592"/>
          </a:xfrm>
          <a:prstGeom prst="rect">
            <a:avLst/>
          </a:prstGeom>
          <a:noFill/>
        </p:spPr>
        <p:txBody>
          <a:bodyPr wrap="none">
            <a:spAutoFit/>
          </a:bodyPr>
          <a:lstStyle/>
          <a:p>
            <a:pPr algn="ctr">
              <a:defRPr sz="800">
                <a:solidFill>
                  <a:srgbClr val="333333"/>
                </a:solidFill>
                <a:latin typeface="Arial"/>
              </a:defRPr>
            </a:pPr>
            <a:r>
              <a:t>In-cinema Advertising</a:t>
            </a:r>
          </a:p>
        </p:txBody>
      </p:sp>
      <p:sp>
        <p:nvSpPr>
          <p:cNvPr id="22" name="TextBox 21"/>
          <p:cNvSpPr txBox="1"/>
          <p:nvPr/>
        </p:nvSpPr>
        <p:spPr>
          <a:xfrm>
            <a:off x="6126480" y="868680"/>
            <a:ext cx="2377440" cy="457200"/>
          </a:xfrm>
          <a:prstGeom prst="rect">
            <a:avLst/>
          </a:prstGeom>
          <a:noFill/>
        </p:spPr>
        <p:txBody>
          <a:bodyPr wrap="none">
            <a:spAutoFit/>
          </a:bodyPr>
          <a:lstStyle/>
          <a:p>
            <a:pPr>
              <a:defRPr sz="1400" b="1">
                <a:solidFill>
                  <a:srgbClr val="1A237E"/>
                </a:solidFill>
                <a:latin typeface="Arial"/>
              </a:defRPr>
            </a:pPr>
            <a:r>
              <a:t>AT A GLANCE</a:t>
            </a:r>
          </a:p>
        </p:txBody>
      </p:sp>
      <p:sp>
        <p:nvSpPr>
          <p:cNvPr id="23" name="Rectangle 22"/>
          <p:cNvSpPr/>
          <p:nvPr/>
        </p:nvSpPr>
        <p:spPr>
          <a:xfrm>
            <a:off x="6126480" y="1188719"/>
            <a:ext cx="2377440" cy="27432"/>
          </a:xfrm>
          <a:prstGeom prst="rect">
            <a:avLst/>
          </a:prstGeom>
          <a:solidFill>
            <a:srgbClr val="FF4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217922" y="1272407"/>
            <a:ext cx="1005839" cy="365760"/>
          </a:xfrm>
          <a:prstGeom prst="roundRect">
            <a:avLst/>
          </a:prstGeom>
          <a:solidFill>
            <a:srgbClr val="F5F5FA"/>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09361" y="1345559"/>
            <a:ext cx="822959" cy="146304"/>
          </a:xfrm>
          <a:prstGeom prst="rect">
            <a:avLst/>
          </a:prstGeom>
          <a:noFill/>
        </p:spPr>
        <p:txBody>
          <a:bodyPr wrap="none">
            <a:spAutoFit/>
          </a:bodyPr>
          <a:lstStyle/>
          <a:p>
            <a:pPr algn="ctr">
              <a:defRPr sz="1600" b="1">
                <a:solidFill>
                  <a:srgbClr val="FF4B91"/>
                </a:solidFill>
                <a:latin typeface="Arial"/>
              </a:defRPr>
            </a:pPr>
            <a:r>
              <a:t>33</a:t>
            </a:r>
          </a:p>
        </p:txBody>
      </p:sp>
      <p:sp>
        <p:nvSpPr>
          <p:cNvPr id="26" name="TextBox 25"/>
          <p:cNvSpPr txBox="1"/>
          <p:nvPr/>
        </p:nvSpPr>
        <p:spPr>
          <a:xfrm>
            <a:off x="6309359" y="1618488"/>
            <a:ext cx="822959" cy="146304"/>
          </a:xfrm>
          <a:prstGeom prst="rect">
            <a:avLst/>
          </a:prstGeom>
          <a:noFill/>
        </p:spPr>
        <p:txBody>
          <a:bodyPr wrap="none">
            <a:spAutoFit/>
          </a:bodyPr>
          <a:lstStyle/>
          <a:p>
            <a:pPr algn="ctr">
              <a:defRPr sz="800">
                <a:solidFill>
                  <a:srgbClr val="4A5568"/>
                </a:solidFill>
                <a:latin typeface="Arial"/>
              </a:defRPr>
            </a:pPr>
            <a:r>
              <a:t>Multiplex Locations</a:t>
            </a:r>
          </a:p>
        </p:txBody>
      </p:sp>
      <p:sp>
        <p:nvSpPr>
          <p:cNvPr id="27" name="Rounded Rectangle 26"/>
          <p:cNvSpPr/>
          <p:nvPr/>
        </p:nvSpPr>
        <p:spPr>
          <a:xfrm>
            <a:off x="7406642" y="1272407"/>
            <a:ext cx="1005839" cy="365760"/>
          </a:xfrm>
          <a:prstGeom prst="roundRect">
            <a:avLst/>
          </a:prstGeom>
          <a:solidFill>
            <a:srgbClr val="F5F5FA"/>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498081" y="1345559"/>
            <a:ext cx="822959" cy="146304"/>
          </a:xfrm>
          <a:prstGeom prst="rect">
            <a:avLst/>
          </a:prstGeom>
          <a:noFill/>
        </p:spPr>
        <p:txBody>
          <a:bodyPr wrap="none">
            <a:spAutoFit/>
          </a:bodyPr>
          <a:lstStyle/>
          <a:p>
            <a:pPr algn="ctr">
              <a:defRPr sz="1600" b="1">
                <a:solidFill>
                  <a:srgbClr val="FF4B91"/>
                </a:solidFill>
                <a:latin typeface="Arial"/>
              </a:defRPr>
            </a:pPr>
            <a:r>
              <a:t>11</a:t>
            </a:r>
          </a:p>
        </p:txBody>
      </p:sp>
      <p:sp>
        <p:nvSpPr>
          <p:cNvPr id="29" name="TextBox 28"/>
          <p:cNvSpPr txBox="1"/>
          <p:nvPr/>
        </p:nvSpPr>
        <p:spPr>
          <a:xfrm>
            <a:off x="7498079" y="1618488"/>
            <a:ext cx="822959" cy="146304"/>
          </a:xfrm>
          <a:prstGeom prst="rect">
            <a:avLst/>
          </a:prstGeom>
          <a:noFill/>
        </p:spPr>
        <p:txBody>
          <a:bodyPr wrap="none">
            <a:spAutoFit/>
          </a:bodyPr>
          <a:lstStyle/>
          <a:p>
            <a:pPr algn="ctr">
              <a:defRPr sz="800">
                <a:solidFill>
                  <a:srgbClr val="4A5568"/>
                </a:solidFill>
                <a:latin typeface="Arial"/>
              </a:defRPr>
            </a:pPr>
            <a:r>
              <a:t>Years of Operation</a:t>
            </a:r>
          </a:p>
        </p:txBody>
      </p:sp>
      <p:sp>
        <p:nvSpPr>
          <p:cNvPr id="30" name="Rounded Rectangle 29"/>
          <p:cNvSpPr/>
          <p:nvPr/>
        </p:nvSpPr>
        <p:spPr>
          <a:xfrm>
            <a:off x="6217920" y="1842516"/>
            <a:ext cx="1005839" cy="365760"/>
          </a:xfrm>
          <a:prstGeom prst="roundRect">
            <a:avLst/>
          </a:prstGeom>
          <a:solidFill>
            <a:srgbClr val="F5F5FA"/>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309359" y="1915668"/>
            <a:ext cx="822959" cy="146304"/>
          </a:xfrm>
          <a:prstGeom prst="rect">
            <a:avLst/>
          </a:prstGeom>
          <a:noFill/>
        </p:spPr>
        <p:txBody>
          <a:bodyPr wrap="none">
            <a:spAutoFit/>
          </a:bodyPr>
          <a:lstStyle/>
          <a:p>
            <a:pPr algn="ctr">
              <a:defRPr sz="1600" b="1">
                <a:solidFill>
                  <a:srgbClr val="FF4B91"/>
                </a:solidFill>
                <a:latin typeface="Arial"/>
              </a:defRPr>
            </a:pPr>
            <a:r>
              <a:t>B2C</a:t>
            </a:r>
          </a:p>
        </p:txBody>
      </p:sp>
      <p:sp>
        <p:nvSpPr>
          <p:cNvPr id="32" name="TextBox 31"/>
          <p:cNvSpPr txBox="1"/>
          <p:nvPr/>
        </p:nvSpPr>
        <p:spPr>
          <a:xfrm>
            <a:off x="6309359" y="2167128"/>
            <a:ext cx="822959" cy="146304"/>
          </a:xfrm>
          <a:prstGeom prst="rect">
            <a:avLst/>
          </a:prstGeom>
          <a:noFill/>
        </p:spPr>
        <p:txBody>
          <a:bodyPr wrap="none">
            <a:spAutoFit/>
          </a:bodyPr>
          <a:lstStyle/>
          <a:p>
            <a:pPr algn="ctr">
              <a:defRPr sz="800">
                <a:solidFill>
                  <a:srgbClr val="4A5568"/>
                </a:solidFill>
                <a:latin typeface="Arial"/>
              </a:defRPr>
            </a:pPr>
            <a:r>
              <a:t>Business Model</a:t>
            </a:r>
          </a:p>
        </p:txBody>
      </p:sp>
      <p:sp>
        <p:nvSpPr>
          <p:cNvPr id="33" name="Rounded Rectangle 32"/>
          <p:cNvSpPr/>
          <p:nvPr/>
        </p:nvSpPr>
        <p:spPr>
          <a:xfrm>
            <a:off x="7406640" y="1842516"/>
            <a:ext cx="1005839" cy="365760"/>
          </a:xfrm>
          <a:prstGeom prst="roundRect">
            <a:avLst/>
          </a:prstGeom>
          <a:solidFill>
            <a:srgbClr val="F5F5FA"/>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498079" y="1915668"/>
            <a:ext cx="822959" cy="146304"/>
          </a:xfrm>
          <a:prstGeom prst="rect">
            <a:avLst/>
          </a:prstGeom>
          <a:noFill/>
        </p:spPr>
        <p:txBody>
          <a:bodyPr wrap="none">
            <a:spAutoFit/>
          </a:bodyPr>
          <a:lstStyle/>
          <a:p>
            <a:pPr algn="ctr">
              <a:defRPr sz="1400" b="1">
                <a:solidFill>
                  <a:srgbClr val="FF4B91"/>
                </a:solidFill>
                <a:latin typeface="Arial"/>
              </a:defRPr>
            </a:pPr>
            <a:r>
              <a:t>Public</a:t>
            </a:r>
          </a:p>
        </p:txBody>
      </p:sp>
      <p:sp>
        <p:nvSpPr>
          <p:cNvPr id="35" name="TextBox 34"/>
          <p:cNvSpPr txBox="1"/>
          <p:nvPr/>
        </p:nvSpPr>
        <p:spPr>
          <a:xfrm>
            <a:off x="7498079" y="2167128"/>
            <a:ext cx="822959" cy="146304"/>
          </a:xfrm>
          <a:prstGeom prst="rect">
            <a:avLst/>
          </a:prstGeom>
          <a:noFill/>
        </p:spPr>
        <p:txBody>
          <a:bodyPr wrap="none">
            <a:spAutoFit/>
          </a:bodyPr>
          <a:lstStyle/>
          <a:p>
            <a:pPr algn="ctr">
              <a:defRPr sz="800">
                <a:solidFill>
                  <a:srgbClr val="4A5568"/>
                </a:solidFill>
                <a:latin typeface="Arial"/>
              </a:defRPr>
            </a:pPr>
            <a:r>
              <a:t>Ownership Type</a:t>
            </a:r>
          </a:p>
        </p:txBody>
      </p:sp>
      <p:sp>
        <p:nvSpPr>
          <p:cNvPr id="36" name="TextBox 35"/>
          <p:cNvSpPr txBox="1"/>
          <p:nvPr/>
        </p:nvSpPr>
        <p:spPr>
          <a:xfrm>
            <a:off x="6126480" y="2423160"/>
            <a:ext cx="2377440" cy="457200"/>
          </a:xfrm>
          <a:prstGeom prst="rect">
            <a:avLst/>
          </a:prstGeom>
          <a:noFill/>
        </p:spPr>
        <p:txBody>
          <a:bodyPr wrap="none">
            <a:spAutoFit/>
          </a:bodyPr>
          <a:lstStyle/>
          <a:p>
            <a:pPr>
              <a:defRPr sz="1400" b="1">
                <a:solidFill>
                  <a:srgbClr val="1A237E"/>
                </a:solidFill>
                <a:latin typeface="Arial"/>
              </a:defRPr>
            </a:pPr>
            <a:r>
              <a:t>KEY CUSTOMERS</a:t>
            </a:r>
          </a:p>
        </p:txBody>
      </p:sp>
      <p:sp>
        <p:nvSpPr>
          <p:cNvPr id="37" name="Rectangle 36"/>
          <p:cNvSpPr/>
          <p:nvPr/>
        </p:nvSpPr>
        <p:spPr>
          <a:xfrm>
            <a:off x="6126480" y="2743200"/>
            <a:ext cx="2377440" cy="27432"/>
          </a:xfrm>
          <a:prstGeom prst="rect">
            <a:avLst/>
          </a:prstGeom>
          <a:solidFill>
            <a:srgbClr val="FF4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6217920" y="2847361"/>
            <a:ext cx="2194560" cy="292608"/>
          </a:xfrm>
          <a:prstGeom prst="roundRect">
            <a:avLst/>
          </a:prstGeom>
          <a:solidFill>
            <a:srgbClr val="FAFAFA"/>
          </a:solidFill>
          <a:ln w="635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263640" y="2874792"/>
            <a:ext cx="2103120" cy="237744"/>
          </a:xfrm>
          <a:prstGeom prst="rect">
            <a:avLst/>
          </a:prstGeom>
          <a:noFill/>
        </p:spPr>
        <p:txBody>
          <a:bodyPr wrap="square" anchor="ctr">
            <a:spAutoFit/>
          </a:bodyPr>
          <a:lstStyle/>
          <a:p>
            <a:pPr algn="ctr">
              <a:defRPr sz="700" b="1">
                <a:solidFill>
                  <a:srgbClr val="333333"/>
                </a:solidFill>
                <a:latin typeface="Arial"/>
              </a:defRPr>
            </a:pPr>
            <a:r>
              <a:t>Retail cinema audiences and moviegoers</a:t>
            </a:r>
          </a:p>
        </p:txBody>
      </p:sp>
      <p:sp>
        <p:nvSpPr>
          <p:cNvPr id="40" name="Rounded Rectangle 39"/>
          <p:cNvSpPr/>
          <p:nvPr/>
        </p:nvSpPr>
        <p:spPr>
          <a:xfrm>
            <a:off x="6217920" y="3194833"/>
            <a:ext cx="2194560" cy="292608"/>
          </a:xfrm>
          <a:prstGeom prst="roundRect">
            <a:avLst/>
          </a:prstGeom>
          <a:solidFill>
            <a:srgbClr val="FAFAFA"/>
          </a:solidFill>
          <a:ln w="635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263640" y="3222264"/>
            <a:ext cx="2103120" cy="237744"/>
          </a:xfrm>
          <a:prstGeom prst="rect">
            <a:avLst/>
          </a:prstGeom>
          <a:noFill/>
        </p:spPr>
        <p:txBody>
          <a:bodyPr wrap="square" anchor="ctr">
            <a:spAutoFit/>
          </a:bodyPr>
          <a:lstStyle/>
          <a:p>
            <a:pPr algn="ctr">
              <a:defRPr sz="700" b="1">
                <a:solidFill>
                  <a:srgbClr val="333333"/>
                </a:solidFill>
                <a:latin typeface="Arial"/>
              </a:defRPr>
            </a:pPr>
            <a:r>
              <a:t>Corporate event and exhibition partners</a:t>
            </a:r>
          </a:p>
        </p:txBody>
      </p:sp>
      <p:sp>
        <p:nvSpPr>
          <p:cNvPr id="42" name="Rounded Rectangle 41"/>
          <p:cNvSpPr/>
          <p:nvPr/>
        </p:nvSpPr>
        <p:spPr>
          <a:xfrm>
            <a:off x="6217920" y="3542304"/>
            <a:ext cx="2194560" cy="292608"/>
          </a:xfrm>
          <a:prstGeom prst="roundRect">
            <a:avLst/>
          </a:prstGeom>
          <a:solidFill>
            <a:srgbClr val="FAFAFA"/>
          </a:solidFill>
          <a:ln w="635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263640" y="3569736"/>
            <a:ext cx="2103120" cy="237744"/>
          </a:xfrm>
          <a:prstGeom prst="rect">
            <a:avLst/>
          </a:prstGeom>
          <a:noFill/>
        </p:spPr>
        <p:txBody>
          <a:bodyPr wrap="square" anchor="ctr">
            <a:spAutoFit/>
          </a:bodyPr>
          <a:lstStyle/>
          <a:p>
            <a:pPr algn="ctr">
              <a:defRPr sz="700" b="1">
                <a:solidFill>
                  <a:srgbClr val="333333"/>
                </a:solidFill>
                <a:latin typeface="Arial"/>
              </a:defRPr>
            </a:pPr>
            <a:r>
              <a:t>Local and regional advertisers</a:t>
            </a:r>
          </a:p>
        </p:txBody>
      </p:sp>
      <p:sp>
        <p:nvSpPr>
          <p:cNvPr id="44" name="TextBox 43"/>
          <p:cNvSpPr txBox="1"/>
          <p:nvPr/>
        </p:nvSpPr>
        <p:spPr>
          <a:xfrm>
            <a:off x="6126480" y="3931920"/>
            <a:ext cx="2377440" cy="457200"/>
          </a:xfrm>
          <a:prstGeom prst="rect">
            <a:avLst/>
          </a:prstGeom>
          <a:noFill/>
        </p:spPr>
        <p:txBody>
          <a:bodyPr wrap="none">
            <a:spAutoFit/>
          </a:bodyPr>
          <a:lstStyle/>
          <a:p>
            <a:pPr>
              <a:defRPr sz="1400" b="1">
                <a:solidFill>
                  <a:srgbClr val="1A237E"/>
                </a:solidFill>
                <a:latin typeface="Arial"/>
              </a:defRPr>
            </a:pPr>
            <a:r>
              <a:t>CERTIFICATIONS</a:t>
            </a:r>
          </a:p>
        </p:txBody>
      </p:sp>
      <p:sp>
        <p:nvSpPr>
          <p:cNvPr id="45" name="Rectangle 44"/>
          <p:cNvSpPr/>
          <p:nvPr/>
        </p:nvSpPr>
        <p:spPr>
          <a:xfrm>
            <a:off x="6126480" y="4251960"/>
            <a:ext cx="2377440" cy="27432"/>
          </a:xfrm>
          <a:prstGeom prst="rect">
            <a:avLst/>
          </a:prstGeom>
          <a:solidFill>
            <a:srgbClr val="FF4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6" name="Picture 45" descr="cert_iso_120x80.png"/>
          <p:cNvPicPr>
            <a:picLocks noChangeAspect="1"/>
          </p:cNvPicPr>
          <p:nvPr/>
        </p:nvPicPr>
        <p:blipFill>
          <a:blip r:embed="rId3"/>
          <a:stretch>
            <a:fillRect/>
          </a:stretch>
        </p:blipFill>
        <p:spPr>
          <a:xfrm>
            <a:off x="6217920" y="4343399"/>
            <a:ext cx="1005840" cy="256032"/>
          </a:xfrm>
          <a:prstGeom prst="rect">
            <a:avLst/>
          </a:prstGeom>
        </p:spPr>
      </p:pic>
      <p:pic>
        <p:nvPicPr>
          <p:cNvPr id="47" name="Picture 46" descr="cert_cmmi_120x80.png"/>
          <p:cNvPicPr>
            <a:picLocks noChangeAspect="1"/>
          </p:cNvPicPr>
          <p:nvPr/>
        </p:nvPicPr>
        <p:blipFill>
          <a:blip r:embed="rId4"/>
          <a:stretch>
            <a:fillRect/>
          </a:stretch>
        </p:blipFill>
        <p:spPr>
          <a:xfrm>
            <a:off x="7315200" y="4343399"/>
            <a:ext cx="1005840" cy="25603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37160"/>
            <a:ext cx="5486400" cy="457200"/>
          </a:xfrm>
          <a:prstGeom prst="rect">
            <a:avLst/>
          </a:prstGeom>
          <a:noFill/>
        </p:spPr>
        <p:txBody>
          <a:bodyPr wrap="none">
            <a:spAutoFit/>
          </a:bodyPr>
          <a:lstStyle/>
          <a:p>
            <a:pPr>
              <a:defRPr sz="2000" b="1">
                <a:solidFill>
                  <a:srgbClr val="FFFFFF"/>
                </a:solidFill>
                <a:latin typeface="Arial"/>
              </a:defRPr>
            </a:pPr>
            <a:r>
              <a:t>KEY FINANCIAL METRICS</a:t>
            </a:r>
          </a:p>
        </p:txBody>
      </p:sp>
      <p:pic>
        <p:nvPicPr>
          <p:cNvPr id="4" name="Picture 3" descr="kelp_logo.png"/>
          <p:cNvPicPr>
            <a:picLocks noChangeAspect="1"/>
          </p:cNvPicPr>
          <p:nvPr/>
        </p:nvPicPr>
        <p:blipFill>
          <a:blip r:embed="rId2"/>
          <a:stretch>
            <a:fillRect/>
          </a:stretch>
        </p:blipFill>
        <p:spPr>
          <a:xfrm>
            <a:off x="7589520" y="91440"/>
            <a:ext cx="1447672" cy="548640"/>
          </a:xfrm>
          <a:prstGeom prst="rect">
            <a:avLst/>
          </a:prstGeom>
        </p:spPr>
      </p:pic>
      <p:sp>
        <p:nvSpPr>
          <p:cNvPr id="5" name="Rectangle 4"/>
          <p:cNvSpPr/>
          <p:nvPr/>
        </p:nvSpPr>
        <p:spPr>
          <a:xfrm>
            <a:off x="0" y="4846320"/>
            <a:ext cx="9144000" cy="30175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4892040"/>
            <a:ext cx="8229600" cy="228600"/>
          </a:xfrm>
          <a:prstGeom prst="rect">
            <a:avLst/>
          </a:prstGeom>
          <a:noFill/>
        </p:spPr>
        <p:txBody>
          <a:bodyPr wrap="none">
            <a:spAutoFit/>
          </a:bodyPr>
          <a:lstStyle/>
          <a:p>
            <a:pPr algn="ctr">
              <a:defRPr sz="900">
                <a:solidFill>
                  <a:srgbClr val="646464"/>
                </a:solidFill>
              </a:defRPr>
            </a:pPr>
            <a:r>
              <a:t>Strictly Private &amp; Confidential – Prepared by Kelp M&amp;A Team</a:t>
            </a:r>
          </a:p>
        </p:txBody>
      </p:sp>
      <p:sp>
        <p:nvSpPr>
          <p:cNvPr id="7" name="Rounded Rectangle 6"/>
          <p:cNvSpPr/>
          <p:nvPr/>
        </p:nvSpPr>
        <p:spPr>
          <a:xfrm>
            <a:off x="585215" y="1051560"/>
            <a:ext cx="2011680" cy="594360"/>
          </a:xfrm>
          <a:prstGeom prst="roundRect">
            <a:avLst/>
          </a:prstGeom>
          <a:solidFill>
            <a:srgbClr val="FF4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30936" y="1097280"/>
            <a:ext cx="1920240" cy="320040"/>
          </a:xfrm>
          <a:prstGeom prst="rect">
            <a:avLst/>
          </a:prstGeom>
          <a:noFill/>
        </p:spPr>
        <p:txBody>
          <a:bodyPr wrap="square" anchor="ctr">
            <a:spAutoFit/>
          </a:bodyPr>
          <a:lstStyle/>
          <a:p>
            <a:pPr algn="ctr">
              <a:defRPr sz="1600" b="1">
                <a:solidFill>
                  <a:srgbClr val="FFFFFF"/>
                </a:solidFill>
              </a:defRPr>
            </a:pPr>
            <a:r>
              <a:t>₹ 959.9 Cr</a:t>
            </a:r>
          </a:p>
        </p:txBody>
      </p:sp>
      <p:sp>
        <p:nvSpPr>
          <p:cNvPr id="9" name="TextBox 8"/>
          <p:cNvSpPr txBox="1"/>
          <p:nvPr/>
        </p:nvSpPr>
        <p:spPr>
          <a:xfrm>
            <a:off x="676655" y="1417320"/>
            <a:ext cx="1828800" cy="182880"/>
          </a:xfrm>
          <a:prstGeom prst="rect">
            <a:avLst/>
          </a:prstGeom>
          <a:noFill/>
        </p:spPr>
        <p:txBody>
          <a:bodyPr wrap="none">
            <a:spAutoFit/>
          </a:bodyPr>
          <a:lstStyle/>
          <a:p>
            <a:pPr algn="ctr">
              <a:defRPr sz="800" b="0">
                <a:solidFill>
                  <a:srgbClr val="FFFFFF"/>
                </a:solidFill>
              </a:defRPr>
            </a:pPr>
            <a:r>
              <a:t>Latest Revenue</a:t>
            </a:r>
          </a:p>
        </p:txBody>
      </p:sp>
      <p:sp>
        <p:nvSpPr>
          <p:cNvPr id="10" name="Rounded Rectangle 9"/>
          <p:cNvSpPr/>
          <p:nvPr/>
        </p:nvSpPr>
        <p:spPr>
          <a:xfrm>
            <a:off x="2724911" y="1051560"/>
            <a:ext cx="2011680" cy="594360"/>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70631" y="1097280"/>
            <a:ext cx="1920240" cy="320040"/>
          </a:xfrm>
          <a:prstGeom prst="rect">
            <a:avLst/>
          </a:prstGeom>
          <a:noFill/>
        </p:spPr>
        <p:txBody>
          <a:bodyPr wrap="square" anchor="ctr">
            <a:spAutoFit/>
          </a:bodyPr>
          <a:lstStyle/>
          <a:p>
            <a:pPr algn="ctr">
              <a:defRPr sz="1600" b="1">
                <a:solidFill>
                  <a:srgbClr val="FFFFFF"/>
                </a:solidFill>
              </a:defRPr>
            </a:pPr>
            <a:r>
              <a:t>141.4%</a:t>
            </a:r>
          </a:p>
        </p:txBody>
      </p:sp>
      <p:sp>
        <p:nvSpPr>
          <p:cNvPr id="12" name="TextBox 11"/>
          <p:cNvSpPr txBox="1"/>
          <p:nvPr/>
        </p:nvSpPr>
        <p:spPr>
          <a:xfrm>
            <a:off x="2816351" y="1417320"/>
            <a:ext cx="1828800" cy="182880"/>
          </a:xfrm>
          <a:prstGeom prst="rect">
            <a:avLst/>
          </a:prstGeom>
          <a:noFill/>
        </p:spPr>
        <p:txBody>
          <a:bodyPr wrap="none">
            <a:spAutoFit/>
          </a:bodyPr>
          <a:lstStyle/>
          <a:p>
            <a:pPr algn="ctr">
              <a:defRPr sz="800" b="0">
                <a:solidFill>
                  <a:srgbClr val="FFFFFF"/>
                </a:solidFill>
              </a:defRPr>
            </a:pPr>
            <a:r>
              <a:t>Revenue CAGR</a:t>
            </a:r>
          </a:p>
        </p:txBody>
      </p:sp>
      <p:sp>
        <p:nvSpPr>
          <p:cNvPr id="13" name="Rounded Rectangle 12"/>
          <p:cNvSpPr/>
          <p:nvPr/>
        </p:nvSpPr>
        <p:spPr>
          <a:xfrm>
            <a:off x="4864607" y="1051560"/>
            <a:ext cx="2011680" cy="594360"/>
          </a:xfrm>
          <a:prstGeom prst="roundRect">
            <a:avLst/>
          </a:prstGeom>
          <a:solidFill>
            <a:srgbClr val="FF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10327" y="1097280"/>
            <a:ext cx="1920240" cy="320040"/>
          </a:xfrm>
          <a:prstGeom prst="rect">
            <a:avLst/>
          </a:prstGeom>
          <a:noFill/>
        </p:spPr>
        <p:txBody>
          <a:bodyPr wrap="square" anchor="ctr">
            <a:spAutoFit/>
          </a:bodyPr>
          <a:lstStyle/>
          <a:p>
            <a:pPr algn="ctr">
              <a:defRPr sz="1600" b="1">
                <a:solidFill>
                  <a:srgbClr val="FFFFFF"/>
                </a:solidFill>
              </a:defRPr>
            </a:pPr>
            <a:r>
              <a:t>27.3%</a:t>
            </a:r>
          </a:p>
        </p:txBody>
      </p:sp>
      <p:sp>
        <p:nvSpPr>
          <p:cNvPr id="15" name="TextBox 14"/>
          <p:cNvSpPr txBox="1"/>
          <p:nvPr/>
        </p:nvSpPr>
        <p:spPr>
          <a:xfrm>
            <a:off x="4956047" y="1417320"/>
            <a:ext cx="1828800" cy="182880"/>
          </a:xfrm>
          <a:prstGeom prst="rect">
            <a:avLst/>
          </a:prstGeom>
          <a:noFill/>
        </p:spPr>
        <p:txBody>
          <a:bodyPr wrap="none">
            <a:spAutoFit/>
          </a:bodyPr>
          <a:lstStyle/>
          <a:p>
            <a:pPr algn="ctr">
              <a:defRPr sz="800" b="0">
                <a:solidFill>
                  <a:srgbClr val="FFFFFF"/>
                </a:solidFill>
              </a:defRPr>
            </a:pPr>
            <a:r>
              <a:t>EBITDA Margin</a:t>
            </a:r>
          </a:p>
        </p:txBody>
      </p:sp>
      <p:sp>
        <p:nvSpPr>
          <p:cNvPr id="16" name="Rounded Rectangle 15"/>
          <p:cNvSpPr/>
          <p:nvPr/>
        </p:nvSpPr>
        <p:spPr>
          <a:xfrm>
            <a:off x="7004303" y="1051560"/>
            <a:ext cx="2011680" cy="5943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050023" y="1097280"/>
            <a:ext cx="1920240" cy="320040"/>
          </a:xfrm>
          <a:prstGeom prst="rect">
            <a:avLst/>
          </a:prstGeom>
          <a:noFill/>
        </p:spPr>
        <p:txBody>
          <a:bodyPr wrap="square" anchor="ctr">
            <a:spAutoFit/>
          </a:bodyPr>
          <a:lstStyle/>
          <a:p>
            <a:pPr algn="ctr">
              <a:defRPr sz="1600" b="1">
                <a:solidFill>
                  <a:srgbClr val="FFFFFF"/>
                </a:solidFill>
              </a:defRPr>
            </a:pPr>
            <a:r>
              <a:t>₹ 183.9 Cr</a:t>
            </a:r>
          </a:p>
        </p:txBody>
      </p:sp>
      <p:sp>
        <p:nvSpPr>
          <p:cNvPr id="18" name="TextBox 17"/>
          <p:cNvSpPr txBox="1"/>
          <p:nvPr/>
        </p:nvSpPr>
        <p:spPr>
          <a:xfrm>
            <a:off x="7095743" y="1417320"/>
            <a:ext cx="1828800" cy="182880"/>
          </a:xfrm>
          <a:prstGeom prst="rect">
            <a:avLst/>
          </a:prstGeom>
          <a:noFill/>
        </p:spPr>
        <p:txBody>
          <a:bodyPr wrap="none">
            <a:spAutoFit/>
          </a:bodyPr>
          <a:lstStyle/>
          <a:p>
            <a:pPr algn="ctr">
              <a:defRPr sz="800" b="0">
                <a:solidFill>
                  <a:srgbClr val="FFFFFF"/>
                </a:solidFill>
              </a:defRPr>
            </a:pPr>
            <a:r>
              <a:t>Latest PAT</a:t>
            </a:r>
          </a:p>
        </p:txBody>
      </p:sp>
      <p:graphicFrame>
        <p:nvGraphicFramePr>
          <p:cNvPr id="19" name="Chart 18"/>
          <p:cNvGraphicFramePr>
            <a:graphicFrameLocks noGrp="1"/>
          </p:cNvGraphicFramePr>
          <p:nvPr/>
        </p:nvGraphicFramePr>
        <p:xfrm>
          <a:off x="457200" y="2103120"/>
          <a:ext cx="4572000" cy="25603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 name="Chart 19"/>
          <p:cNvGraphicFramePr>
            <a:graphicFrameLocks noGrp="1"/>
          </p:cNvGraphicFramePr>
          <p:nvPr/>
        </p:nvGraphicFramePr>
        <p:xfrm>
          <a:off x="5212080" y="2103120"/>
          <a:ext cx="3657600" cy="256032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37160"/>
            <a:ext cx="5486400" cy="457200"/>
          </a:xfrm>
          <a:prstGeom prst="rect">
            <a:avLst/>
          </a:prstGeom>
          <a:noFill/>
        </p:spPr>
        <p:txBody>
          <a:bodyPr wrap="none">
            <a:spAutoFit/>
          </a:bodyPr>
          <a:lstStyle/>
          <a:p>
            <a:pPr>
              <a:defRPr sz="2000" b="1">
                <a:solidFill>
                  <a:srgbClr val="FFFFFF"/>
                </a:solidFill>
                <a:latin typeface="Arial"/>
              </a:defRPr>
            </a:pPr>
            <a:r>
              <a:t>INVESTMENT HIGHLIGHTS</a:t>
            </a:r>
          </a:p>
        </p:txBody>
      </p:sp>
      <p:pic>
        <p:nvPicPr>
          <p:cNvPr id="4" name="Picture 3" descr="kelp_logo.png"/>
          <p:cNvPicPr>
            <a:picLocks noChangeAspect="1"/>
          </p:cNvPicPr>
          <p:nvPr/>
        </p:nvPicPr>
        <p:blipFill>
          <a:blip r:embed="rId2"/>
          <a:stretch>
            <a:fillRect/>
          </a:stretch>
        </p:blipFill>
        <p:spPr>
          <a:xfrm>
            <a:off x="7589520" y="91440"/>
            <a:ext cx="1447672" cy="548640"/>
          </a:xfrm>
          <a:prstGeom prst="rect">
            <a:avLst/>
          </a:prstGeom>
        </p:spPr>
      </p:pic>
      <p:sp>
        <p:nvSpPr>
          <p:cNvPr id="5" name="Rectangle 4"/>
          <p:cNvSpPr/>
          <p:nvPr/>
        </p:nvSpPr>
        <p:spPr>
          <a:xfrm>
            <a:off x="0" y="4846320"/>
            <a:ext cx="9144000" cy="30175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4892040"/>
            <a:ext cx="8229600" cy="228600"/>
          </a:xfrm>
          <a:prstGeom prst="rect">
            <a:avLst/>
          </a:prstGeom>
          <a:noFill/>
        </p:spPr>
        <p:txBody>
          <a:bodyPr wrap="none">
            <a:spAutoFit/>
          </a:bodyPr>
          <a:lstStyle/>
          <a:p>
            <a:pPr algn="ctr">
              <a:defRPr sz="900">
                <a:solidFill>
                  <a:srgbClr val="646464"/>
                </a:solidFill>
              </a:defRPr>
            </a:pPr>
            <a:r>
              <a:t>Strictly Private &amp; Confidential – Prepared by Kelp M&amp;A Team</a:t>
            </a:r>
          </a:p>
        </p:txBody>
      </p:sp>
      <p:pic>
        <p:nvPicPr>
          <p:cNvPr id="7" name="Picture 6" descr="crop_902_clean_unsplash_3.jpg"/>
          <p:cNvPicPr>
            <a:picLocks noChangeAspect="1"/>
          </p:cNvPicPr>
          <p:nvPr/>
        </p:nvPicPr>
        <p:blipFill>
          <a:blip r:embed="rId3"/>
          <a:stretch>
            <a:fillRect/>
          </a:stretch>
        </p:blipFill>
        <p:spPr>
          <a:xfrm>
            <a:off x="5440680" y="960120"/>
            <a:ext cx="3383280" cy="3749039"/>
          </a:xfrm>
          <a:prstGeom prst="rect">
            <a:avLst/>
          </a:prstGeom>
        </p:spPr>
      </p:pic>
      <p:sp>
        <p:nvSpPr>
          <p:cNvPr id="8" name="Rounded Rectangle 7"/>
          <p:cNvSpPr/>
          <p:nvPr/>
        </p:nvSpPr>
        <p:spPr>
          <a:xfrm>
            <a:off x="274320" y="1005840"/>
            <a:ext cx="2377440" cy="1737360"/>
          </a:xfrm>
          <a:prstGeom prst="roundRect">
            <a:avLst/>
          </a:prstGeom>
          <a:solidFill>
            <a:srgbClr val="F8F9FC"/>
          </a:solidFill>
          <a:ln w="12700">
            <a:solidFill>
              <a:srgbClr val="C8D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globe_64_0.png"/>
          <p:cNvPicPr>
            <a:picLocks noChangeAspect="1"/>
          </p:cNvPicPr>
          <p:nvPr/>
        </p:nvPicPr>
        <p:blipFill>
          <a:blip r:embed="rId4"/>
          <a:stretch>
            <a:fillRect/>
          </a:stretch>
        </p:blipFill>
        <p:spPr>
          <a:xfrm>
            <a:off x="384048" y="1143000"/>
            <a:ext cx="256032" cy="256032"/>
          </a:xfrm>
          <a:prstGeom prst="rect">
            <a:avLst/>
          </a:prstGeom>
        </p:spPr>
      </p:pic>
      <p:sp>
        <p:nvSpPr>
          <p:cNvPr id="10" name="TextBox 9"/>
          <p:cNvSpPr txBox="1"/>
          <p:nvPr/>
        </p:nvSpPr>
        <p:spPr>
          <a:xfrm>
            <a:off x="713232" y="1078992"/>
            <a:ext cx="1828800" cy="320040"/>
          </a:xfrm>
          <a:prstGeom prst="rect">
            <a:avLst/>
          </a:prstGeom>
          <a:noFill/>
        </p:spPr>
        <p:txBody>
          <a:bodyPr wrap="square">
            <a:spAutoFit/>
          </a:bodyPr>
          <a:lstStyle/>
          <a:p>
            <a:pPr>
              <a:defRPr sz="850" b="1">
                <a:solidFill>
                  <a:srgbClr val="1A237E"/>
                </a:solidFill>
                <a:latin typeface="Arial"/>
              </a:defRPr>
            </a:pPr>
            <a:r>
              <a:t>Dominating Underserved Regional Markets</a:t>
            </a:r>
          </a:p>
        </p:txBody>
      </p:sp>
      <p:sp>
        <p:nvSpPr>
          <p:cNvPr id="11" name="TextBox 10"/>
          <p:cNvSpPr txBox="1"/>
          <p:nvPr/>
        </p:nvSpPr>
        <p:spPr>
          <a:xfrm>
            <a:off x="384048" y="1463040"/>
            <a:ext cx="2157984" cy="1188719"/>
          </a:xfrm>
          <a:prstGeom prst="rect">
            <a:avLst/>
          </a:prstGeom>
          <a:noFill/>
        </p:spPr>
        <p:txBody>
          <a:bodyPr wrap="square">
            <a:spAutoFit/>
          </a:bodyPr>
          <a:lstStyle/>
          <a:p>
            <a:pPr>
              <a:lnSpc>
                <a:spcPct val="115000"/>
              </a:lnSpc>
              <a:defRPr sz="750">
                <a:solidFill>
                  <a:srgbClr val="4A5568"/>
                </a:solidFill>
                <a:latin typeface="Arial"/>
              </a:defRPr>
            </a:pPr>
            <a:r>
              <a:t>The firm is strategically positioned to capture the 8.31% annual growth in the Indian exhibition sector by targeting underserved regions in Western India and beyond, where demand for premium, affordable entertainment is outpacing supply.</a:t>
            </a:r>
          </a:p>
        </p:txBody>
      </p:sp>
      <p:sp>
        <p:nvSpPr>
          <p:cNvPr id="12" name="Rounded Rectangle 11"/>
          <p:cNvSpPr/>
          <p:nvPr/>
        </p:nvSpPr>
        <p:spPr>
          <a:xfrm>
            <a:off x="2834640" y="1005840"/>
            <a:ext cx="2377440" cy="1737360"/>
          </a:xfrm>
          <a:prstGeom prst="roundRect">
            <a:avLst/>
          </a:prstGeom>
          <a:solidFill>
            <a:srgbClr val="F8F9FC"/>
          </a:solidFill>
          <a:ln w="12700">
            <a:solidFill>
              <a:srgbClr val="C8D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shield_64_1.png"/>
          <p:cNvPicPr>
            <a:picLocks noChangeAspect="1"/>
          </p:cNvPicPr>
          <p:nvPr/>
        </p:nvPicPr>
        <p:blipFill>
          <a:blip r:embed="rId5"/>
          <a:stretch>
            <a:fillRect/>
          </a:stretch>
        </p:blipFill>
        <p:spPr>
          <a:xfrm>
            <a:off x="2944368" y="1143000"/>
            <a:ext cx="256032" cy="256032"/>
          </a:xfrm>
          <a:prstGeom prst="rect">
            <a:avLst/>
          </a:prstGeom>
        </p:spPr>
      </p:pic>
      <p:sp>
        <p:nvSpPr>
          <p:cNvPr id="14" name="TextBox 13"/>
          <p:cNvSpPr txBox="1"/>
          <p:nvPr/>
        </p:nvSpPr>
        <p:spPr>
          <a:xfrm>
            <a:off x="3273552" y="1078992"/>
            <a:ext cx="1828800" cy="320040"/>
          </a:xfrm>
          <a:prstGeom prst="rect">
            <a:avLst/>
          </a:prstGeom>
          <a:noFill/>
        </p:spPr>
        <p:txBody>
          <a:bodyPr wrap="square">
            <a:spAutoFit/>
          </a:bodyPr>
          <a:lstStyle/>
          <a:p>
            <a:pPr>
              <a:defRPr sz="850" b="1">
                <a:solidFill>
                  <a:srgbClr val="1A237E"/>
                </a:solidFill>
                <a:latin typeface="Arial"/>
              </a:defRPr>
            </a:pPr>
            <a:r>
              <a:t>Asset-Light Operational Moat</a:t>
            </a:r>
          </a:p>
        </p:txBody>
      </p:sp>
      <p:sp>
        <p:nvSpPr>
          <p:cNvPr id="15" name="TextBox 14"/>
          <p:cNvSpPr txBox="1"/>
          <p:nvPr/>
        </p:nvSpPr>
        <p:spPr>
          <a:xfrm>
            <a:off x="2944368" y="1463040"/>
            <a:ext cx="2157984" cy="1188719"/>
          </a:xfrm>
          <a:prstGeom prst="rect">
            <a:avLst/>
          </a:prstGeom>
          <a:noFill/>
        </p:spPr>
        <p:txBody>
          <a:bodyPr wrap="square">
            <a:spAutoFit/>
          </a:bodyPr>
          <a:lstStyle/>
          <a:p>
            <a:pPr>
              <a:lnSpc>
                <a:spcPct val="115000"/>
              </a:lnSpc>
              <a:defRPr sz="750">
                <a:solidFill>
                  <a:srgbClr val="4A5568"/>
                </a:solidFill>
                <a:latin typeface="Arial"/>
              </a:defRPr>
            </a:pPr>
            <a:r>
              <a:t>Utilizes a high-efficiency business model that outsources non-core functions such as F&amp;B, ticketing, and security, significantly reducing fixed overheads and allowing for rapid scalability with minimal operational friction.</a:t>
            </a:r>
          </a:p>
        </p:txBody>
      </p:sp>
      <p:sp>
        <p:nvSpPr>
          <p:cNvPr id="16" name="Rounded Rectangle 15"/>
          <p:cNvSpPr/>
          <p:nvPr/>
        </p:nvSpPr>
        <p:spPr>
          <a:xfrm>
            <a:off x="274320" y="2880360"/>
            <a:ext cx="2377440" cy="1737360"/>
          </a:xfrm>
          <a:prstGeom prst="roundRect">
            <a:avLst/>
          </a:prstGeom>
          <a:solidFill>
            <a:srgbClr val="F8F9FC"/>
          </a:solidFill>
          <a:ln w="12700">
            <a:solidFill>
              <a:srgbClr val="C8D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rocket_64_2.png"/>
          <p:cNvPicPr>
            <a:picLocks noChangeAspect="1"/>
          </p:cNvPicPr>
          <p:nvPr/>
        </p:nvPicPr>
        <p:blipFill>
          <a:blip r:embed="rId6"/>
          <a:stretch>
            <a:fillRect/>
          </a:stretch>
        </p:blipFill>
        <p:spPr>
          <a:xfrm>
            <a:off x="384048" y="3017520"/>
            <a:ext cx="256032" cy="256032"/>
          </a:xfrm>
          <a:prstGeom prst="rect">
            <a:avLst/>
          </a:prstGeom>
        </p:spPr>
      </p:pic>
      <p:sp>
        <p:nvSpPr>
          <p:cNvPr id="18" name="TextBox 17"/>
          <p:cNvSpPr txBox="1"/>
          <p:nvPr/>
        </p:nvSpPr>
        <p:spPr>
          <a:xfrm>
            <a:off x="713232" y="2953512"/>
            <a:ext cx="1828800" cy="320040"/>
          </a:xfrm>
          <a:prstGeom prst="rect">
            <a:avLst/>
          </a:prstGeom>
          <a:noFill/>
        </p:spPr>
        <p:txBody>
          <a:bodyPr wrap="square">
            <a:spAutoFit/>
          </a:bodyPr>
          <a:lstStyle/>
          <a:p>
            <a:pPr>
              <a:defRPr sz="850" b="1">
                <a:solidFill>
                  <a:srgbClr val="1A237E"/>
                </a:solidFill>
                <a:latin typeface="Arial"/>
              </a:defRPr>
            </a:pPr>
            <a:r>
              <a:t>Strategic North American Expansion</a:t>
            </a:r>
          </a:p>
        </p:txBody>
      </p:sp>
      <p:sp>
        <p:nvSpPr>
          <p:cNvPr id="19" name="TextBox 18"/>
          <p:cNvSpPr txBox="1"/>
          <p:nvPr/>
        </p:nvSpPr>
        <p:spPr>
          <a:xfrm>
            <a:off x="384048" y="3337560"/>
            <a:ext cx="2157984" cy="1188719"/>
          </a:xfrm>
          <a:prstGeom prst="rect">
            <a:avLst/>
          </a:prstGeom>
          <a:noFill/>
        </p:spPr>
        <p:txBody>
          <a:bodyPr wrap="square">
            <a:spAutoFit/>
          </a:bodyPr>
          <a:lstStyle/>
          <a:p>
            <a:pPr>
              <a:lnSpc>
                <a:spcPct val="115000"/>
              </a:lnSpc>
              <a:defRPr sz="750">
                <a:solidFill>
                  <a:srgbClr val="4A5568"/>
                </a:solidFill>
                <a:latin typeface="Arial"/>
              </a:defRPr>
            </a:pPr>
            <a:r>
              <a:t>Executing a targeted entry into the Canadian market, leveraging a low-capex model designed for maximum returns, tapping into international entertainment trends and the high-spending power of the global audience.</a:t>
            </a:r>
          </a:p>
        </p:txBody>
      </p:sp>
      <p:sp>
        <p:nvSpPr>
          <p:cNvPr id="20" name="Rounded Rectangle 19"/>
          <p:cNvSpPr/>
          <p:nvPr/>
        </p:nvSpPr>
        <p:spPr>
          <a:xfrm>
            <a:off x="2834640" y="2880360"/>
            <a:ext cx="2377440" cy="1737360"/>
          </a:xfrm>
          <a:prstGeom prst="roundRect">
            <a:avLst/>
          </a:prstGeom>
          <a:solidFill>
            <a:srgbClr val="F8F9FC"/>
          </a:solidFill>
          <a:ln w="12700">
            <a:solidFill>
              <a:srgbClr val="C8D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lightbulb_64_3.png"/>
          <p:cNvPicPr>
            <a:picLocks noChangeAspect="1"/>
          </p:cNvPicPr>
          <p:nvPr/>
        </p:nvPicPr>
        <p:blipFill>
          <a:blip r:embed="rId7"/>
          <a:stretch>
            <a:fillRect/>
          </a:stretch>
        </p:blipFill>
        <p:spPr>
          <a:xfrm>
            <a:off x="2944368" y="3017520"/>
            <a:ext cx="256032" cy="256032"/>
          </a:xfrm>
          <a:prstGeom prst="rect">
            <a:avLst/>
          </a:prstGeom>
        </p:spPr>
      </p:pic>
      <p:sp>
        <p:nvSpPr>
          <p:cNvPr id="22" name="TextBox 21"/>
          <p:cNvSpPr txBox="1"/>
          <p:nvPr/>
        </p:nvSpPr>
        <p:spPr>
          <a:xfrm>
            <a:off x="3273552" y="2953512"/>
            <a:ext cx="1828800" cy="320040"/>
          </a:xfrm>
          <a:prstGeom prst="rect">
            <a:avLst/>
          </a:prstGeom>
          <a:noFill/>
        </p:spPr>
        <p:txBody>
          <a:bodyPr wrap="square">
            <a:spAutoFit/>
          </a:bodyPr>
          <a:lstStyle/>
          <a:p>
            <a:pPr>
              <a:defRPr sz="850" b="1">
                <a:solidFill>
                  <a:srgbClr val="1A237E"/>
                </a:solidFill>
                <a:latin typeface="Arial"/>
              </a:defRPr>
            </a:pPr>
            <a:r>
              <a:t>Recognized Innovation Leader</a:t>
            </a:r>
          </a:p>
        </p:txBody>
      </p:sp>
      <p:sp>
        <p:nvSpPr>
          <p:cNvPr id="23" name="TextBox 22"/>
          <p:cNvSpPr txBox="1"/>
          <p:nvPr/>
        </p:nvSpPr>
        <p:spPr>
          <a:xfrm>
            <a:off x="2944368" y="3337560"/>
            <a:ext cx="2157984" cy="1188719"/>
          </a:xfrm>
          <a:prstGeom prst="rect">
            <a:avLst/>
          </a:prstGeom>
          <a:noFill/>
        </p:spPr>
        <p:txBody>
          <a:bodyPr wrap="square">
            <a:spAutoFit/>
          </a:bodyPr>
          <a:lstStyle/>
          <a:p>
            <a:pPr>
              <a:lnSpc>
                <a:spcPct val="115000"/>
              </a:lnSpc>
              <a:defRPr sz="750">
                <a:solidFill>
                  <a:srgbClr val="4A5568"/>
                </a:solidFill>
                <a:latin typeface="Arial"/>
              </a:defRPr>
            </a:pPr>
            <a:r>
              <a:t>Winner of the Times Business Award 2024-25 for Innovation in Entertainment, the firm integrates smart cinema technology to drive superior occupancy levels and accelerate advertising revenue growth through enhanced viewer engagement.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8072"/>
          </a:xfrm>
          <a:prstGeom prst="rect">
            <a:avLst/>
          </a:prstGeom>
          <a:solidFill>
            <a:srgbClr val="1A237E"/>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kelp_logo.png"/>
          <p:cNvPicPr>
            <a:picLocks noChangeAspect="1"/>
          </p:cNvPicPr>
          <p:nvPr/>
        </p:nvPicPr>
        <p:blipFill>
          <a:blip r:embed="rId2"/>
          <a:stretch>
            <a:fillRect/>
          </a:stretch>
        </p:blipFill>
        <p:spPr>
          <a:xfrm>
            <a:off x="457200" y="320040"/>
            <a:ext cx="2171508" cy="822960"/>
          </a:xfrm>
          <a:prstGeom prst="rect">
            <a:avLst/>
          </a:prstGeom>
        </p:spPr>
      </p:pic>
      <p:sp>
        <p:nvSpPr>
          <p:cNvPr id="4" name="TextBox 3"/>
          <p:cNvSpPr txBox="1"/>
          <p:nvPr/>
        </p:nvSpPr>
        <p:spPr>
          <a:xfrm>
            <a:off x="457200" y="1371600"/>
            <a:ext cx="8229600" cy="731520"/>
          </a:xfrm>
          <a:prstGeom prst="rect">
            <a:avLst/>
          </a:prstGeom>
          <a:noFill/>
        </p:spPr>
        <p:txBody>
          <a:bodyPr wrap="none">
            <a:spAutoFit/>
          </a:bodyPr>
          <a:lstStyle/>
          <a:p>
            <a:pPr>
              <a:defRPr sz="3600" b="0">
                <a:solidFill>
                  <a:srgbClr val="FFFFFF"/>
                </a:solidFill>
                <a:latin typeface="Arial"/>
              </a:defRPr>
            </a:pPr>
            <a:r>
              <a:t>Important Notice &amp; Disclaimer</a:t>
            </a:r>
          </a:p>
        </p:txBody>
      </p:sp>
      <p:sp>
        <p:nvSpPr>
          <p:cNvPr id="5" name="TextBox 4"/>
          <p:cNvSpPr txBox="1"/>
          <p:nvPr/>
        </p:nvSpPr>
        <p:spPr>
          <a:xfrm>
            <a:off x="457200" y="2011680"/>
            <a:ext cx="8229600" cy="2286000"/>
          </a:xfrm>
          <a:prstGeom prst="rect">
            <a:avLst/>
          </a:prstGeom>
          <a:noFill/>
        </p:spPr>
        <p:txBody>
          <a:bodyPr wrap="square">
            <a:spAutoFit/>
          </a:bodyPr>
          <a:lstStyle/>
          <a:p>
            <a:pPr algn="just">
              <a:defRPr sz="1100">
                <a:solidFill>
                  <a:srgbClr val="FFFFFF"/>
                </a:solidFill>
                <a:latin typeface="Arial"/>
              </a:defRPr>
            </a:pPr>
            <a:r>
              <a:t>Strictly Private &amp; Confidential. This presentation is prepared by Kelp Global exclusively for the intended recipient and may not be reproduced or distributed without prior written consent. This document is for informational purposes only and does not constitute an offer to sell or a solicitation of an offer to buy any securities. While all information is obtained from sources believed to be reliable, Kelp Global makes no representation or warranty regarding its accuracy or completeness.</a:t>
            </a:r>
          </a:p>
        </p:txBody>
      </p:sp>
      <p:sp>
        <p:nvSpPr>
          <p:cNvPr id="6" name="TextBox 5"/>
          <p:cNvSpPr txBox="1"/>
          <p:nvPr/>
        </p:nvSpPr>
        <p:spPr>
          <a:xfrm>
            <a:off x="457200" y="4572000"/>
            <a:ext cx="8229600" cy="274320"/>
          </a:xfrm>
          <a:prstGeom prst="rect">
            <a:avLst/>
          </a:prstGeom>
          <a:noFill/>
        </p:spPr>
        <p:txBody>
          <a:bodyPr wrap="none">
            <a:spAutoFit/>
          </a:bodyPr>
          <a:lstStyle/>
          <a:p>
            <a:pPr algn="ctr">
              <a:defRPr sz="900">
                <a:solidFill>
                  <a:srgbClr val="C8C8C8"/>
                </a:solidFill>
              </a:defRPr>
            </a:pPr>
            <a:r>
              <a:t>Strictly Private &amp; Confidential – Prepared by Kelp M&amp;A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485</Words>
  <Application>Microsoft Office PowerPoint</Application>
  <PresentationFormat>On-screen Show (16:9)</PresentationFormat>
  <Paragraphs>53</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SHORYA SETHIA</cp:lastModifiedBy>
  <cp:revision>2</cp:revision>
  <dcterms:created xsi:type="dcterms:W3CDTF">2013-01-27T09:14:16Z</dcterms:created>
  <dcterms:modified xsi:type="dcterms:W3CDTF">2026-02-06T13:04:30Z</dcterms:modified>
  <cp:category/>
</cp:coreProperties>
</file>