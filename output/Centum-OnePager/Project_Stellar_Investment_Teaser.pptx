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6" d="100"/>
          <a:sy n="96" d="100"/>
        </p:scale>
        <p:origin x="42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Revenue ($Mn)</c:v>
                </c:pt>
              </c:strCache>
            </c:strRef>
          </c:tx>
          <c:spPr>
            <a:solidFill>
              <a:srgbClr val="1A237E"/>
            </a:solidFill>
          </c:spPr>
          <c:invertIfNegative val="1"/>
          <c:dLbls>
            <c:numFmt formatCode="#,##0" sourceLinked="0"/>
            <c:spPr>
              <a:noFill/>
              <a:ln>
                <a:noFill/>
              </a:ln>
              <a:effectLst/>
            </c:spPr>
            <c:txPr>
              <a:bodyPr/>
              <a:lstStyle/>
              <a:p>
                <a:pPr>
                  <a:defRPr sz="800" b="1">
                    <a:solidFill>
                      <a:srgbClr val="33415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FY19</c:v>
                </c:pt>
                <c:pt idx="1">
                  <c:v>FY20</c:v>
                </c:pt>
                <c:pt idx="2">
                  <c:v>FY21</c:v>
                </c:pt>
                <c:pt idx="3">
                  <c:v>FY22</c:v>
                </c:pt>
                <c:pt idx="4">
                  <c:v>FY23</c:v>
                </c:pt>
                <c:pt idx="5">
                  <c:v>FY24</c:v>
                </c:pt>
                <c:pt idx="6">
                  <c:v>FY25</c:v>
                </c:pt>
              </c:strCache>
            </c:strRef>
          </c:cat>
          <c:val>
            <c:numRef>
              <c:f>Sheet1!$B$2:$B$8</c:f>
              <c:numCache>
                <c:formatCode>General</c:formatCode>
                <c:ptCount val="7"/>
                <c:pt idx="0">
                  <c:v>9303.9</c:v>
                </c:pt>
                <c:pt idx="1">
                  <c:v>8832.64</c:v>
                </c:pt>
                <c:pt idx="2">
                  <c:v>8174.3</c:v>
                </c:pt>
                <c:pt idx="3">
                  <c:v>7799.4</c:v>
                </c:pt>
                <c:pt idx="4">
                  <c:v>9229.69</c:v>
                </c:pt>
                <c:pt idx="5">
                  <c:v>10908.2</c:v>
                </c:pt>
                <c:pt idx="6">
                  <c:v>11554.17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385-49EE-910A-D83C48F86663}"/>
            </c:ext>
          </c:extLst>
        </c:ser>
        <c:ser>
          <c:idx val="1"/>
          <c:order val="1"/>
          <c:tx>
            <c:strRef>
              <c:f>Sheet1!$C$1</c:f>
              <c:strCache>
                <c:ptCount val="1"/>
                <c:pt idx="0">
                  <c:v>EBITDA ($Mn)</c:v>
                </c:pt>
              </c:strCache>
            </c:strRef>
          </c:tx>
          <c:spPr>
            <a:solidFill>
              <a:srgbClr val="00D4FF"/>
            </a:solidFill>
          </c:spPr>
          <c:invertIfNegative val="1"/>
          <c:dLbls>
            <c:numFmt formatCode="#,##0" sourceLinked="0"/>
            <c:spPr>
              <a:noFill/>
              <a:ln>
                <a:noFill/>
              </a:ln>
              <a:effectLst/>
            </c:spPr>
            <c:txPr>
              <a:bodyPr/>
              <a:lstStyle/>
              <a:p>
                <a:pPr>
                  <a:defRPr sz="800" b="1">
                    <a:solidFill>
                      <a:srgbClr val="33415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FY19</c:v>
                </c:pt>
                <c:pt idx="1">
                  <c:v>FY20</c:v>
                </c:pt>
                <c:pt idx="2">
                  <c:v>FY21</c:v>
                </c:pt>
                <c:pt idx="3">
                  <c:v>FY22</c:v>
                </c:pt>
                <c:pt idx="4">
                  <c:v>FY23</c:v>
                </c:pt>
                <c:pt idx="5">
                  <c:v>FY24</c:v>
                </c:pt>
                <c:pt idx="6">
                  <c:v>FY25</c:v>
                </c:pt>
              </c:strCache>
            </c:strRef>
          </c:cat>
          <c:val>
            <c:numRef>
              <c:f>Sheet1!$C$2:$C$8</c:f>
              <c:numCache>
                <c:formatCode>General</c:formatCode>
                <c:ptCount val="7"/>
                <c:pt idx="0">
                  <c:v>1038.33</c:v>
                </c:pt>
                <c:pt idx="1">
                  <c:v>980.18</c:v>
                </c:pt>
                <c:pt idx="2">
                  <c:v>895.31</c:v>
                </c:pt>
                <c:pt idx="3">
                  <c:v>742.43</c:v>
                </c:pt>
                <c:pt idx="4">
                  <c:v>762.09</c:v>
                </c:pt>
                <c:pt idx="5">
                  <c:v>858.48</c:v>
                </c:pt>
                <c:pt idx="6">
                  <c:v>967.11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E385-49EE-910A-D83C48F86663}"/>
            </c:ext>
          </c:extLst>
        </c:ser>
        <c:ser>
          <c:idx val="2"/>
          <c:order val="2"/>
          <c:tx>
            <c:strRef>
              <c:f>Sheet1!$D$1</c:f>
              <c:strCache>
                <c:ptCount val="1"/>
                <c:pt idx="0">
                  <c:v>PAT ($Mn)</c:v>
                </c:pt>
              </c:strCache>
            </c:strRef>
          </c:tx>
          <c:spPr>
            <a:solidFill>
              <a:srgbClr val="FF4B91"/>
            </a:solidFill>
          </c:spPr>
          <c:invertIfNegative val="1"/>
          <c:dLbls>
            <c:numFmt formatCode="#,##0" sourceLinked="0"/>
            <c:spPr>
              <a:noFill/>
              <a:ln>
                <a:noFill/>
              </a:ln>
              <a:effectLst/>
            </c:spPr>
            <c:txPr>
              <a:bodyPr/>
              <a:lstStyle/>
              <a:p>
                <a:pPr>
                  <a:defRPr sz="800" b="1">
                    <a:solidFill>
                      <a:srgbClr val="33415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FY19</c:v>
                </c:pt>
                <c:pt idx="1">
                  <c:v>FY20</c:v>
                </c:pt>
                <c:pt idx="2">
                  <c:v>FY21</c:v>
                </c:pt>
                <c:pt idx="3">
                  <c:v>FY22</c:v>
                </c:pt>
                <c:pt idx="4">
                  <c:v>FY23</c:v>
                </c:pt>
                <c:pt idx="5">
                  <c:v>FY24</c:v>
                </c:pt>
                <c:pt idx="6">
                  <c:v>FY25</c:v>
                </c:pt>
              </c:strCache>
            </c:strRef>
          </c:cat>
          <c:val>
            <c:numRef>
              <c:f>Sheet1!$D$2:$D$8</c:f>
              <c:numCache>
                <c:formatCode>General</c:formatCode>
                <c:ptCount val="7"/>
                <c:pt idx="0">
                  <c:v>484.01</c:v>
                </c:pt>
                <c:pt idx="1">
                  <c:v>277.94</c:v>
                </c:pt>
                <c:pt idx="2">
                  <c:v>131.1</c:v>
                </c:pt>
                <c:pt idx="3">
                  <c:v>114.63</c:v>
                </c:pt>
                <c:pt idx="4">
                  <c:v>54.5</c:v>
                </c:pt>
                <c:pt idx="5">
                  <c:v>21.24</c:v>
                </c:pt>
                <c:pt idx="6">
                  <c:v>129.05000000000001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E385-49EE-910A-D83C48F86663}"/>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none"/>
        <c:minorTickMark val="none"/>
        <c:tickLblPos val="nextTo"/>
        <c:txPr>
          <a:bodyPr/>
          <a:lstStyle/>
          <a:p>
            <a:pPr>
              <a:defRPr sz="800" b="0"/>
            </a:pPr>
            <a:endParaRPr lang="en-US"/>
          </a:p>
        </c:txPr>
        <c:crossAx val="-2113994440"/>
        <c:crosses val="autoZero"/>
        <c:auto val="1"/>
        <c:lblAlgn val="ctr"/>
        <c:lblOffset val="100"/>
        <c:noMultiLvlLbl val="0"/>
      </c:catAx>
      <c:valAx>
        <c:axId val="-2113994440"/>
        <c:scaling>
          <c:orientation val="minMax"/>
        </c:scaling>
        <c:delete val="0"/>
        <c:axPos val="l"/>
        <c:majorGridlines>
          <c:spPr>
            <a:ln w="6350">
              <a:solidFill>
                <a:srgbClr val="E2E8F0"/>
              </a:solidFill>
            </a:ln>
          </c:spPr>
        </c:majorGridlines>
        <c:numFmt formatCode="#,##0" sourceLinked="0"/>
        <c:majorTickMark val="out"/>
        <c:minorTickMark val="none"/>
        <c:tickLblPos val="nextTo"/>
        <c:txPr>
          <a:bodyPr/>
          <a:lstStyle/>
          <a:p>
            <a:pPr>
              <a:defRPr sz="800">
                <a:solidFill>
                  <a:srgbClr val="64748B"/>
                </a:solidFill>
              </a:defRPr>
            </a:pPr>
            <a:endParaRPr lang="en-US"/>
          </a:p>
        </c:txPr>
        <c:crossAx val="-2068027336"/>
        <c:crosses val="autoZero"/>
        <c:crossBetween val="between"/>
      </c:valAx>
    </c:plotArea>
    <c:legend>
      <c:legendPos val="b"/>
      <c:overlay val="0"/>
      <c:txPr>
        <a:bodyPr/>
        <a:lstStyle/>
        <a:p>
          <a:pPr>
            <a:defRPr sz="900"/>
          </a:pPr>
          <a:endParaRPr lang="en-US"/>
        </a:p>
      </c:txPr>
    </c:legend>
    <c:plotVisOnly val="1"/>
    <c:dispBlanksAs val="gap"/>
    <c:showDLblsOverMax val="1"/>
  </c:chart>
  <c:txPr>
    <a:bodyPr/>
    <a:lstStyle/>
    <a:p>
      <a:pPr>
        <a:defRPr sz="900">
          <a:solidFill>
            <a:srgbClr val="4A5568"/>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lineChart>
        <c:grouping val="standard"/>
        <c:varyColors val="0"/>
        <c:ser>
          <c:idx val="0"/>
          <c:order val="0"/>
          <c:tx>
            <c:strRef>
              <c:f>Sheet1!$B$1</c:f>
              <c:strCache>
                <c:ptCount val="1"/>
                <c:pt idx="0">
                  <c:v>EBITDA Margin %</c:v>
                </c:pt>
              </c:strCache>
            </c:strRef>
          </c:tx>
          <c:spPr>
            <a:ln w="31750">
              <a:solidFill>
                <a:srgbClr val="FF4B91"/>
              </a:solidFill>
            </a:ln>
          </c:spPr>
          <c:marker>
            <c:symbol val="none"/>
          </c:marker>
          <c:dLbls>
            <c:numFmt formatCode="#,##0" sourceLinked="0"/>
            <c:spPr>
              <a:noFill/>
              <a:ln>
                <a:noFill/>
              </a:ln>
              <a:effectLst/>
            </c:spPr>
            <c:txPr>
              <a:bodyPr/>
              <a:lstStyle/>
              <a:p>
                <a:pPr>
                  <a:defRPr sz="800" b="1">
                    <a:solidFill>
                      <a:srgbClr val="33415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FY14</c:v>
                </c:pt>
                <c:pt idx="1">
                  <c:v>FY15</c:v>
                </c:pt>
                <c:pt idx="2">
                  <c:v>FY16</c:v>
                </c:pt>
                <c:pt idx="3">
                  <c:v>FY17</c:v>
                </c:pt>
                <c:pt idx="4">
                  <c:v>FY18</c:v>
                </c:pt>
                <c:pt idx="5">
                  <c:v>FY19</c:v>
                </c:pt>
                <c:pt idx="6">
                  <c:v>FY20</c:v>
                </c:pt>
                <c:pt idx="7">
                  <c:v>FY21</c:v>
                </c:pt>
                <c:pt idx="8">
                  <c:v>FY22</c:v>
                </c:pt>
                <c:pt idx="9">
                  <c:v>FY23</c:v>
                </c:pt>
                <c:pt idx="10">
                  <c:v>FY24</c:v>
                </c:pt>
                <c:pt idx="11">
                  <c:v>FY25</c:v>
                </c:pt>
              </c:strCache>
            </c:strRef>
          </c:cat>
          <c:val>
            <c:numRef>
              <c:f>Sheet1!$B$2:$B$13</c:f>
              <c:numCache>
                <c:formatCode>General</c:formatCode>
                <c:ptCount val="12"/>
                <c:pt idx="0">
                  <c:v>19.399999999999999</c:v>
                </c:pt>
                <c:pt idx="1">
                  <c:v>20.3</c:v>
                </c:pt>
                <c:pt idx="2">
                  <c:v>11.9</c:v>
                </c:pt>
                <c:pt idx="3">
                  <c:v>7.9</c:v>
                </c:pt>
                <c:pt idx="4">
                  <c:v>5</c:v>
                </c:pt>
                <c:pt idx="5">
                  <c:v>11.2</c:v>
                </c:pt>
                <c:pt idx="6">
                  <c:v>11.1</c:v>
                </c:pt>
                <c:pt idx="7">
                  <c:v>11</c:v>
                </c:pt>
                <c:pt idx="8">
                  <c:v>9.5</c:v>
                </c:pt>
                <c:pt idx="9">
                  <c:v>8.3000000000000007</c:v>
                </c:pt>
                <c:pt idx="10">
                  <c:v>7.9</c:v>
                </c:pt>
                <c:pt idx="11">
                  <c:v>8.4</c:v>
                </c:pt>
              </c:numCache>
            </c:numRef>
          </c:val>
          <c:smooth val="1"/>
          <c:extLst>
            <c:ext xmlns:c16="http://schemas.microsoft.com/office/drawing/2014/chart" uri="{C3380CC4-5D6E-409C-BE32-E72D297353CC}">
              <c16:uniqueId val="{00000000-2796-45D3-BDE4-3C2C79215C8E}"/>
            </c:ext>
          </c:extLst>
        </c:ser>
        <c:dLbls>
          <c:showLegendKey val="0"/>
          <c:showVal val="1"/>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none"/>
        <c:minorTickMark val="none"/>
        <c:tickLblPos val="nextTo"/>
        <c:txPr>
          <a:bodyPr/>
          <a:lstStyle/>
          <a:p>
            <a:pPr>
              <a:defRPr sz="800" b="0"/>
            </a:pPr>
            <a:endParaRPr lang="en-US"/>
          </a:p>
        </c:txPr>
        <c:crossAx val="2140495176"/>
        <c:crosses val="autoZero"/>
        <c:auto val="1"/>
        <c:lblAlgn val="ctr"/>
        <c:lblOffset val="100"/>
        <c:noMultiLvlLbl val="0"/>
      </c:catAx>
      <c:valAx>
        <c:axId val="2140495176"/>
        <c:scaling>
          <c:orientation val="minMax"/>
        </c:scaling>
        <c:delete val="0"/>
        <c:axPos val="l"/>
        <c:majorGridlines>
          <c:spPr>
            <a:ln w="6350">
              <a:solidFill>
                <a:srgbClr val="E2E8F0"/>
              </a:solidFill>
            </a:ln>
          </c:spPr>
        </c:majorGridlines>
        <c:numFmt formatCode="#,##0" sourceLinked="0"/>
        <c:majorTickMark val="out"/>
        <c:minorTickMark val="none"/>
        <c:tickLblPos val="nextTo"/>
        <c:txPr>
          <a:bodyPr/>
          <a:lstStyle/>
          <a:p>
            <a:pPr>
              <a:defRPr sz="800">
                <a:solidFill>
                  <a:srgbClr val="64748B"/>
                </a:solidFill>
              </a:defRPr>
            </a:pPr>
            <a:endParaRPr lang="en-US"/>
          </a:p>
        </c:txPr>
        <c:crossAx val="2118791784"/>
        <c:crosses val="autoZero"/>
        <c:crossBetween val="between"/>
      </c:valAx>
    </c:plotArea>
    <c:legend>
      <c:legendPos val="b"/>
      <c:overlay val="0"/>
      <c:txPr>
        <a:bodyPr/>
        <a:lstStyle/>
        <a:p>
          <a:pPr>
            <a:defRPr sz="900"/>
          </a:pPr>
          <a:endParaRPr lang="en-US"/>
        </a:p>
      </c:txPr>
    </c:legend>
    <c:plotVisOnly val="1"/>
    <c:dispBlanksAs val="gap"/>
    <c:showDLblsOverMax val="0"/>
  </c:chart>
  <c:txPr>
    <a:bodyPr/>
    <a:lstStyle/>
    <a:p>
      <a:pPr>
        <a:defRPr sz="900">
          <a:solidFill>
            <a:srgbClr val="4A5568"/>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8072"/>
          </a:xfrm>
          <a:prstGeom prst="rect">
            <a:avLst/>
          </a:prstGeom>
          <a:solidFill>
            <a:srgbClr val="2D1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77240" cy="5148072"/>
          </a:xfrm>
          <a:prstGeom prst="rect">
            <a:avLst/>
          </a:prstGeom>
          <a:solidFill>
            <a:srgbClr val="003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0"/>
            <a:ext cx="4114800" cy="2926080"/>
          </a:xfrm>
          <a:prstGeom prst="rect">
            <a:avLst/>
          </a:prstGeom>
          <a:solidFill>
            <a:srgbClr val="D11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Isosceles Triangle 4"/>
          <p:cNvSpPr/>
          <p:nvPr/>
        </p:nvSpPr>
        <p:spPr>
          <a:xfrm rot="2700000">
            <a:off x="1097280" y="2560320"/>
            <a:ext cx="3200400" cy="2743200"/>
          </a:xfrm>
          <a:prstGeom prst="triangle">
            <a:avLst/>
          </a:prstGeom>
          <a:solidFill>
            <a:srgbClr val="D11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kelp_logo.png"/>
          <p:cNvPicPr>
            <a:picLocks noChangeAspect="1"/>
          </p:cNvPicPr>
          <p:nvPr/>
        </p:nvPicPr>
        <p:blipFill>
          <a:blip r:embed="rId2"/>
          <a:stretch>
            <a:fillRect/>
          </a:stretch>
        </p:blipFill>
        <p:spPr>
          <a:xfrm>
            <a:off x="1371600" y="320040"/>
            <a:ext cx="2171508" cy="822960"/>
          </a:xfrm>
          <a:prstGeom prst="rect">
            <a:avLst/>
          </a:prstGeom>
        </p:spPr>
      </p:pic>
      <p:sp>
        <p:nvSpPr>
          <p:cNvPr id="7" name="TextBox 6"/>
          <p:cNvSpPr txBox="1"/>
          <p:nvPr/>
        </p:nvSpPr>
        <p:spPr>
          <a:xfrm>
            <a:off x="1371600" y="1463040"/>
            <a:ext cx="6858000" cy="1371600"/>
          </a:xfrm>
          <a:prstGeom prst="rect">
            <a:avLst/>
          </a:prstGeom>
          <a:noFill/>
        </p:spPr>
        <p:txBody>
          <a:bodyPr wrap="none">
            <a:spAutoFit/>
          </a:bodyPr>
          <a:lstStyle/>
          <a:p>
            <a:pPr>
              <a:lnSpc>
                <a:spcPct val="100000"/>
              </a:lnSpc>
              <a:defRPr sz="7200" b="1">
                <a:solidFill>
                  <a:srgbClr val="FFFFFF"/>
                </a:solidFill>
                <a:latin typeface="Arial"/>
              </a:defRPr>
            </a:pPr>
            <a:r>
              <a:t>Project Stellar</a:t>
            </a:r>
          </a:p>
        </p:txBody>
      </p:sp>
      <p:sp>
        <p:nvSpPr>
          <p:cNvPr id="8" name="TextBox 7"/>
          <p:cNvSpPr txBox="1"/>
          <p:nvPr/>
        </p:nvSpPr>
        <p:spPr>
          <a:xfrm>
            <a:off x="1371600" y="3474720"/>
            <a:ext cx="4572000" cy="548640"/>
          </a:xfrm>
          <a:prstGeom prst="rect">
            <a:avLst/>
          </a:prstGeom>
          <a:noFill/>
        </p:spPr>
        <p:txBody>
          <a:bodyPr wrap="none">
            <a:spAutoFit/>
          </a:bodyPr>
          <a:lstStyle/>
          <a:p>
            <a:pPr>
              <a:defRPr sz="2400" b="1">
                <a:solidFill>
                  <a:srgbClr val="FFFFFF"/>
                </a:solidFill>
                <a:latin typeface="Arial"/>
              </a:defRPr>
            </a:pPr>
            <a:r>
              <a:t>Investment Brief</a:t>
            </a:r>
          </a:p>
        </p:txBody>
      </p:sp>
      <p:sp>
        <p:nvSpPr>
          <p:cNvPr id="9" name="TextBox 8"/>
          <p:cNvSpPr txBox="1"/>
          <p:nvPr/>
        </p:nvSpPr>
        <p:spPr>
          <a:xfrm>
            <a:off x="1371600" y="4023360"/>
            <a:ext cx="3657600" cy="365760"/>
          </a:xfrm>
          <a:prstGeom prst="rect">
            <a:avLst/>
          </a:prstGeom>
          <a:noFill/>
        </p:spPr>
        <p:txBody>
          <a:bodyPr wrap="none">
            <a:spAutoFit/>
          </a:bodyPr>
          <a:lstStyle/>
          <a:p>
            <a:pPr>
              <a:defRPr sz="1400" i="1">
                <a:solidFill>
                  <a:srgbClr val="C8C8C8"/>
                </a:solidFill>
                <a:latin typeface="Arial"/>
              </a:defRPr>
            </a:pPr>
            <a:r>
              <a:t>kelpglobal.com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160"/>
            <a:ext cx="5486400" cy="457200"/>
          </a:xfrm>
          <a:prstGeom prst="rect">
            <a:avLst/>
          </a:prstGeom>
          <a:noFill/>
        </p:spPr>
        <p:txBody>
          <a:bodyPr wrap="none">
            <a:spAutoFit/>
          </a:bodyPr>
          <a:lstStyle/>
          <a:p>
            <a:pPr>
              <a:defRPr sz="2000" b="1">
                <a:solidFill>
                  <a:srgbClr val="FFFFFF"/>
                </a:solidFill>
                <a:latin typeface="Arial"/>
              </a:defRPr>
            </a:pPr>
            <a:r>
              <a:t>BUSINESS OVERVIEW</a:t>
            </a:r>
          </a:p>
        </p:txBody>
      </p:sp>
      <p:pic>
        <p:nvPicPr>
          <p:cNvPr id="4" name="Picture 3" descr="kelp_logo.png"/>
          <p:cNvPicPr>
            <a:picLocks noChangeAspect="1"/>
          </p:cNvPicPr>
          <p:nvPr/>
        </p:nvPicPr>
        <p:blipFill>
          <a:blip r:embed="rId2"/>
          <a:stretch>
            <a:fillRect/>
          </a:stretch>
        </p:blipFill>
        <p:spPr>
          <a:xfrm>
            <a:off x="7589520" y="91440"/>
            <a:ext cx="1447672" cy="548640"/>
          </a:xfrm>
          <a:prstGeom prst="rect">
            <a:avLst/>
          </a:prstGeom>
        </p:spPr>
      </p:pic>
      <p:sp>
        <p:nvSpPr>
          <p:cNvPr id="5" name="Rectangle 4"/>
          <p:cNvSpPr/>
          <p:nvPr/>
        </p:nvSpPr>
        <p:spPr>
          <a:xfrm>
            <a:off x="0" y="4846320"/>
            <a:ext cx="9144000" cy="30175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4892040"/>
            <a:ext cx="8229600" cy="228600"/>
          </a:xfrm>
          <a:prstGeom prst="rect">
            <a:avLst/>
          </a:prstGeom>
          <a:noFill/>
        </p:spPr>
        <p:txBody>
          <a:bodyPr wrap="none">
            <a:spAutoFit/>
          </a:bodyPr>
          <a:lstStyle/>
          <a:p>
            <a:pPr algn="ctr">
              <a:defRPr sz="900">
                <a:solidFill>
                  <a:srgbClr val="646464"/>
                </a:solidFill>
              </a:defRPr>
            </a:pPr>
            <a:r>
              <a:t>Strictly Private &amp; Confidential – Prepared by Kelp M&amp;A Team</a:t>
            </a:r>
          </a:p>
        </p:txBody>
      </p:sp>
      <p:sp>
        <p:nvSpPr>
          <p:cNvPr id="7" name="Rectangle 6"/>
          <p:cNvSpPr/>
          <p:nvPr/>
        </p:nvSpPr>
        <p:spPr>
          <a:xfrm>
            <a:off x="274320" y="777240"/>
            <a:ext cx="4297680" cy="256032"/>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804672"/>
            <a:ext cx="4114800" cy="201168"/>
          </a:xfrm>
          <a:prstGeom prst="rect">
            <a:avLst/>
          </a:prstGeom>
          <a:noFill/>
        </p:spPr>
        <p:txBody>
          <a:bodyPr wrap="none">
            <a:spAutoFit/>
          </a:bodyPr>
          <a:lstStyle/>
          <a:p>
            <a:pPr>
              <a:defRPr sz="1100" b="1">
                <a:solidFill>
                  <a:srgbClr val="FFFFFF"/>
                </a:solidFill>
                <a:latin typeface="Arial"/>
              </a:defRPr>
            </a:pPr>
            <a:r>
              <a:t>Business Overview:</a:t>
            </a:r>
          </a:p>
        </p:txBody>
      </p:sp>
      <p:sp>
        <p:nvSpPr>
          <p:cNvPr id="9" name="TextBox 8"/>
          <p:cNvSpPr txBox="1"/>
          <p:nvPr/>
        </p:nvSpPr>
        <p:spPr>
          <a:xfrm>
            <a:off x="365760" y="1078992"/>
            <a:ext cx="4023360" cy="365760"/>
          </a:xfrm>
          <a:prstGeom prst="rect">
            <a:avLst/>
          </a:prstGeom>
          <a:noFill/>
        </p:spPr>
        <p:txBody>
          <a:bodyPr wrap="square">
            <a:spAutoFit/>
          </a:bodyPr>
          <a:lstStyle/>
          <a:p>
            <a:pPr>
              <a:lnSpc>
                <a:spcPct val="100000"/>
              </a:lnSpc>
              <a:defRPr sz="850">
                <a:solidFill>
                  <a:srgbClr val="4A5568"/>
                </a:solidFill>
                <a:latin typeface="Arial"/>
              </a:defRPr>
            </a:pPr>
            <a:r>
              <a:t>■ Two advanced manufacturing facilities encompassing 350,000 sq. ft. of production area</a:t>
            </a:r>
          </a:p>
        </p:txBody>
      </p:sp>
      <p:sp>
        <p:nvSpPr>
          <p:cNvPr id="10" name="TextBox 9"/>
          <p:cNvSpPr txBox="1"/>
          <p:nvPr/>
        </p:nvSpPr>
        <p:spPr>
          <a:xfrm>
            <a:off x="365760" y="1399031"/>
            <a:ext cx="4023360" cy="365760"/>
          </a:xfrm>
          <a:prstGeom prst="rect">
            <a:avLst/>
          </a:prstGeom>
          <a:noFill/>
        </p:spPr>
        <p:txBody>
          <a:bodyPr wrap="square">
            <a:spAutoFit/>
          </a:bodyPr>
          <a:lstStyle/>
          <a:p>
            <a:pPr>
              <a:lnSpc>
                <a:spcPct val="100000"/>
              </a:lnSpc>
              <a:defRPr sz="850">
                <a:solidFill>
                  <a:srgbClr val="4A5568"/>
                </a:solidFill>
                <a:latin typeface="Arial"/>
              </a:defRPr>
            </a:pPr>
            <a:r>
              <a:t>■ Highly skilled workforce of 2,368 professionals with deep domain expertise in high-reliability electronics</a:t>
            </a:r>
          </a:p>
        </p:txBody>
      </p:sp>
      <p:sp>
        <p:nvSpPr>
          <p:cNvPr id="11" name="TextBox 10"/>
          <p:cNvSpPr txBox="1"/>
          <p:nvPr/>
        </p:nvSpPr>
        <p:spPr>
          <a:xfrm>
            <a:off x="365760" y="1719072"/>
            <a:ext cx="4023360" cy="365760"/>
          </a:xfrm>
          <a:prstGeom prst="rect">
            <a:avLst/>
          </a:prstGeom>
          <a:noFill/>
        </p:spPr>
        <p:txBody>
          <a:bodyPr wrap="square">
            <a:spAutoFit/>
          </a:bodyPr>
          <a:lstStyle/>
          <a:p>
            <a:pPr>
              <a:lnSpc>
                <a:spcPct val="100000"/>
              </a:lnSpc>
              <a:defRPr sz="850">
                <a:solidFill>
                  <a:srgbClr val="4A5568"/>
                </a:solidFill>
                <a:latin typeface="Arial"/>
              </a:defRPr>
            </a:pPr>
            <a:r>
              <a:t>■ Global operational footprint with a presence in India, France, North America, and across Asia</a:t>
            </a:r>
          </a:p>
        </p:txBody>
      </p:sp>
      <p:sp>
        <p:nvSpPr>
          <p:cNvPr id="12" name="TextBox 11"/>
          <p:cNvSpPr txBox="1"/>
          <p:nvPr/>
        </p:nvSpPr>
        <p:spPr>
          <a:xfrm>
            <a:off x="365760" y="2039112"/>
            <a:ext cx="4023360" cy="365760"/>
          </a:xfrm>
          <a:prstGeom prst="rect">
            <a:avLst/>
          </a:prstGeom>
          <a:noFill/>
        </p:spPr>
        <p:txBody>
          <a:bodyPr wrap="square">
            <a:spAutoFit/>
          </a:bodyPr>
          <a:lstStyle/>
          <a:p>
            <a:pPr>
              <a:lnSpc>
                <a:spcPct val="100000"/>
              </a:lnSpc>
              <a:defRPr sz="850">
                <a:solidFill>
                  <a:srgbClr val="4A5568"/>
                </a:solidFill>
                <a:latin typeface="Arial"/>
              </a:defRPr>
            </a:pPr>
            <a:r>
              <a:t>■ Recognized for innovation and excellence with accolades from Forbes Asia and IESA-NASSCOM</a:t>
            </a:r>
          </a:p>
        </p:txBody>
      </p:sp>
      <p:sp>
        <p:nvSpPr>
          <p:cNvPr id="13" name="Rectangle 12"/>
          <p:cNvSpPr/>
          <p:nvPr/>
        </p:nvSpPr>
        <p:spPr>
          <a:xfrm>
            <a:off x="274320" y="2496312"/>
            <a:ext cx="4297680" cy="384048"/>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2523744"/>
            <a:ext cx="4114800" cy="329184"/>
          </a:xfrm>
          <a:prstGeom prst="rect">
            <a:avLst/>
          </a:prstGeom>
          <a:noFill/>
        </p:spPr>
        <p:txBody>
          <a:bodyPr wrap="square">
            <a:spAutoFit/>
          </a:bodyPr>
          <a:lstStyle/>
          <a:p>
            <a:pPr>
              <a:lnSpc>
                <a:spcPct val="110000"/>
              </a:lnSpc>
              <a:defRPr sz="800" b="1">
                <a:solidFill>
                  <a:srgbClr val="FFFFFF"/>
                </a:solidFill>
                <a:latin typeface="Arial"/>
              </a:defRPr>
            </a:pPr>
            <a:r>
              <a:t>Growth led through its growing product portfolio and offering solutions to diverse sectors</a:t>
            </a:r>
          </a:p>
        </p:txBody>
      </p:sp>
      <p:sp>
        <p:nvSpPr>
          <p:cNvPr id="15" name="Rounded Rectangle 14"/>
          <p:cNvSpPr/>
          <p:nvPr/>
        </p:nvSpPr>
        <p:spPr>
          <a:xfrm>
            <a:off x="365760" y="3023881"/>
            <a:ext cx="1965960" cy="256032"/>
          </a:xfrm>
          <a:prstGeom prst="roundRect">
            <a:avLst/>
          </a:prstGeom>
          <a:solidFill>
            <a:srgbClr val="FAFCFF"/>
          </a:solidFill>
          <a:ln w="15240">
            <a:solidFill>
              <a:srgbClr val="FF4B9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8912" y="3069600"/>
            <a:ext cx="1828800" cy="164592"/>
          </a:xfrm>
          <a:prstGeom prst="rect">
            <a:avLst/>
          </a:prstGeom>
          <a:noFill/>
        </p:spPr>
        <p:txBody>
          <a:bodyPr wrap="none">
            <a:spAutoFit/>
          </a:bodyPr>
          <a:lstStyle/>
          <a:p>
            <a:pPr algn="ctr">
              <a:defRPr sz="800">
                <a:solidFill>
                  <a:srgbClr val="333333"/>
                </a:solidFill>
                <a:latin typeface="Arial"/>
              </a:defRPr>
            </a:pPr>
            <a:r>
              <a:t>Strategic Electronics</a:t>
            </a:r>
          </a:p>
        </p:txBody>
      </p:sp>
      <p:sp>
        <p:nvSpPr>
          <p:cNvPr id="17" name="Rounded Rectangle 16"/>
          <p:cNvSpPr/>
          <p:nvPr/>
        </p:nvSpPr>
        <p:spPr>
          <a:xfrm>
            <a:off x="2468879" y="3023881"/>
            <a:ext cx="1965960" cy="256032"/>
          </a:xfrm>
          <a:prstGeom prst="roundRect">
            <a:avLst/>
          </a:prstGeom>
          <a:solidFill>
            <a:srgbClr val="FAFCFF"/>
          </a:solidFill>
          <a:ln w="15240">
            <a:solidFill>
              <a:srgbClr val="FF4B9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42032" y="3069600"/>
            <a:ext cx="1828800" cy="164592"/>
          </a:xfrm>
          <a:prstGeom prst="rect">
            <a:avLst/>
          </a:prstGeom>
          <a:noFill/>
        </p:spPr>
        <p:txBody>
          <a:bodyPr wrap="none">
            <a:spAutoFit/>
          </a:bodyPr>
          <a:lstStyle/>
          <a:p>
            <a:pPr algn="ctr">
              <a:defRPr sz="800">
                <a:solidFill>
                  <a:srgbClr val="333333"/>
                </a:solidFill>
                <a:latin typeface="Arial"/>
              </a:defRPr>
            </a:pPr>
            <a:r>
              <a:t>Electronics Manufacturing Solutions (EMS)</a:t>
            </a:r>
          </a:p>
        </p:txBody>
      </p:sp>
      <p:sp>
        <p:nvSpPr>
          <p:cNvPr id="19" name="Rounded Rectangle 18"/>
          <p:cNvSpPr/>
          <p:nvPr/>
        </p:nvSpPr>
        <p:spPr>
          <a:xfrm>
            <a:off x="365760" y="3316488"/>
            <a:ext cx="1965960" cy="256032"/>
          </a:xfrm>
          <a:prstGeom prst="roundRect">
            <a:avLst/>
          </a:prstGeom>
          <a:solidFill>
            <a:srgbClr val="FAFCFF"/>
          </a:solidFill>
          <a:ln w="15240">
            <a:solidFill>
              <a:srgbClr val="FF4B9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8912" y="3362208"/>
            <a:ext cx="1828800" cy="164592"/>
          </a:xfrm>
          <a:prstGeom prst="rect">
            <a:avLst/>
          </a:prstGeom>
          <a:noFill/>
        </p:spPr>
        <p:txBody>
          <a:bodyPr wrap="none">
            <a:spAutoFit/>
          </a:bodyPr>
          <a:lstStyle/>
          <a:p>
            <a:pPr algn="ctr">
              <a:defRPr sz="800">
                <a:solidFill>
                  <a:srgbClr val="333333"/>
                </a:solidFill>
                <a:latin typeface="Arial"/>
              </a:defRPr>
            </a:pPr>
            <a:r>
              <a:t>Engineering &amp; After Sales Services</a:t>
            </a:r>
          </a:p>
        </p:txBody>
      </p:sp>
      <p:sp>
        <p:nvSpPr>
          <p:cNvPr id="21" name="Rounded Rectangle 20"/>
          <p:cNvSpPr/>
          <p:nvPr/>
        </p:nvSpPr>
        <p:spPr>
          <a:xfrm>
            <a:off x="2468879" y="3316488"/>
            <a:ext cx="1965960" cy="256032"/>
          </a:xfrm>
          <a:prstGeom prst="roundRect">
            <a:avLst/>
          </a:prstGeom>
          <a:solidFill>
            <a:srgbClr val="FAFCFF"/>
          </a:solidFill>
          <a:ln w="15240">
            <a:solidFill>
              <a:srgbClr val="FF4B9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542032" y="3362208"/>
            <a:ext cx="1828800" cy="164592"/>
          </a:xfrm>
          <a:prstGeom prst="rect">
            <a:avLst/>
          </a:prstGeom>
          <a:noFill/>
        </p:spPr>
        <p:txBody>
          <a:bodyPr wrap="none">
            <a:spAutoFit/>
          </a:bodyPr>
          <a:lstStyle/>
          <a:p>
            <a:pPr algn="ctr">
              <a:defRPr sz="800">
                <a:solidFill>
                  <a:srgbClr val="333333"/>
                </a:solidFill>
                <a:latin typeface="Arial"/>
              </a:defRPr>
            </a:pPr>
            <a:r>
              <a:t>Passenger Information Systems</a:t>
            </a:r>
          </a:p>
        </p:txBody>
      </p:sp>
      <p:sp>
        <p:nvSpPr>
          <p:cNvPr id="23" name="Rounded Rectangle 22"/>
          <p:cNvSpPr/>
          <p:nvPr/>
        </p:nvSpPr>
        <p:spPr>
          <a:xfrm>
            <a:off x="365760" y="3609097"/>
            <a:ext cx="1965960" cy="256032"/>
          </a:xfrm>
          <a:prstGeom prst="roundRect">
            <a:avLst/>
          </a:prstGeom>
          <a:solidFill>
            <a:srgbClr val="FAFCFF"/>
          </a:solidFill>
          <a:ln w="15240">
            <a:solidFill>
              <a:srgbClr val="FF4B9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8912" y="3654817"/>
            <a:ext cx="1828800" cy="164592"/>
          </a:xfrm>
          <a:prstGeom prst="rect">
            <a:avLst/>
          </a:prstGeom>
          <a:noFill/>
        </p:spPr>
        <p:txBody>
          <a:bodyPr wrap="none">
            <a:spAutoFit/>
          </a:bodyPr>
          <a:lstStyle/>
          <a:p>
            <a:pPr algn="ctr">
              <a:defRPr sz="800">
                <a:solidFill>
                  <a:srgbClr val="333333"/>
                </a:solidFill>
                <a:latin typeface="Arial"/>
              </a:defRPr>
            </a:pPr>
            <a:r>
              <a:t>Space Technology &amp; Communications Solutions</a:t>
            </a:r>
          </a:p>
        </p:txBody>
      </p:sp>
      <p:sp>
        <p:nvSpPr>
          <p:cNvPr id="25" name="Rectangle 24"/>
          <p:cNvSpPr/>
          <p:nvPr/>
        </p:nvSpPr>
        <p:spPr>
          <a:xfrm>
            <a:off x="4754880" y="777240"/>
            <a:ext cx="1645920" cy="256032"/>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46320" y="804672"/>
            <a:ext cx="1463040" cy="201168"/>
          </a:xfrm>
          <a:prstGeom prst="rect">
            <a:avLst/>
          </a:prstGeom>
          <a:noFill/>
        </p:spPr>
        <p:txBody>
          <a:bodyPr wrap="none">
            <a:spAutoFit/>
          </a:bodyPr>
          <a:lstStyle/>
          <a:p>
            <a:pPr>
              <a:defRPr sz="1000" b="1">
                <a:solidFill>
                  <a:srgbClr val="FFFFFF"/>
                </a:solidFill>
                <a:latin typeface="Arial"/>
              </a:defRPr>
            </a:pPr>
            <a:r>
              <a:t>Key Select Customers</a:t>
            </a:r>
          </a:p>
        </p:txBody>
      </p:sp>
      <p:sp>
        <p:nvSpPr>
          <p:cNvPr id="27" name="Rounded Rectangle 26"/>
          <p:cNvSpPr/>
          <p:nvPr/>
        </p:nvSpPr>
        <p:spPr>
          <a:xfrm>
            <a:off x="4846320" y="1097280"/>
            <a:ext cx="1463040" cy="411480"/>
          </a:xfrm>
          <a:prstGeom prst="roundRect">
            <a:avLst/>
          </a:prstGeom>
          <a:solidFill>
            <a:srgbClr val="FAFAFA"/>
          </a:solid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64608" y="1124712"/>
            <a:ext cx="1426464" cy="347472"/>
          </a:xfrm>
          <a:prstGeom prst="rect">
            <a:avLst/>
          </a:prstGeom>
          <a:noFill/>
        </p:spPr>
        <p:txBody>
          <a:bodyPr wrap="square" lIns="27432" rIns="27432" anchor="ctr">
            <a:spAutoFit/>
          </a:bodyPr>
          <a:lstStyle/>
          <a:p>
            <a:pPr algn="ctr">
              <a:lnSpc>
                <a:spcPct val="95000"/>
              </a:lnSpc>
              <a:defRPr sz="700" b="1">
                <a:solidFill>
                  <a:srgbClr val="333333"/>
                </a:solidFill>
                <a:latin typeface="Arial"/>
              </a:defRPr>
            </a:pPr>
            <a:r>
              <a:t>Thales</a:t>
            </a:r>
          </a:p>
        </p:txBody>
      </p:sp>
      <p:sp>
        <p:nvSpPr>
          <p:cNvPr id="29" name="Rounded Rectangle 28"/>
          <p:cNvSpPr/>
          <p:nvPr/>
        </p:nvSpPr>
        <p:spPr>
          <a:xfrm>
            <a:off x="4846320" y="1554480"/>
            <a:ext cx="1463040" cy="411480"/>
          </a:xfrm>
          <a:prstGeom prst="roundRect">
            <a:avLst/>
          </a:prstGeom>
          <a:solidFill>
            <a:srgbClr val="FAFAFA"/>
          </a:solid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64608" y="1581912"/>
            <a:ext cx="1426464" cy="347472"/>
          </a:xfrm>
          <a:prstGeom prst="rect">
            <a:avLst/>
          </a:prstGeom>
          <a:noFill/>
        </p:spPr>
        <p:txBody>
          <a:bodyPr wrap="square" lIns="27432" rIns="27432" anchor="ctr">
            <a:spAutoFit/>
          </a:bodyPr>
          <a:lstStyle/>
          <a:p>
            <a:pPr algn="ctr">
              <a:lnSpc>
                <a:spcPct val="95000"/>
              </a:lnSpc>
              <a:defRPr sz="700" b="1">
                <a:solidFill>
                  <a:srgbClr val="333333"/>
                </a:solidFill>
                <a:latin typeface="Arial"/>
              </a:defRPr>
            </a:pPr>
            <a:r>
              <a:t>Defence Research and Development Organisation (DRDO)</a:t>
            </a:r>
          </a:p>
        </p:txBody>
      </p:sp>
      <p:sp>
        <p:nvSpPr>
          <p:cNvPr id="31" name="Rounded Rectangle 30"/>
          <p:cNvSpPr/>
          <p:nvPr/>
        </p:nvSpPr>
        <p:spPr>
          <a:xfrm>
            <a:off x="4846320" y="2011680"/>
            <a:ext cx="1463040" cy="411480"/>
          </a:xfrm>
          <a:prstGeom prst="roundRect">
            <a:avLst/>
          </a:prstGeom>
          <a:solidFill>
            <a:srgbClr val="FAFAFA"/>
          </a:solid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864608" y="2039112"/>
            <a:ext cx="1426464" cy="347472"/>
          </a:xfrm>
          <a:prstGeom prst="rect">
            <a:avLst/>
          </a:prstGeom>
          <a:noFill/>
        </p:spPr>
        <p:txBody>
          <a:bodyPr wrap="square" lIns="27432" rIns="27432" anchor="ctr">
            <a:spAutoFit/>
          </a:bodyPr>
          <a:lstStyle/>
          <a:p>
            <a:pPr algn="ctr">
              <a:lnSpc>
                <a:spcPct val="95000"/>
              </a:lnSpc>
              <a:defRPr sz="700" b="1">
                <a:solidFill>
                  <a:srgbClr val="333333"/>
                </a:solidFill>
                <a:latin typeface="Arial"/>
              </a:defRPr>
            </a:pPr>
            <a:r>
              <a:t>Leading Global Aerospace OEMs</a:t>
            </a:r>
          </a:p>
        </p:txBody>
      </p:sp>
      <p:sp>
        <p:nvSpPr>
          <p:cNvPr id="33" name="Rounded Rectangle 32"/>
          <p:cNvSpPr/>
          <p:nvPr/>
        </p:nvSpPr>
        <p:spPr>
          <a:xfrm>
            <a:off x="4846320" y="2468880"/>
            <a:ext cx="1463040" cy="411480"/>
          </a:xfrm>
          <a:prstGeom prst="roundRect">
            <a:avLst/>
          </a:prstGeom>
          <a:solidFill>
            <a:srgbClr val="FAFAFA"/>
          </a:solidFill>
          <a:ln w="635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864608" y="2496312"/>
            <a:ext cx="1426464" cy="347472"/>
          </a:xfrm>
          <a:prstGeom prst="rect">
            <a:avLst/>
          </a:prstGeom>
          <a:noFill/>
        </p:spPr>
        <p:txBody>
          <a:bodyPr wrap="square" lIns="27432" rIns="27432" anchor="ctr">
            <a:spAutoFit/>
          </a:bodyPr>
          <a:lstStyle/>
          <a:p>
            <a:pPr algn="ctr">
              <a:lnSpc>
                <a:spcPct val="95000"/>
              </a:lnSpc>
              <a:defRPr sz="700" b="1">
                <a:solidFill>
                  <a:srgbClr val="333333"/>
                </a:solidFill>
                <a:latin typeface="Arial"/>
              </a:defRPr>
            </a:pPr>
            <a:r>
              <a:t>Tier-1 Automotive Suppliers</a:t>
            </a:r>
          </a:p>
        </p:txBody>
      </p:sp>
      <p:sp>
        <p:nvSpPr>
          <p:cNvPr id="35" name="Rectangle 34"/>
          <p:cNvSpPr/>
          <p:nvPr/>
        </p:nvSpPr>
        <p:spPr>
          <a:xfrm>
            <a:off x="6492240" y="777240"/>
            <a:ext cx="2377440" cy="256032"/>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83680" y="804672"/>
            <a:ext cx="2194560" cy="201168"/>
          </a:xfrm>
          <a:prstGeom prst="rect">
            <a:avLst/>
          </a:prstGeom>
          <a:noFill/>
        </p:spPr>
        <p:txBody>
          <a:bodyPr wrap="none">
            <a:spAutoFit/>
          </a:bodyPr>
          <a:lstStyle/>
          <a:p>
            <a:pPr>
              <a:defRPr sz="1000" b="1">
                <a:solidFill>
                  <a:srgbClr val="FFFFFF"/>
                </a:solidFill>
                <a:latin typeface="Arial"/>
              </a:defRPr>
            </a:pPr>
            <a:r>
              <a:t>The at a Glance</a:t>
            </a:r>
          </a:p>
        </p:txBody>
      </p:sp>
      <p:sp>
        <p:nvSpPr>
          <p:cNvPr id="37" name="Oval 36"/>
          <p:cNvSpPr/>
          <p:nvPr/>
        </p:nvSpPr>
        <p:spPr>
          <a:xfrm>
            <a:off x="6629400" y="1097280"/>
            <a:ext cx="411480" cy="411480"/>
          </a:xfrm>
          <a:prstGeom prst="ellipse">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132320" y="1097280"/>
            <a:ext cx="1645920" cy="201168"/>
          </a:xfrm>
          <a:prstGeom prst="rect">
            <a:avLst/>
          </a:prstGeom>
          <a:noFill/>
        </p:spPr>
        <p:txBody>
          <a:bodyPr wrap="none">
            <a:spAutoFit/>
          </a:bodyPr>
          <a:lstStyle/>
          <a:p>
            <a:pPr>
              <a:defRPr sz="1300" b="1">
                <a:solidFill>
                  <a:srgbClr val="0076A8"/>
                </a:solidFill>
                <a:latin typeface="Arial"/>
              </a:defRPr>
            </a:pPr>
            <a:r>
              <a:t>2,368</a:t>
            </a:r>
          </a:p>
        </p:txBody>
      </p:sp>
      <p:sp>
        <p:nvSpPr>
          <p:cNvPr id="39" name="TextBox 38"/>
          <p:cNvSpPr txBox="1"/>
          <p:nvPr/>
        </p:nvSpPr>
        <p:spPr>
          <a:xfrm>
            <a:off x="7132320" y="1325880"/>
            <a:ext cx="1645920" cy="164592"/>
          </a:xfrm>
          <a:prstGeom prst="rect">
            <a:avLst/>
          </a:prstGeom>
          <a:noFill/>
        </p:spPr>
        <p:txBody>
          <a:bodyPr wrap="none">
            <a:spAutoFit/>
          </a:bodyPr>
          <a:lstStyle/>
          <a:p>
            <a:pPr>
              <a:defRPr sz="750">
                <a:solidFill>
                  <a:srgbClr val="646464"/>
                </a:solidFill>
                <a:latin typeface="Arial"/>
              </a:defRPr>
            </a:pPr>
            <a:r>
              <a:t>Employees</a:t>
            </a:r>
          </a:p>
        </p:txBody>
      </p:sp>
      <p:sp>
        <p:nvSpPr>
          <p:cNvPr id="40" name="Oval 39"/>
          <p:cNvSpPr/>
          <p:nvPr/>
        </p:nvSpPr>
        <p:spPr>
          <a:xfrm>
            <a:off x="6629400" y="1600200"/>
            <a:ext cx="411480" cy="411480"/>
          </a:xfrm>
          <a:prstGeom prst="ellipse">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132320" y="1600200"/>
            <a:ext cx="1645920" cy="201168"/>
          </a:xfrm>
          <a:prstGeom prst="rect">
            <a:avLst/>
          </a:prstGeom>
          <a:noFill/>
        </p:spPr>
        <p:txBody>
          <a:bodyPr wrap="none">
            <a:spAutoFit/>
          </a:bodyPr>
          <a:lstStyle/>
          <a:p>
            <a:pPr>
              <a:defRPr sz="1500" b="1">
                <a:solidFill>
                  <a:srgbClr val="FF6600"/>
                </a:solidFill>
                <a:latin typeface="Arial"/>
              </a:defRPr>
            </a:pPr>
            <a:r>
              <a:t>2</a:t>
            </a:r>
          </a:p>
        </p:txBody>
      </p:sp>
      <p:sp>
        <p:nvSpPr>
          <p:cNvPr id="42" name="TextBox 41"/>
          <p:cNvSpPr txBox="1"/>
          <p:nvPr/>
        </p:nvSpPr>
        <p:spPr>
          <a:xfrm>
            <a:off x="7132320" y="1828800"/>
            <a:ext cx="1645920" cy="164592"/>
          </a:xfrm>
          <a:prstGeom prst="rect">
            <a:avLst/>
          </a:prstGeom>
          <a:noFill/>
        </p:spPr>
        <p:txBody>
          <a:bodyPr wrap="none">
            <a:spAutoFit/>
          </a:bodyPr>
          <a:lstStyle/>
          <a:p>
            <a:pPr>
              <a:defRPr sz="750">
                <a:solidFill>
                  <a:srgbClr val="646464"/>
                </a:solidFill>
                <a:latin typeface="Arial"/>
              </a:defRPr>
            </a:pPr>
            <a:r>
              <a:t>Manufacturing Units</a:t>
            </a:r>
          </a:p>
        </p:txBody>
      </p:sp>
      <p:sp>
        <p:nvSpPr>
          <p:cNvPr id="43" name="Oval 42"/>
          <p:cNvSpPr/>
          <p:nvPr/>
        </p:nvSpPr>
        <p:spPr>
          <a:xfrm>
            <a:off x="6629400" y="2103120"/>
            <a:ext cx="411480" cy="411480"/>
          </a:xfrm>
          <a:prstGeom prst="ellipse">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132320" y="2103120"/>
            <a:ext cx="1645920" cy="201168"/>
          </a:xfrm>
          <a:prstGeom prst="rect">
            <a:avLst/>
          </a:prstGeom>
          <a:noFill/>
        </p:spPr>
        <p:txBody>
          <a:bodyPr wrap="none">
            <a:spAutoFit/>
          </a:bodyPr>
          <a:lstStyle/>
          <a:p>
            <a:pPr>
              <a:defRPr sz="1300" b="1">
                <a:solidFill>
                  <a:srgbClr val="6A1B9A"/>
                </a:solidFill>
                <a:latin typeface="Arial"/>
              </a:defRPr>
            </a:pPr>
            <a:r>
              <a:t>350,000</a:t>
            </a:r>
          </a:p>
        </p:txBody>
      </p:sp>
      <p:sp>
        <p:nvSpPr>
          <p:cNvPr id="45" name="TextBox 44"/>
          <p:cNvSpPr txBox="1"/>
          <p:nvPr/>
        </p:nvSpPr>
        <p:spPr>
          <a:xfrm>
            <a:off x="7132320" y="2331720"/>
            <a:ext cx="1645920" cy="164592"/>
          </a:xfrm>
          <a:prstGeom prst="rect">
            <a:avLst/>
          </a:prstGeom>
          <a:noFill/>
        </p:spPr>
        <p:txBody>
          <a:bodyPr wrap="none">
            <a:spAutoFit/>
          </a:bodyPr>
          <a:lstStyle/>
          <a:p>
            <a:pPr>
              <a:defRPr sz="750">
                <a:solidFill>
                  <a:srgbClr val="646464"/>
                </a:solidFill>
                <a:latin typeface="Arial"/>
              </a:defRPr>
            </a:pPr>
            <a:r>
              <a:t>Production Area (Sq. Ft.)</a:t>
            </a:r>
          </a:p>
        </p:txBody>
      </p:sp>
      <p:sp>
        <p:nvSpPr>
          <p:cNvPr id="46" name="Rectangle 45"/>
          <p:cNvSpPr/>
          <p:nvPr/>
        </p:nvSpPr>
        <p:spPr>
          <a:xfrm>
            <a:off x="6492240" y="2743199"/>
            <a:ext cx="2377440" cy="256032"/>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583680" y="2770631"/>
            <a:ext cx="2194560" cy="201168"/>
          </a:xfrm>
          <a:prstGeom prst="rect">
            <a:avLst/>
          </a:prstGeom>
          <a:noFill/>
        </p:spPr>
        <p:txBody>
          <a:bodyPr wrap="none">
            <a:spAutoFit/>
          </a:bodyPr>
          <a:lstStyle/>
          <a:p>
            <a:pPr>
              <a:defRPr sz="1000" b="1">
                <a:solidFill>
                  <a:srgbClr val="FFFFFF"/>
                </a:solidFill>
                <a:latin typeface="Arial"/>
              </a:defRPr>
            </a:pPr>
            <a:r>
              <a:t>Certifications</a:t>
            </a:r>
          </a:p>
        </p:txBody>
      </p:sp>
      <p:sp>
        <p:nvSpPr>
          <p:cNvPr id="48" name="Rounded Rectangle 47"/>
          <p:cNvSpPr/>
          <p:nvPr/>
        </p:nvSpPr>
        <p:spPr>
          <a:xfrm>
            <a:off x="6583680" y="3108959"/>
            <a:ext cx="685800" cy="320040"/>
          </a:xfrm>
          <a:prstGeom prst="roundRect">
            <a:avLst/>
          </a:prstGeom>
          <a:solidFill>
            <a:srgbClr val="F8F9FA"/>
          </a:solidFill>
          <a:ln w="9525">
            <a:solidFill>
              <a:srgbClr val="C8C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629400" y="3182111"/>
            <a:ext cx="594360" cy="164592"/>
          </a:xfrm>
          <a:prstGeom prst="rect">
            <a:avLst/>
          </a:prstGeom>
          <a:noFill/>
        </p:spPr>
        <p:txBody>
          <a:bodyPr wrap="none">
            <a:spAutoFit/>
          </a:bodyPr>
          <a:lstStyle/>
          <a:p>
            <a:pPr algn="ctr">
              <a:defRPr sz="700" b="1">
                <a:solidFill>
                  <a:srgbClr val="1A237E"/>
                </a:solidFill>
                <a:latin typeface="Arial"/>
              </a:defRPr>
            </a:pPr>
            <a:r>
              <a:t>ISO</a:t>
            </a:r>
          </a:p>
        </p:txBody>
      </p:sp>
      <p:sp>
        <p:nvSpPr>
          <p:cNvPr id="50" name="Rounded Rectangle 49"/>
          <p:cNvSpPr/>
          <p:nvPr/>
        </p:nvSpPr>
        <p:spPr>
          <a:xfrm>
            <a:off x="7360920" y="3108959"/>
            <a:ext cx="685800" cy="320040"/>
          </a:xfrm>
          <a:prstGeom prst="roundRect">
            <a:avLst/>
          </a:prstGeom>
          <a:solidFill>
            <a:srgbClr val="F8F9FA"/>
          </a:solidFill>
          <a:ln w="9525">
            <a:solidFill>
              <a:srgbClr val="C8CE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406640" y="3182111"/>
            <a:ext cx="594360" cy="164592"/>
          </a:xfrm>
          <a:prstGeom prst="rect">
            <a:avLst/>
          </a:prstGeom>
          <a:noFill/>
        </p:spPr>
        <p:txBody>
          <a:bodyPr wrap="none">
            <a:spAutoFit/>
          </a:bodyPr>
          <a:lstStyle/>
          <a:p>
            <a:pPr algn="ctr">
              <a:defRPr sz="700" b="1">
                <a:solidFill>
                  <a:srgbClr val="1A237E"/>
                </a:solidFill>
                <a:latin typeface="Arial"/>
              </a:defRPr>
            </a:pPr>
            <a:r>
              <a:t>CMMI</a:t>
            </a:r>
          </a:p>
        </p:txBody>
      </p:sp>
      <p:pic>
        <p:nvPicPr>
          <p:cNvPr id="52" name="Picture 51" descr="crop_11250_clean_unsplash_2.jpg"/>
          <p:cNvPicPr>
            <a:picLocks noChangeAspect="1"/>
          </p:cNvPicPr>
          <p:nvPr/>
        </p:nvPicPr>
        <p:blipFill>
          <a:blip r:embed="rId3"/>
          <a:stretch>
            <a:fillRect/>
          </a:stretch>
        </p:blipFill>
        <p:spPr>
          <a:xfrm>
            <a:off x="457200" y="4389120"/>
            <a:ext cx="4114800" cy="3657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160"/>
            <a:ext cx="5486400" cy="457200"/>
          </a:xfrm>
          <a:prstGeom prst="rect">
            <a:avLst/>
          </a:prstGeom>
          <a:noFill/>
        </p:spPr>
        <p:txBody>
          <a:bodyPr wrap="none">
            <a:spAutoFit/>
          </a:bodyPr>
          <a:lstStyle/>
          <a:p>
            <a:pPr>
              <a:defRPr sz="2000" b="1">
                <a:solidFill>
                  <a:srgbClr val="FFFFFF"/>
                </a:solidFill>
                <a:latin typeface="Arial"/>
              </a:defRPr>
            </a:pPr>
            <a:r>
              <a:t>KEY FINANCIAL METRICS</a:t>
            </a:r>
          </a:p>
        </p:txBody>
      </p:sp>
      <p:pic>
        <p:nvPicPr>
          <p:cNvPr id="4" name="Picture 3" descr="kelp_logo.png"/>
          <p:cNvPicPr>
            <a:picLocks noChangeAspect="1"/>
          </p:cNvPicPr>
          <p:nvPr/>
        </p:nvPicPr>
        <p:blipFill>
          <a:blip r:embed="rId2"/>
          <a:stretch>
            <a:fillRect/>
          </a:stretch>
        </p:blipFill>
        <p:spPr>
          <a:xfrm>
            <a:off x="7589520" y="91440"/>
            <a:ext cx="1447672" cy="548640"/>
          </a:xfrm>
          <a:prstGeom prst="rect">
            <a:avLst/>
          </a:prstGeom>
        </p:spPr>
      </p:pic>
      <p:sp>
        <p:nvSpPr>
          <p:cNvPr id="5" name="Rectangle 4"/>
          <p:cNvSpPr/>
          <p:nvPr/>
        </p:nvSpPr>
        <p:spPr>
          <a:xfrm>
            <a:off x="0" y="4846320"/>
            <a:ext cx="9144000" cy="30175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4892040"/>
            <a:ext cx="8229600" cy="228600"/>
          </a:xfrm>
          <a:prstGeom prst="rect">
            <a:avLst/>
          </a:prstGeom>
          <a:noFill/>
        </p:spPr>
        <p:txBody>
          <a:bodyPr wrap="none">
            <a:spAutoFit/>
          </a:bodyPr>
          <a:lstStyle/>
          <a:p>
            <a:pPr algn="ctr">
              <a:defRPr sz="900">
                <a:solidFill>
                  <a:srgbClr val="646464"/>
                </a:solidFill>
              </a:defRPr>
            </a:pPr>
            <a:r>
              <a:t>Strictly Private &amp; Confidential – Prepared by Kelp M&amp;A Team</a:t>
            </a:r>
          </a:p>
        </p:txBody>
      </p:sp>
      <p:sp>
        <p:nvSpPr>
          <p:cNvPr id="7" name="Rounded Rectangle 6"/>
          <p:cNvSpPr/>
          <p:nvPr/>
        </p:nvSpPr>
        <p:spPr>
          <a:xfrm>
            <a:off x="585215" y="1051560"/>
            <a:ext cx="2011680" cy="594360"/>
          </a:xfrm>
          <a:prstGeom prst="roundRect">
            <a:avLst/>
          </a:prstGeom>
          <a:solidFill>
            <a:srgbClr val="FF4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0936" y="1097280"/>
            <a:ext cx="1920240" cy="320040"/>
          </a:xfrm>
          <a:prstGeom prst="rect">
            <a:avLst/>
          </a:prstGeom>
          <a:noFill/>
        </p:spPr>
        <p:txBody>
          <a:bodyPr wrap="square" anchor="ctr">
            <a:spAutoFit/>
          </a:bodyPr>
          <a:lstStyle/>
          <a:p>
            <a:pPr algn="ctr">
              <a:defRPr sz="1600" b="1">
                <a:solidFill>
                  <a:srgbClr val="FFFFFF"/>
                </a:solidFill>
              </a:defRPr>
            </a:pPr>
            <a:r>
              <a:t>₹ 11554.2 Cr</a:t>
            </a:r>
          </a:p>
        </p:txBody>
      </p:sp>
      <p:sp>
        <p:nvSpPr>
          <p:cNvPr id="9" name="TextBox 8"/>
          <p:cNvSpPr txBox="1"/>
          <p:nvPr/>
        </p:nvSpPr>
        <p:spPr>
          <a:xfrm>
            <a:off x="676655" y="1417320"/>
            <a:ext cx="1828800" cy="182880"/>
          </a:xfrm>
          <a:prstGeom prst="rect">
            <a:avLst/>
          </a:prstGeom>
          <a:noFill/>
        </p:spPr>
        <p:txBody>
          <a:bodyPr wrap="none">
            <a:spAutoFit/>
          </a:bodyPr>
          <a:lstStyle/>
          <a:p>
            <a:pPr algn="ctr">
              <a:defRPr sz="800" b="0">
                <a:solidFill>
                  <a:srgbClr val="FFFFFF"/>
                </a:solidFill>
              </a:defRPr>
            </a:pPr>
            <a:r>
              <a:t>Latest Revenue</a:t>
            </a:r>
          </a:p>
        </p:txBody>
      </p:sp>
      <p:sp>
        <p:nvSpPr>
          <p:cNvPr id="10" name="Rounded Rectangle 9"/>
          <p:cNvSpPr/>
          <p:nvPr/>
        </p:nvSpPr>
        <p:spPr>
          <a:xfrm>
            <a:off x="2724911" y="1051560"/>
            <a:ext cx="2011680" cy="594360"/>
          </a:xfrm>
          <a:prstGeom prst="round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70631" y="1097280"/>
            <a:ext cx="1920240" cy="320040"/>
          </a:xfrm>
          <a:prstGeom prst="rect">
            <a:avLst/>
          </a:prstGeom>
          <a:noFill/>
        </p:spPr>
        <p:txBody>
          <a:bodyPr wrap="square" anchor="ctr">
            <a:spAutoFit/>
          </a:bodyPr>
          <a:lstStyle/>
          <a:p>
            <a:pPr algn="ctr">
              <a:defRPr sz="1600" b="1">
                <a:solidFill>
                  <a:srgbClr val="FFFFFF"/>
                </a:solidFill>
              </a:defRPr>
            </a:pPr>
            <a:r>
              <a:t>9.5%</a:t>
            </a:r>
          </a:p>
        </p:txBody>
      </p:sp>
      <p:sp>
        <p:nvSpPr>
          <p:cNvPr id="12" name="TextBox 11"/>
          <p:cNvSpPr txBox="1"/>
          <p:nvPr/>
        </p:nvSpPr>
        <p:spPr>
          <a:xfrm>
            <a:off x="2816351" y="1417320"/>
            <a:ext cx="1828800" cy="182880"/>
          </a:xfrm>
          <a:prstGeom prst="rect">
            <a:avLst/>
          </a:prstGeom>
          <a:noFill/>
        </p:spPr>
        <p:txBody>
          <a:bodyPr wrap="none">
            <a:spAutoFit/>
          </a:bodyPr>
          <a:lstStyle/>
          <a:p>
            <a:pPr algn="ctr">
              <a:defRPr sz="800" b="0">
                <a:solidFill>
                  <a:srgbClr val="FFFFFF"/>
                </a:solidFill>
              </a:defRPr>
            </a:pPr>
            <a:r>
              <a:t>Revenue CAGR</a:t>
            </a:r>
          </a:p>
        </p:txBody>
      </p:sp>
      <p:sp>
        <p:nvSpPr>
          <p:cNvPr id="13" name="Rounded Rectangle 12"/>
          <p:cNvSpPr/>
          <p:nvPr/>
        </p:nvSpPr>
        <p:spPr>
          <a:xfrm>
            <a:off x="4864607" y="1051560"/>
            <a:ext cx="2011680" cy="594360"/>
          </a:xfrm>
          <a:prstGeom prst="roundRect">
            <a:avLst/>
          </a:prstGeom>
          <a:solidFill>
            <a:srgbClr val="FF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0327" y="1097280"/>
            <a:ext cx="1920240" cy="320040"/>
          </a:xfrm>
          <a:prstGeom prst="rect">
            <a:avLst/>
          </a:prstGeom>
          <a:noFill/>
        </p:spPr>
        <p:txBody>
          <a:bodyPr wrap="square" anchor="ctr">
            <a:spAutoFit/>
          </a:bodyPr>
          <a:lstStyle/>
          <a:p>
            <a:pPr algn="ctr">
              <a:defRPr sz="1600" b="1">
                <a:solidFill>
                  <a:srgbClr val="FFFFFF"/>
                </a:solidFill>
              </a:defRPr>
            </a:pPr>
            <a:r>
              <a:t>8.4%</a:t>
            </a:r>
          </a:p>
        </p:txBody>
      </p:sp>
      <p:sp>
        <p:nvSpPr>
          <p:cNvPr id="15" name="TextBox 14"/>
          <p:cNvSpPr txBox="1"/>
          <p:nvPr/>
        </p:nvSpPr>
        <p:spPr>
          <a:xfrm>
            <a:off x="4956047" y="1417320"/>
            <a:ext cx="1828800" cy="182880"/>
          </a:xfrm>
          <a:prstGeom prst="rect">
            <a:avLst/>
          </a:prstGeom>
          <a:noFill/>
        </p:spPr>
        <p:txBody>
          <a:bodyPr wrap="none">
            <a:spAutoFit/>
          </a:bodyPr>
          <a:lstStyle/>
          <a:p>
            <a:pPr algn="ctr">
              <a:defRPr sz="800" b="0">
                <a:solidFill>
                  <a:srgbClr val="FFFFFF"/>
                </a:solidFill>
              </a:defRPr>
            </a:pPr>
            <a:r>
              <a:t>EBITDA Margin</a:t>
            </a:r>
          </a:p>
        </p:txBody>
      </p:sp>
      <p:sp>
        <p:nvSpPr>
          <p:cNvPr id="16" name="Rounded Rectangle 15"/>
          <p:cNvSpPr/>
          <p:nvPr/>
        </p:nvSpPr>
        <p:spPr>
          <a:xfrm>
            <a:off x="7004303" y="1051560"/>
            <a:ext cx="2011680" cy="5943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50023" y="1097280"/>
            <a:ext cx="1920240" cy="320040"/>
          </a:xfrm>
          <a:prstGeom prst="rect">
            <a:avLst/>
          </a:prstGeom>
          <a:noFill/>
        </p:spPr>
        <p:txBody>
          <a:bodyPr wrap="square" anchor="ctr">
            <a:spAutoFit/>
          </a:bodyPr>
          <a:lstStyle/>
          <a:p>
            <a:pPr algn="ctr">
              <a:defRPr sz="1600" b="1">
                <a:solidFill>
                  <a:srgbClr val="FFFFFF"/>
                </a:solidFill>
              </a:defRPr>
            </a:pPr>
            <a:r>
              <a:t>₹ 129.1 Cr</a:t>
            </a:r>
          </a:p>
        </p:txBody>
      </p:sp>
      <p:sp>
        <p:nvSpPr>
          <p:cNvPr id="18" name="TextBox 17"/>
          <p:cNvSpPr txBox="1"/>
          <p:nvPr/>
        </p:nvSpPr>
        <p:spPr>
          <a:xfrm>
            <a:off x="7095743" y="1417320"/>
            <a:ext cx="1828800" cy="182880"/>
          </a:xfrm>
          <a:prstGeom prst="rect">
            <a:avLst/>
          </a:prstGeom>
          <a:noFill/>
        </p:spPr>
        <p:txBody>
          <a:bodyPr wrap="none">
            <a:spAutoFit/>
          </a:bodyPr>
          <a:lstStyle/>
          <a:p>
            <a:pPr algn="ctr">
              <a:defRPr sz="800" b="0">
                <a:solidFill>
                  <a:srgbClr val="FFFFFF"/>
                </a:solidFill>
              </a:defRPr>
            </a:pPr>
            <a:r>
              <a:t>Latest PAT</a:t>
            </a:r>
          </a:p>
        </p:txBody>
      </p:sp>
      <p:graphicFrame>
        <p:nvGraphicFramePr>
          <p:cNvPr id="19" name="Chart 18"/>
          <p:cNvGraphicFramePr>
            <a:graphicFrameLocks noGrp="1"/>
          </p:cNvGraphicFramePr>
          <p:nvPr/>
        </p:nvGraphicFramePr>
        <p:xfrm>
          <a:off x="457200" y="2103120"/>
          <a:ext cx="4572000" cy="25603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Chart 19"/>
          <p:cNvGraphicFramePr>
            <a:graphicFrameLocks noGrp="1"/>
          </p:cNvGraphicFramePr>
          <p:nvPr/>
        </p:nvGraphicFramePr>
        <p:xfrm>
          <a:off x="5212080" y="2103120"/>
          <a:ext cx="3657600" cy="25603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7315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160"/>
            <a:ext cx="5486400" cy="457200"/>
          </a:xfrm>
          <a:prstGeom prst="rect">
            <a:avLst/>
          </a:prstGeom>
          <a:noFill/>
        </p:spPr>
        <p:txBody>
          <a:bodyPr wrap="none">
            <a:spAutoFit/>
          </a:bodyPr>
          <a:lstStyle/>
          <a:p>
            <a:pPr>
              <a:defRPr sz="2000" b="1">
                <a:solidFill>
                  <a:srgbClr val="FFFFFF"/>
                </a:solidFill>
                <a:latin typeface="Arial"/>
              </a:defRPr>
            </a:pPr>
            <a:r>
              <a:t>INVESTMENT HIGHLIGHTS</a:t>
            </a:r>
          </a:p>
        </p:txBody>
      </p:sp>
      <p:pic>
        <p:nvPicPr>
          <p:cNvPr id="4" name="Picture 3" descr="kelp_logo.png"/>
          <p:cNvPicPr>
            <a:picLocks noChangeAspect="1"/>
          </p:cNvPicPr>
          <p:nvPr/>
        </p:nvPicPr>
        <p:blipFill>
          <a:blip r:embed="rId2"/>
          <a:stretch>
            <a:fillRect/>
          </a:stretch>
        </p:blipFill>
        <p:spPr>
          <a:xfrm>
            <a:off x="7589520" y="91440"/>
            <a:ext cx="1447672" cy="548640"/>
          </a:xfrm>
          <a:prstGeom prst="rect">
            <a:avLst/>
          </a:prstGeom>
        </p:spPr>
      </p:pic>
      <p:sp>
        <p:nvSpPr>
          <p:cNvPr id="5" name="Rectangle 4"/>
          <p:cNvSpPr/>
          <p:nvPr/>
        </p:nvSpPr>
        <p:spPr>
          <a:xfrm>
            <a:off x="0" y="4846320"/>
            <a:ext cx="9144000" cy="30175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4892040"/>
            <a:ext cx="8229600" cy="228600"/>
          </a:xfrm>
          <a:prstGeom prst="rect">
            <a:avLst/>
          </a:prstGeom>
          <a:noFill/>
        </p:spPr>
        <p:txBody>
          <a:bodyPr wrap="none">
            <a:spAutoFit/>
          </a:bodyPr>
          <a:lstStyle/>
          <a:p>
            <a:pPr algn="ctr">
              <a:defRPr sz="900">
                <a:solidFill>
                  <a:srgbClr val="646464"/>
                </a:solidFill>
              </a:defRPr>
            </a:pPr>
            <a:r>
              <a:t>Strictly Private &amp; Confidential – Prepared by Kelp M&amp;A Team</a:t>
            </a:r>
          </a:p>
        </p:txBody>
      </p:sp>
      <p:pic>
        <p:nvPicPr>
          <p:cNvPr id="7" name="Picture 6" descr="crop_972_clean_unsplash_3.jpg"/>
          <p:cNvPicPr>
            <a:picLocks noChangeAspect="1"/>
          </p:cNvPicPr>
          <p:nvPr/>
        </p:nvPicPr>
        <p:blipFill>
          <a:blip r:embed="rId3"/>
          <a:stretch>
            <a:fillRect/>
          </a:stretch>
        </p:blipFill>
        <p:spPr>
          <a:xfrm>
            <a:off x="457200" y="1097280"/>
            <a:ext cx="3200400" cy="3291840"/>
          </a:xfrm>
          <a:prstGeom prst="rect">
            <a:avLst/>
          </a:prstGeom>
        </p:spPr>
      </p:pic>
      <p:sp>
        <p:nvSpPr>
          <p:cNvPr id="8" name="Rounded Rectangle 7"/>
          <p:cNvSpPr/>
          <p:nvPr/>
        </p:nvSpPr>
        <p:spPr>
          <a:xfrm>
            <a:off x="3840480" y="1143000"/>
            <a:ext cx="5029200" cy="621792"/>
          </a:xfrm>
          <a:prstGeom prst="roundRect">
            <a:avLst/>
          </a:prstGeom>
          <a:solidFill>
            <a:srgbClr val="F8F9FC"/>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977639" y="1280160"/>
            <a:ext cx="411480" cy="411480"/>
          </a:xfrm>
          <a:prstGeom prst="ellipse">
            <a:avLst/>
          </a:prstGeom>
          <a:solidFill>
            <a:srgbClr val="FF4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059936" y="1344168"/>
            <a:ext cx="256032" cy="256032"/>
          </a:xfrm>
          <a:prstGeom prst="rect">
            <a:avLst/>
          </a:prstGeom>
          <a:noFill/>
        </p:spPr>
        <p:txBody>
          <a:bodyPr wrap="none">
            <a:spAutoFit/>
          </a:bodyPr>
          <a:lstStyle/>
          <a:p>
            <a:pPr algn="ctr">
              <a:defRPr sz="1100" b="1">
                <a:solidFill>
                  <a:srgbClr val="FFFFFF"/>
                </a:solidFill>
                <a:latin typeface="Arial"/>
              </a:defRPr>
            </a:pPr>
            <a:r>
              <a:t>H</a:t>
            </a:r>
          </a:p>
        </p:txBody>
      </p:sp>
      <p:sp>
        <p:nvSpPr>
          <p:cNvPr id="11" name="TextBox 10"/>
          <p:cNvSpPr txBox="1"/>
          <p:nvPr/>
        </p:nvSpPr>
        <p:spPr>
          <a:xfrm>
            <a:off x="4526280" y="1179576"/>
            <a:ext cx="4206240" cy="548640"/>
          </a:xfrm>
          <a:prstGeom prst="rect">
            <a:avLst/>
          </a:prstGeom>
          <a:noFill/>
        </p:spPr>
        <p:txBody>
          <a:bodyPr wrap="square" lIns="45720" tIns="27432" rIns="45720" anchor="t">
            <a:spAutoFit/>
          </a:bodyPr>
          <a:lstStyle/>
          <a:p>
            <a:pPr>
              <a:lnSpc>
                <a:spcPct val="105000"/>
              </a:lnSpc>
              <a:defRPr sz="900" b="1">
                <a:solidFill>
                  <a:srgbClr val="1A237E"/>
                </a:solidFill>
                <a:latin typeface="Arial"/>
              </a:defRPr>
            </a:pPr>
            <a:r>
              <a:t>High-Barrier Defense &amp; Aerospace Focus</a:t>
            </a:r>
          </a:p>
          <a:p>
            <a:pPr>
              <a:lnSpc>
                <a:spcPct val="105000"/>
              </a:lnSpc>
              <a:spcBef>
                <a:spcPts val="300"/>
              </a:spcBef>
              <a:defRPr sz="720">
                <a:solidFill>
                  <a:srgbClr val="4A5568"/>
                </a:solidFill>
                <a:latin typeface="Arial"/>
              </a:defRPr>
            </a:pPr>
            <a:r>
              <a:t>Strategically positioned to capitalize on the India manufacturing sector's projected growth to $768.28 billion by 2035, specifically targeting high-margin, mission-critical electronics for defense and space where entry barriers are exceptionally high.</a:t>
            </a:r>
          </a:p>
        </p:txBody>
      </p:sp>
      <p:sp>
        <p:nvSpPr>
          <p:cNvPr id="12" name="Rounded Rectangle 11"/>
          <p:cNvSpPr/>
          <p:nvPr/>
        </p:nvSpPr>
        <p:spPr>
          <a:xfrm>
            <a:off x="3840480" y="1801368"/>
            <a:ext cx="5029200" cy="621792"/>
          </a:xfrm>
          <a:prstGeom prst="roundRect">
            <a:avLst/>
          </a:prstGeom>
          <a:solidFill>
            <a:srgbClr val="FFFFFF"/>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977639" y="1938528"/>
            <a:ext cx="411480" cy="411480"/>
          </a:xfrm>
          <a:prstGeom prst="ellipse">
            <a:avLst/>
          </a:prstGeom>
          <a:solidFill>
            <a:srgbClr val="FF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59936" y="2002536"/>
            <a:ext cx="256032" cy="256032"/>
          </a:xfrm>
          <a:prstGeom prst="rect">
            <a:avLst/>
          </a:prstGeom>
          <a:noFill/>
        </p:spPr>
        <p:txBody>
          <a:bodyPr wrap="none">
            <a:spAutoFit/>
          </a:bodyPr>
          <a:lstStyle/>
          <a:p>
            <a:pPr algn="ctr">
              <a:defRPr sz="1100" b="1">
                <a:solidFill>
                  <a:srgbClr val="FFFFFF"/>
                </a:solidFill>
                <a:latin typeface="Arial"/>
              </a:defRPr>
            </a:pPr>
            <a:r>
              <a:t>3</a:t>
            </a:r>
          </a:p>
        </p:txBody>
      </p:sp>
      <p:sp>
        <p:nvSpPr>
          <p:cNvPr id="15" name="TextBox 14"/>
          <p:cNvSpPr txBox="1"/>
          <p:nvPr/>
        </p:nvSpPr>
        <p:spPr>
          <a:xfrm>
            <a:off x="4526280" y="1837943"/>
            <a:ext cx="4206240" cy="548640"/>
          </a:xfrm>
          <a:prstGeom prst="rect">
            <a:avLst/>
          </a:prstGeom>
          <a:noFill/>
        </p:spPr>
        <p:txBody>
          <a:bodyPr wrap="square" lIns="45720" tIns="27432" rIns="45720" anchor="t">
            <a:spAutoFit/>
          </a:bodyPr>
          <a:lstStyle/>
          <a:p>
            <a:pPr>
              <a:lnSpc>
                <a:spcPct val="105000"/>
              </a:lnSpc>
              <a:defRPr sz="900" b="1">
                <a:solidFill>
                  <a:srgbClr val="1A237E"/>
                </a:solidFill>
                <a:latin typeface="Arial"/>
              </a:defRPr>
            </a:pPr>
            <a:r>
              <a:t>33-Year Technical Moat</a:t>
            </a:r>
          </a:p>
          <a:p>
            <a:pPr>
              <a:lnSpc>
                <a:spcPct val="105000"/>
              </a:lnSpc>
              <a:spcBef>
                <a:spcPts val="300"/>
              </a:spcBef>
              <a:defRPr sz="720">
                <a:solidFill>
                  <a:srgbClr val="4A5568"/>
                </a:solidFill>
                <a:latin typeface="Arial"/>
              </a:defRPr>
            </a:pPr>
            <a:r>
              <a:t>Leveraging over three decades of precision engineering expertise and a 350,000 sq. ft specialized production footprint to deliver complex, build-to-spec systems that meet rigorous aerospace and space-grade quality standards.</a:t>
            </a:r>
          </a:p>
        </p:txBody>
      </p:sp>
      <p:sp>
        <p:nvSpPr>
          <p:cNvPr id="16" name="Rounded Rectangle 15"/>
          <p:cNvSpPr/>
          <p:nvPr/>
        </p:nvSpPr>
        <p:spPr>
          <a:xfrm>
            <a:off x="3840480" y="2459736"/>
            <a:ext cx="5029200" cy="621792"/>
          </a:xfrm>
          <a:prstGeom prst="roundRect">
            <a:avLst/>
          </a:prstGeom>
          <a:solidFill>
            <a:srgbClr val="F8F9FC"/>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3977639" y="2596896"/>
            <a:ext cx="411480" cy="411480"/>
          </a:xfrm>
          <a:prstGeom prst="ellipse">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59936" y="2660904"/>
            <a:ext cx="256032" cy="256032"/>
          </a:xfrm>
          <a:prstGeom prst="rect">
            <a:avLst/>
          </a:prstGeom>
          <a:noFill/>
        </p:spPr>
        <p:txBody>
          <a:bodyPr wrap="none">
            <a:spAutoFit/>
          </a:bodyPr>
          <a:lstStyle/>
          <a:p>
            <a:pPr algn="ctr">
              <a:defRPr sz="1100" b="1">
                <a:solidFill>
                  <a:srgbClr val="FFFFFF"/>
                </a:solidFill>
                <a:latin typeface="Arial"/>
              </a:defRPr>
            </a:pPr>
            <a:r>
              <a:t>S</a:t>
            </a:r>
          </a:p>
        </p:txBody>
      </p:sp>
      <p:sp>
        <p:nvSpPr>
          <p:cNvPr id="19" name="TextBox 18"/>
          <p:cNvSpPr txBox="1"/>
          <p:nvPr/>
        </p:nvSpPr>
        <p:spPr>
          <a:xfrm>
            <a:off x="4526280" y="2496312"/>
            <a:ext cx="4206240" cy="548640"/>
          </a:xfrm>
          <a:prstGeom prst="rect">
            <a:avLst/>
          </a:prstGeom>
          <a:noFill/>
        </p:spPr>
        <p:txBody>
          <a:bodyPr wrap="square" lIns="45720" tIns="27432" rIns="45720" anchor="t">
            <a:spAutoFit/>
          </a:bodyPr>
          <a:lstStyle/>
          <a:p>
            <a:pPr>
              <a:lnSpc>
                <a:spcPct val="105000"/>
              </a:lnSpc>
              <a:defRPr sz="900" b="1">
                <a:solidFill>
                  <a:srgbClr val="1A237E"/>
                </a:solidFill>
                <a:latin typeface="Arial"/>
              </a:defRPr>
            </a:pPr>
            <a:r>
              <a:t>Strategic Global Partnerships</a:t>
            </a:r>
          </a:p>
          <a:p>
            <a:pPr>
              <a:lnSpc>
                <a:spcPct val="105000"/>
              </a:lnSpc>
              <a:spcBef>
                <a:spcPts val="300"/>
              </a:spcBef>
              <a:defRPr sz="720">
                <a:solidFill>
                  <a:srgbClr val="4A5568"/>
                </a:solidFill>
                <a:latin typeface="Arial"/>
              </a:defRPr>
            </a:pPr>
            <a:r>
              <a:t>Deeply embedded in the global supply chain through long-term collaborations with Tier-1 leaders like Thales and critical government bodies like DRDO, ensuring high customer stickiness and multi-year project visibility.</a:t>
            </a:r>
          </a:p>
        </p:txBody>
      </p:sp>
      <p:sp>
        <p:nvSpPr>
          <p:cNvPr id="20" name="Rounded Rectangle 19"/>
          <p:cNvSpPr/>
          <p:nvPr/>
        </p:nvSpPr>
        <p:spPr>
          <a:xfrm>
            <a:off x="3840480" y="3118104"/>
            <a:ext cx="5029200" cy="621792"/>
          </a:xfrm>
          <a:prstGeom prst="roundRect">
            <a:avLst/>
          </a:prstGeom>
          <a:solidFill>
            <a:srgbClr val="FFFFFF"/>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3977639" y="3255264"/>
            <a:ext cx="411480" cy="4114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059936" y="3319272"/>
            <a:ext cx="256032" cy="256032"/>
          </a:xfrm>
          <a:prstGeom prst="rect">
            <a:avLst/>
          </a:prstGeom>
          <a:noFill/>
        </p:spPr>
        <p:txBody>
          <a:bodyPr wrap="none">
            <a:spAutoFit/>
          </a:bodyPr>
          <a:lstStyle/>
          <a:p>
            <a:pPr algn="ctr">
              <a:defRPr sz="1100" b="1">
                <a:solidFill>
                  <a:srgbClr val="FFFFFF"/>
                </a:solidFill>
                <a:latin typeface="Arial"/>
              </a:defRPr>
            </a:pPr>
            <a:r>
              <a:t>D</a:t>
            </a:r>
          </a:p>
        </p:txBody>
      </p:sp>
      <p:sp>
        <p:nvSpPr>
          <p:cNvPr id="23" name="TextBox 22"/>
          <p:cNvSpPr txBox="1"/>
          <p:nvPr/>
        </p:nvSpPr>
        <p:spPr>
          <a:xfrm>
            <a:off x="4526280" y="3154680"/>
            <a:ext cx="4206240" cy="548640"/>
          </a:xfrm>
          <a:prstGeom prst="rect">
            <a:avLst/>
          </a:prstGeom>
          <a:noFill/>
        </p:spPr>
        <p:txBody>
          <a:bodyPr wrap="square" lIns="45720" tIns="27432" rIns="45720" anchor="t">
            <a:spAutoFit/>
          </a:bodyPr>
          <a:lstStyle/>
          <a:p>
            <a:pPr>
              <a:lnSpc>
                <a:spcPct val="105000"/>
              </a:lnSpc>
              <a:defRPr sz="900" b="1">
                <a:solidFill>
                  <a:srgbClr val="1A237E"/>
                </a:solidFill>
                <a:latin typeface="Arial"/>
              </a:defRPr>
            </a:pPr>
            <a:r>
              <a:t>Diversified Global Delivery Model</a:t>
            </a:r>
          </a:p>
          <a:p>
            <a:pPr>
              <a:lnSpc>
                <a:spcPct val="105000"/>
              </a:lnSpc>
              <a:spcBef>
                <a:spcPts val="300"/>
              </a:spcBef>
              <a:defRPr sz="720">
                <a:solidFill>
                  <a:srgbClr val="4A5568"/>
                </a:solidFill>
                <a:latin typeface="Arial"/>
              </a:defRPr>
            </a:pPr>
            <a:r>
              <a:t>Operating a de-risked business model with a physical presence across North America, Europe, and Asia, allowing the company to capture the 6.75% CAGR in the global engineering services market while providing localized support to international OEMs.</a:t>
            </a:r>
          </a:p>
        </p:txBody>
      </p:sp>
      <p:sp>
        <p:nvSpPr>
          <p:cNvPr id="24" name="Rounded Rectangle 23"/>
          <p:cNvSpPr/>
          <p:nvPr/>
        </p:nvSpPr>
        <p:spPr>
          <a:xfrm>
            <a:off x="3840480" y="3776472"/>
            <a:ext cx="5029200" cy="621792"/>
          </a:xfrm>
          <a:prstGeom prst="roundRect">
            <a:avLst/>
          </a:prstGeom>
          <a:solidFill>
            <a:srgbClr val="F8F9FC"/>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3977639" y="3913632"/>
            <a:ext cx="411480" cy="4114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059936" y="3977639"/>
            <a:ext cx="256032" cy="256032"/>
          </a:xfrm>
          <a:prstGeom prst="rect">
            <a:avLst/>
          </a:prstGeom>
          <a:noFill/>
        </p:spPr>
        <p:txBody>
          <a:bodyPr wrap="none">
            <a:spAutoFit/>
          </a:bodyPr>
          <a:lstStyle/>
          <a:p>
            <a:pPr algn="ctr">
              <a:defRPr sz="1100" b="1">
                <a:solidFill>
                  <a:srgbClr val="FFFFFF"/>
                </a:solidFill>
                <a:latin typeface="Arial"/>
              </a:defRPr>
            </a:pPr>
            <a:r>
              <a:t>F</a:t>
            </a:r>
          </a:p>
        </p:txBody>
      </p:sp>
      <p:sp>
        <p:nvSpPr>
          <p:cNvPr id="27" name="TextBox 26"/>
          <p:cNvSpPr txBox="1"/>
          <p:nvPr/>
        </p:nvSpPr>
        <p:spPr>
          <a:xfrm>
            <a:off x="4526280" y="3813048"/>
            <a:ext cx="4206240" cy="548640"/>
          </a:xfrm>
          <a:prstGeom prst="rect">
            <a:avLst/>
          </a:prstGeom>
          <a:noFill/>
        </p:spPr>
        <p:txBody>
          <a:bodyPr wrap="square" lIns="45720" tIns="27432" rIns="45720" anchor="t">
            <a:spAutoFit/>
          </a:bodyPr>
          <a:lstStyle/>
          <a:p>
            <a:pPr>
              <a:lnSpc>
                <a:spcPct val="105000"/>
              </a:lnSpc>
              <a:defRPr sz="900" b="1">
                <a:solidFill>
                  <a:srgbClr val="1A237E"/>
                </a:solidFill>
                <a:latin typeface="Arial"/>
              </a:defRPr>
            </a:pPr>
            <a:r>
              <a:t>Full-Lifecycle Value Proposition</a:t>
            </a:r>
          </a:p>
          <a:p>
            <a:pPr>
              <a:lnSpc>
                <a:spcPct val="105000"/>
              </a:lnSpc>
              <a:spcBef>
                <a:spcPts val="300"/>
              </a:spcBef>
              <a:defRPr sz="720">
                <a:solidFill>
                  <a:srgbClr val="4A5568"/>
                </a:solidFill>
                <a:latin typeface="Arial"/>
              </a:defRPr>
            </a:pPr>
            <a:r>
              <a:t>Offers a unique 'Design-to-After-Sales' turnkey solution across flexible engagement models, providing a significant competitive edge over pure-play EMS providers and creating high-value synergies for strategic acquirers.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8072"/>
          </a:xfrm>
          <a:prstGeom prst="rect">
            <a:avLst/>
          </a:prstGeom>
          <a:solidFill>
            <a:srgbClr val="1A237E"/>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kelp_logo.png"/>
          <p:cNvPicPr>
            <a:picLocks noChangeAspect="1"/>
          </p:cNvPicPr>
          <p:nvPr/>
        </p:nvPicPr>
        <p:blipFill>
          <a:blip r:embed="rId2"/>
          <a:stretch>
            <a:fillRect/>
          </a:stretch>
        </p:blipFill>
        <p:spPr>
          <a:xfrm>
            <a:off x="457200" y="320040"/>
            <a:ext cx="2171508" cy="822960"/>
          </a:xfrm>
          <a:prstGeom prst="rect">
            <a:avLst/>
          </a:prstGeom>
        </p:spPr>
      </p:pic>
      <p:sp>
        <p:nvSpPr>
          <p:cNvPr id="4" name="TextBox 3"/>
          <p:cNvSpPr txBox="1"/>
          <p:nvPr/>
        </p:nvSpPr>
        <p:spPr>
          <a:xfrm>
            <a:off x="457200" y="1371600"/>
            <a:ext cx="8229600" cy="731520"/>
          </a:xfrm>
          <a:prstGeom prst="rect">
            <a:avLst/>
          </a:prstGeom>
          <a:noFill/>
        </p:spPr>
        <p:txBody>
          <a:bodyPr wrap="none">
            <a:spAutoFit/>
          </a:bodyPr>
          <a:lstStyle/>
          <a:p>
            <a:pPr>
              <a:defRPr sz="3600" b="0">
                <a:solidFill>
                  <a:srgbClr val="FFFFFF"/>
                </a:solidFill>
                <a:latin typeface="Arial"/>
              </a:defRPr>
            </a:pPr>
            <a:r>
              <a:t>Important Notice &amp; Disclaimer</a:t>
            </a:r>
          </a:p>
        </p:txBody>
      </p:sp>
      <p:sp>
        <p:nvSpPr>
          <p:cNvPr id="5" name="TextBox 4"/>
          <p:cNvSpPr txBox="1"/>
          <p:nvPr/>
        </p:nvSpPr>
        <p:spPr>
          <a:xfrm>
            <a:off x="457200" y="2011680"/>
            <a:ext cx="8229600" cy="2286000"/>
          </a:xfrm>
          <a:prstGeom prst="rect">
            <a:avLst/>
          </a:prstGeom>
          <a:noFill/>
        </p:spPr>
        <p:txBody>
          <a:bodyPr wrap="square">
            <a:spAutoFit/>
          </a:bodyPr>
          <a:lstStyle/>
          <a:p>
            <a:pPr algn="just">
              <a:defRPr sz="1100">
                <a:solidFill>
                  <a:srgbClr val="FFFFFF"/>
                </a:solidFill>
                <a:latin typeface="Arial"/>
              </a:defRPr>
            </a:pPr>
            <a:r>
              <a:t>Strictly Private &amp; Confidential. This presentation is prepared by Kelp Global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a:t>
            </a:r>
          </a:p>
        </p:txBody>
      </p:sp>
      <p:sp>
        <p:nvSpPr>
          <p:cNvPr id="6" name="TextBox 5"/>
          <p:cNvSpPr txBox="1"/>
          <p:nvPr/>
        </p:nvSpPr>
        <p:spPr>
          <a:xfrm>
            <a:off x="457200" y="4572000"/>
            <a:ext cx="8229600" cy="274320"/>
          </a:xfrm>
          <a:prstGeom prst="rect">
            <a:avLst/>
          </a:prstGeom>
          <a:noFill/>
        </p:spPr>
        <p:txBody>
          <a:bodyPr wrap="none">
            <a:spAutoFit/>
          </a:bodyPr>
          <a:lstStyle/>
          <a:p>
            <a:pPr algn="ctr">
              <a:defRPr sz="900">
                <a:solidFill>
                  <a:srgbClr val="C8C8C8"/>
                </a:solidFill>
              </a:defRPr>
            </a:pPr>
            <a:r>
              <a:t>Strictly Private &amp; Confidential – Prepared by Kelp M&amp;A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493</Words>
  <Application>Microsoft Office PowerPoint</Application>
  <PresentationFormat>On-screen Show (16:9)</PresentationFormat>
  <Paragraphs>62</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SHORYA SETHIA</cp:lastModifiedBy>
  <cp:revision>2</cp:revision>
  <dcterms:created xsi:type="dcterms:W3CDTF">2013-01-27T09:14:16Z</dcterms:created>
  <dcterms:modified xsi:type="dcterms:W3CDTF">2026-02-06T12:21:50Z</dcterms:modified>
  <cp:category/>
</cp:coreProperties>
</file>